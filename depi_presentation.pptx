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our graduation project for the Digital Egypt Pioneers Builders — Rwaad Misr program: a centralized Wazuh SIEM environment with automated Discord SOC alerting. I'm presenting on behalf of Team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 this is Team 2 — the six of us behind the project, each owning a distinct layer of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flow: we open with the security gap we set out to close, walk through the system design, then the detection engineering and Discord automation, validate it by simulating an internal endpoint threat, and close with results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environments span endpoints and web apps but lack centralized visibility. In a small SOC or training context there's a second gap: analysts have no out-of-band, real-time notification — they must sit and watch the dashboard. We set out to close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stand up a centralized Wazuh platform, do MITRE-mapped detection engineering, validate it by simulating suspicious internal endpoint behavior, and automate notification through our custom Discord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how the system is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moving parts on one isolated subnet: the Wazuh Manager as the hub, the Windows 10 / DVWA endpoint as the monitored target, and the Discord webhook as a cloud-hosted SOC dashboard. There are no external attacker machines — everything we watch originates on the host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addressing. A distributed VM model on VMware Workstation simulating a small enterprise network, fully isolated so the exercise is safe and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this is a classic hub-and-spoke SIEM — the Manager is the hub, the agents are spokes forwarding filtered encrypted telemetry. Our contribution is the outbound automation edge: on a qualifying alert the Manager invokes the Python integration, which pushes to Discord, extending the hub's reach beyond the isolated lab without exposing internal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SIEM, Wazuh uses a NoSQL document store, not a relational DB. Decoders parse raw logs into key-value pairs. The logical model: a raw log event matching a detection rule generates a security alert, which in turn produces a Discord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to end, six stages: a suspicious process spawns on the endpoint, Sysmon records it, the agent forwards it, the Manager correlates it — triggering rules 67027 and 92154 for process creation and the taskschd.dll load — the Python integration formats the alert, and Discord displays a color-coded card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the heart of the project — detection engineering and the Discord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authored custom rules in local_rules.xml, each mapped to a MITRE technique, all focused on the endpoint. The two headline catches: rule 67027, a process was created — tracking internal Windows executables — and rule 92154, a process loaded the taskschd.dll module. That second one is the critical security catch: loading the Task Scheduler DLL indicates a delayed execution task, commonly used by malware for persistence. We also detect credential dumping and registry Run-key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endpoint, the agent integrates Sysmon and collects specific Security event IDs — 4624, 4688, 4702 — rather than everything, keeping noise down. File Integrity Monitoring watches the web-upload directories for web-shell extensions and the critical registry run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automation script has three jobs: parse the JSON alert, smart-extract the attacker IP from whichever field holds it, and map the Wazuh severity level to an embed color. Crucially, every card also carries the level as text — so severity reads clearly even without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logic. Level comes from the rule. The smart IP parse falls through multiple fields. Then the severity ladder picks the hex color — red at 10-plus, orange at 5, green otherwise — and the embed is POSTed to the webhook. Roughly forty lines do the whole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does it actually work? We put it to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test was internal, not a network attack. We simulated suspicious native Windows background processes on the endpoint and, critically, a process loading taskschd.dll — the Task Scheduler module. Loading that DLL is a classic persistence signal: it sets up delayed or scheduled execution, exactly what malware does to survive a reboot. Wazuh caught the process creation as rule 67027 and the module load as 92154 on DESKTOP-SLN103I.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on-prem SOC console — the OpenSearch-based Wazuh dashboard. Agent summary on the left, and the last-24-hours severity breakdown across the top: one critical, nine high, seven medium, and over a thousand low-severity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Drilling into threat intelligence, the MITRE ATT&amp;CK view maps every triggered alert to adversary tactics and techniques — alerts over time, top tactics like execution and persistence, and detections broken down by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payoff — the Discord channel as a lightweight, always-on SOC dashboard. Here's the taskschd.dll persistence alert: rule 92154, the target endpoint shown as DESKTOP-SLN103I, and the Attacker IP marked N/A. That N/A is deliberate and correct — this is an internal system event, not a network attack, so there is no external source IP. Analysts scan the colored border first, then read the endpoint and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result: during the simulation the system recorded 1,089 total hits and 420 direct hits on the Threat Hunting dashboard — confirming accurate rule parsing. All eight test cases passed, from rule correlation through the HTTP 204 webhook delivery and pipeline stability under the burst.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reflection — what the evaluator said, the project timeline, and where we'd take this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context on delivery: the project ran on a phased plan aligned to the Rwaad Misr milestone deadlines — planning, literature review, requirements, system design, implementation, and finally testing and reports, from February through July.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evaluator called it a complete, working detection pipeline — practical end-to-end SOC engineering, not a theoretical design. For next steps: multi-stage correlation rules, rate-limiting and retry in the script, threat-intel enrichment before posting, and moving the webhook URL into a secret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delivered a complete, validated SOC pipeline on an isolated network — Wazuh ingesting internal endpoint telemetry, custom MITRE-mapped rules, a simulated internal threat of process creation and DLL-injection persistence, and automated color-coded Discord alerting. 1,089 total and 420 direct hits confirm the accuracy and reliability of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We're happy to take questions and walk through any part of the internal endpoint monitoring pipeline in more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image" Target="../media/image-28-2.jpe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3" b="-3"/>
          <a:stretch/>
        </p:blipFill>
        <p:spPr>
          <a:xfrm>
            <a:off x="952500" y="876300"/>
            <a:ext cx="1625501" cy="914400"/>
          </a:xfrm>
          <a:prstGeom prst="rect">
            <a:avLst/>
          </a:prstGeom>
        </p:spPr>
      </p:pic>
      <p:pic>
        <p:nvPicPr>
          <p:cNvPr id="3" name="Image 1" descr="preencoded.png">    </p:cNvPr>
          <p:cNvPicPr>
            <a:picLocks noChangeAspect="1"/>
          </p:cNvPicPr>
          <p:nvPr/>
        </p:nvPicPr>
        <p:blipFill>
          <a:blip r:embed="rId2"/>
          <a:srcRect l="0" r="0" t="-2" b="-2"/>
          <a:stretch/>
        </p:blipFill>
        <p:spPr>
          <a:xfrm>
            <a:off x="16082814" y="762000"/>
            <a:ext cx="1252686" cy="1143000"/>
          </a:xfrm>
          <a:prstGeom prst="rect">
            <a:avLst/>
          </a:prstGeom>
        </p:spPr>
      </p:pic>
      <p:sp>
        <p:nvSpPr>
          <p:cNvPr id="4" name="Shape 0"/>
          <p:cNvSpPr/>
          <p:nvPr/>
        </p:nvSpPr>
        <p:spPr>
          <a:xfrm>
            <a:off x="952500" y="3435102"/>
            <a:ext cx="419100" cy="38100"/>
          </a:xfrm>
          <a:prstGeom prst="roundRect">
            <a:avLst>
              <a:gd name="adj" fmla="val 50000"/>
            </a:avLst>
          </a:prstGeom>
          <a:solidFill>
            <a:srgbClr val="1E5AA8"/>
          </a:solidFill>
          <a:ln/>
        </p:spPr>
      </p:sp>
      <p:sp>
        <p:nvSpPr>
          <p:cNvPr id="5" name="Text 1"/>
          <p:cNvSpPr/>
          <p:nvPr/>
        </p:nvSpPr>
        <p:spPr>
          <a:xfrm>
            <a:off x="1504950" y="3320802"/>
            <a:ext cx="8400499" cy="304800"/>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1E5AA8"/>
                </a:solidFill>
                <a:latin typeface="Arial" pitchFamily="34" charset="0"/>
                <a:ea typeface="Arial" pitchFamily="34" charset="-122"/>
                <a:cs typeface="Arial" pitchFamily="34" charset="-120"/>
              </a:rPr>
              <a:t>DIGITAL EGYPT PIONEERS BUILDERS · RWAAD MISR</a:t>
            </a:r>
            <a:endParaRPr lang="en-US" sz="1800" dirty="0"/>
          </a:p>
        </p:txBody>
      </p:sp>
      <p:sp>
        <p:nvSpPr>
          <p:cNvPr id="6" name="Text 2"/>
          <p:cNvSpPr/>
          <p:nvPr/>
        </p:nvSpPr>
        <p:spPr>
          <a:xfrm>
            <a:off x="952500" y="3854202"/>
            <a:ext cx="14716125" cy="1903214"/>
          </a:xfrm>
          <a:prstGeom prst="rect">
            <a:avLst/>
          </a:prstGeom>
          <a:noFill/>
          <a:ln/>
        </p:spPr>
        <p:txBody>
          <a:bodyPr wrap="square" lIns="25400" tIns="25400" rIns="25400" bIns="25400" rtlCol="0" anchor="t">
            <a:normAutofit/>
          </a:bodyPr>
          <a:lstStyle/>
          <a:p>
            <a:pPr algn="l" indent="0" marL="0">
              <a:lnSpc>
                <a:spcPct val="102000"/>
              </a:lnSpc>
              <a:buNone/>
            </a:pPr>
            <a:r>
              <a:rPr lang="en-US" sz="7200" b="1" spc="-144" kern="0" dirty="0">
                <a:solidFill>
                  <a:srgbClr val="16233A"/>
                </a:solidFill>
                <a:latin typeface="Arial" pitchFamily="34" charset="0"/>
                <a:ea typeface="Arial" pitchFamily="34" charset="-122"/>
                <a:cs typeface="Arial" pitchFamily="34" charset="-120"/>
              </a:rPr>
              <a:t>Threat Hunting &amp; Automated SOC Alerting</a:t>
            </a:r>
            <a:endParaRPr lang="en-US" sz="7200" dirty="0"/>
          </a:p>
        </p:txBody>
      </p:sp>
      <p:sp>
        <p:nvSpPr>
          <p:cNvPr id="7" name="Text 3"/>
          <p:cNvSpPr/>
          <p:nvPr/>
        </p:nvSpPr>
        <p:spPr>
          <a:xfrm>
            <a:off x="952500" y="6005066"/>
            <a:ext cx="13342620" cy="1503908"/>
          </a:xfrm>
          <a:prstGeom prst="rect">
            <a:avLst/>
          </a:prstGeom>
          <a:noFill/>
          <a:ln/>
        </p:spPr>
        <p:txBody>
          <a:bodyPr wrap="square" lIns="25400" tIns="25400" rIns="25400" bIns="25400" rtlCol="0" anchor="t">
            <a:normAutofit/>
          </a:bodyPr>
          <a:lstStyle/>
          <a:p>
            <a:pPr algn="l" indent="0" marL="0">
              <a:lnSpc>
                <a:spcPct val="135000"/>
              </a:lnSpc>
              <a:buNone/>
            </a:pPr>
            <a:r>
              <a:rPr lang="en-US" sz="2850" dirty="0">
                <a:solidFill>
                  <a:srgbClr val="48566A"/>
                </a:solidFill>
                <a:latin typeface="Arial" pitchFamily="34" charset="0"/>
                <a:ea typeface="Arial" pitchFamily="34" charset="-122"/>
                <a:cs typeface="Arial" pitchFamily="34" charset="-120"/>
              </a:rPr>
              <a:t>A centralized Wazuh SIEM/XDR environment for internal endpoint monitoring — tracking native Windows processes and DLL-injection persistence on a Windows 10 / DVWA host, wired to a color-coded Discord SOC channel.</a:t>
            </a:r>
            <a:endParaRPr lang="en-US" sz="2850" dirty="0"/>
          </a:p>
        </p:txBody>
      </p:sp>
      <p:sp>
        <p:nvSpPr>
          <p:cNvPr id="8" name="Shape 4"/>
          <p:cNvSpPr/>
          <p:nvPr/>
        </p:nvSpPr>
        <p:spPr>
          <a:xfrm>
            <a:off x="952500" y="8886825"/>
            <a:ext cx="16383000" cy="19050"/>
          </a:xfrm>
          <a:prstGeom prst="rect">
            <a:avLst/>
          </a:prstGeom>
          <a:solidFill>
            <a:srgbClr val="E7ECF3"/>
          </a:solidFill>
          <a:ln/>
        </p:spPr>
      </p:sp>
      <p:sp>
        <p:nvSpPr>
          <p:cNvPr id="9" name="Text 5"/>
          <p:cNvSpPr/>
          <p:nvPr/>
        </p:nvSpPr>
        <p:spPr>
          <a:xfrm>
            <a:off x="952500" y="9191625"/>
            <a:ext cx="1035397"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16233A"/>
                </a:solidFill>
                <a:latin typeface="Arial" pitchFamily="34" charset="0"/>
                <a:ea typeface="Arial" pitchFamily="34" charset="-122"/>
                <a:cs typeface="Arial" pitchFamily="34" charset="-120"/>
              </a:rPr>
              <a:t>Team 2</a:t>
            </a:r>
            <a:endParaRPr lang="en-US" sz="2250" dirty="0"/>
          </a:p>
        </p:txBody>
      </p:sp>
      <p:sp>
        <p:nvSpPr>
          <p:cNvPr id="10" name="Shape 6"/>
          <p:cNvSpPr/>
          <p:nvPr/>
        </p:nvSpPr>
        <p:spPr>
          <a:xfrm>
            <a:off x="2083147" y="9253538"/>
            <a:ext cx="19050" cy="247650"/>
          </a:xfrm>
          <a:prstGeom prst="rect">
            <a:avLst/>
          </a:prstGeom>
          <a:solidFill>
            <a:srgbClr val="CFD8E4"/>
          </a:solidFill>
          <a:ln/>
        </p:spPr>
      </p:sp>
      <p:sp>
        <p:nvSpPr>
          <p:cNvPr id="11" name="Text 7"/>
          <p:cNvSpPr/>
          <p:nvPr/>
        </p:nvSpPr>
        <p:spPr>
          <a:xfrm>
            <a:off x="2273647" y="9215438"/>
            <a:ext cx="4792147" cy="361950"/>
          </a:xfrm>
          <a:prstGeom prst="rect">
            <a:avLst/>
          </a:prstGeom>
          <a:noFill/>
          <a:ln/>
        </p:spPr>
        <p:txBody>
          <a:bodyPr wrap="square" lIns="25400" tIns="25400" rIns="25400" bIns="25400" rtlCol="0" anchor="t">
            <a:normAutofit/>
          </a:bodyPr>
          <a:lstStyle/>
          <a:p>
            <a:pPr algn="l" indent="0" marL="0">
              <a:buNone/>
            </a:pPr>
            <a:r>
              <a:rPr lang="en-US" sz="1950" dirty="0">
                <a:solidFill>
                  <a:srgbClr val="6B7789"/>
                </a:solidFill>
                <a:latin typeface="Arial" pitchFamily="34" charset="0"/>
                <a:ea typeface="Arial" pitchFamily="34" charset="-122"/>
                <a:cs typeface="Arial" pitchFamily="34" charset="-120"/>
              </a:rPr>
              <a:t>Project Documentation &amp; Final Defense</a:t>
            </a:r>
            <a:endParaRPr lang="en-US" sz="1950" dirty="0"/>
          </a:p>
        </p:txBody>
      </p:sp>
      <p:sp>
        <p:nvSpPr>
          <p:cNvPr id="12" name="Text 8"/>
          <p:cNvSpPr/>
          <p:nvPr/>
        </p:nvSpPr>
        <p:spPr>
          <a:xfrm>
            <a:off x="16633924" y="9191625"/>
            <a:ext cx="777776"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3E9B5F"/>
                </a:solidFill>
                <a:latin typeface="Arial" pitchFamily="34" charset="0"/>
                <a:ea typeface="Arial" pitchFamily="34" charset="-122"/>
                <a:cs typeface="Arial" pitchFamily="34" charset="-120"/>
              </a:rPr>
              <a:t>2026</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1190625"/>
            <a:ext cx="323850" cy="38100"/>
          </a:xfrm>
          <a:prstGeom prst="roundRect">
            <a:avLst>
              <a:gd name="adj" fmla="val 50000"/>
            </a:avLst>
          </a:prstGeom>
          <a:solidFill>
            <a:srgbClr val="1E5AA8"/>
          </a:solidFill>
          <a:ln/>
        </p:spPr>
      </p:sp>
      <p:sp>
        <p:nvSpPr>
          <p:cNvPr id="3" name="Text 1"/>
          <p:cNvSpPr/>
          <p:nvPr/>
        </p:nvSpPr>
        <p:spPr>
          <a:xfrm>
            <a:off x="1409700" y="1076325"/>
            <a:ext cx="3516838"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TEAM 2 · RWAAD MISR</a:t>
            </a:r>
            <a:endParaRPr lang="en-US" sz="1800" dirty="0"/>
          </a:p>
        </p:txBody>
      </p:sp>
      <p:pic>
        <p:nvPicPr>
          <p:cNvPr id="4" name="Image 0" descr="preencoded.png">    </p:cNvPr>
          <p:cNvPicPr>
            <a:picLocks noChangeAspect="1"/>
          </p:cNvPicPr>
          <p:nvPr/>
        </p:nvPicPr>
        <p:blipFill>
          <a:blip r:embed="rId1"/>
          <a:srcRect l="0" r="0" t="-2" b="-2"/>
          <a:stretch/>
        </p:blipFill>
        <p:spPr>
          <a:xfrm>
            <a:off x="16521261" y="838200"/>
            <a:ext cx="814239" cy="742950"/>
          </a:xfrm>
          <a:prstGeom prst="rect">
            <a:avLst/>
          </a:prstGeom>
        </p:spPr>
      </p:pic>
      <p:sp>
        <p:nvSpPr>
          <p:cNvPr id="5" name="Text 2"/>
          <p:cNvSpPr/>
          <p:nvPr/>
        </p:nvSpPr>
        <p:spPr>
          <a:xfrm>
            <a:off x="952500" y="1657350"/>
            <a:ext cx="18021300"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48" kern="0" dirty="0">
                <a:solidFill>
                  <a:srgbClr val="16233A"/>
                </a:solidFill>
                <a:latin typeface="Arial" pitchFamily="34" charset="0"/>
                <a:ea typeface="Arial" pitchFamily="34" charset="-122"/>
                <a:cs typeface="Arial" pitchFamily="34" charset="-120"/>
              </a:rPr>
              <a:t>Meet the team</a:t>
            </a:r>
            <a:endParaRPr lang="en-US" sz="4800" dirty="0"/>
          </a:p>
        </p:txBody>
      </p:sp>
      <p:sp>
        <p:nvSpPr>
          <p:cNvPr id="6" name="Shape 3"/>
          <p:cNvSpPr/>
          <p:nvPr/>
        </p:nvSpPr>
        <p:spPr>
          <a:xfrm>
            <a:off x="952500" y="2754511"/>
            <a:ext cx="7962900" cy="19050"/>
          </a:xfrm>
          <a:prstGeom prst="rect">
            <a:avLst/>
          </a:prstGeom>
          <a:solidFill>
            <a:srgbClr val="E7ECF3"/>
          </a:solidFill>
          <a:ln/>
        </p:spPr>
      </p:sp>
      <p:sp>
        <p:nvSpPr>
          <p:cNvPr id="7" name="Shape 4"/>
          <p:cNvSpPr/>
          <p:nvPr/>
        </p:nvSpPr>
        <p:spPr>
          <a:xfrm>
            <a:off x="952500" y="3632002"/>
            <a:ext cx="590550" cy="590550"/>
          </a:xfrm>
          <a:prstGeom prst="ellipse">
            <a:avLst/>
          </a:prstGeom>
          <a:solidFill>
            <a:srgbClr val="EAF0F8"/>
          </a:solidFill>
          <a:ln/>
        </p:spPr>
      </p:sp>
      <p:sp>
        <p:nvSpPr>
          <p:cNvPr id="8" name="Text 5"/>
          <p:cNvSpPr/>
          <p:nvPr/>
        </p:nvSpPr>
        <p:spPr>
          <a:xfrm>
            <a:off x="914400" y="3632002"/>
            <a:ext cx="666750" cy="628650"/>
          </a:xfrm>
          <a:prstGeom prst="rect">
            <a:avLst/>
          </a:prstGeom>
          <a:noFill/>
          <a:ln/>
        </p:spPr>
        <p:txBody>
          <a:bodyPr wrap="square" lIns="25400" tIns="25400" rIns="25400" bIns="25400" rtlCol="0" anchor="ctr">
            <a:normAutofit/>
          </a:bodyPr>
          <a:lstStyle/>
          <a:p>
            <a:pPr algn="ctr" indent="0" marL="0">
              <a:buNone/>
            </a:pPr>
            <a:r>
              <a:rPr lang="en-US" sz="1950" b="1" dirty="0">
                <a:solidFill>
                  <a:srgbClr val="1E5AA8"/>
                </a:solidFill>
                <a:latin typeface="Arial" pitchFamily="34" charset="0"/>
                <a:ea typeface="Arial" pitchFamily="34" charset="-122"/>
                <a:cs typeface="Arial" pitchFamily="34" charset="-120"/>
              </a:rPr>
              <a:t>MD</a:t>
            </a:r>
            <a:endParaRPr lang="en-US" sz="1950" dirty="0"/>
          </a:p>
        </p:txBody>
      </p:sp>
      <p:sp>
        <p:nvSpPr>
          <p:cNvPr id="9" name="Text 6"/>
          <p:cNvSpPr/>
          <p:nvPr/>
        </p:nvSpPr>
        <p:spPr>
          <a:xfrm>
            <a:off x="1771650" y="3598664"/>
            <a:ext cx="4650700" cy="381000"/>
          </a:xfrm>
          <a:prstGeom prst="rect">
            <a:avLst/>
          </a:prstGeom>
          <a:noFill/>
          <a:ln/>
        </p:spPr>
        <p:txBody>
          <a:bodyPr wrap="square" lIns="25400" tIns="25400" rIns="25400" bIns="25400" rtlCol="0" anchor="t">
            <a:normAutofit/>
          </a:bodyPr>
          <a:lstStyle/>
          <a:p>
            <a:pPr algn="l" indent="0" marL="0">
              <a:buNone/>
            </a:pPr>
            <a:r>
              <a:rPr lang="en-US" sz="2325" b="1" dirty="0">
                <a:solidFill>
                  <a:srgbClr val="16233A"/>
                </a:solidFill>
                <a:latin typeface="Arial" pitchFamily="34" charset="0"/>
                <a:ea typeface="Arial" pitchFamily="34" charset="-122"/>
                <a:cs typeface="Arial" pitchFamily="34" charset="-120"/>
              </a:rPr>
              <a:t>Mohamed Deyaa</a:t>
            </a:r>
            <a:endParaRPr lang="en-US" sz="2325" dirty="0"/>
          </a:p>
        </p:txBody>
      </p:sp>
      <p:sp>
        <p:nvSpPr>
          <p:cNvPr id="10" name="Text 7"/>
          <p:cNvSpPr/>
          <p:nvPr/>
        </p:nvSpPr>
        <p:spPr>
          <a:xfrm>
            <a:off x="1771650" y="3941564"/>
            <a:ext cx="465070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6B7789"/>
                </a:solidFill>
                <a:latin typeface="Arial" pitchFamily="34" charset="0"/>
                <a:ea typeface="Arial" pitchFamily="34" charset="-122"/>
                <a:cs typeface="Arial" pitchFamily="34" charset="-120"/>
              </a:rPr>
              <a:t>Project Manager &amp; Documentation Lead</a:t>
            </a:r>
            <a:endParaRPr lang="en-US" sz="1875" dirty="0"/>
          </a:p>
        </p:txBody>
      </p:sp>
      <p:sp>
        <p:nvSpPr>
          <p:cNvPr id="11" name="Shape 8"/>
          <p:cNvSpPr/>
          <p:nvPr/>
        </p:nvSpPr>
        <p:spPr>
          <a:xfrm>
            <a:off x="9372600" y="2754511"/>
            <a:ext cx="7962900" cy="19050"/>
          </a:xfrm>
          <a:prstGeom prst="rect">
            <a:avLst/>
          </a:prstGeom>
          <a:solidFill>
            <a:srgbClr val="E7ECF3"/>
          </a:solidFill>
          <a:ln/>
        </p:spPr>
      </p:sp>
      <p:sp>
        <p:nvSpPr>
          <p:cNvPr id="12" name="Shape 9"/>
          <p:cNvSpPr/>
          <p:nvPr/>
        </p:nvSpPr>
        <p:spPr>
          <a:xfrm>
            <a:off x="9372600" y="3632002"/>
            <a:ext cx="590550" cy="590550"/>
          </a:xfrm>
          <a:prstGeom prst="ellipse">
            <a:avLst/>
          </a:prstGeom>
          <a:solidFill>
            <a:srgbClr val="EAF0F8"/>
          </a:solidFill>
          <a:ln/>
        </p:spPr>
      </p:sp>
      <p:sp>
        <p:nvSpPr>
          <p:cNvPr id="13" name="Text 10"/>
          <p:cNvSpPr/>
          <p:nvPr/>
        </p:nvSpPr>
        <p:spPr>
          <a:xfrm>
            <a:off x="9334500" y="3632002"/>
            <a:ext cx="666750" cy="628650"/>
          </a:xfrm>
          <a:prstGeom prst="rect">
            <a:avLst/>
          </a:prstGeom>
          <a:noFill/>
          <a:ln/>
        </p:spPr>
        <p:txBody>
          <a:bodyPr wrap="square" lIns="25400" tIns="25400" rIns="25400" bIns="25400" rtlCol="0" anchor="ctr">
            <a:normAutofit/>
          </a:bodyPr>
          <a:lstStyle/>
          <a:p>
            <a:pPr algn="ctr" indent="0" marL="0">
              <a:buNone/>
            </a:pPr>
            <a:r>
              <a:rPr lang="en-US" sz="1950" b="1" dirty="0">
                <a:solidFill>
                  <a:srgbClr val="1E5AA8"/>
                </a:solidFill>
                <a:latin typeface="Arial" pitchFamily="34" charset="0"/>
                <a:ea typeface="Arial" pitchFamily="34" charset="-122"/>
                <a:cs typeface="Arial" pitchFamily="34" charset="-120"/>
              </a:rPr>
              <a:t>AO</a:t>
            </a:r>
            <a:endParaRPr lang="en-US" sz="1950" dirty="0"/>
          </a:p>
        </p:txBody>
      </p:sp>
      <p:sp>
        <p:nvSpPr>
          <p:cNvPr id="14" name="Text 11"/>
          <p:cNvSpPr/>
          <p:nvPr/>
        </p:nvSpPr>
        <p:spPr>
          <a:xfrm>
            <a:off x="10191750" y="3598664"/>
            <a:ext cx="2869362" cy="381000"/>
          </a:xfrm>
          <a:prstGeom prst="rect">
            <a:avLst/>
          </a:prstGeom>
          <a:noFill/>
          <a:ln/>
        </p:spPr>
        <p:txBody>
          <a:bodyPr wrap="square" lIns="25400" tIns="25400" rIns="25400" bIns="25400" rtlCol="0" anchor="t">
            <a:normAutofit/>
          </a:bodyPr>
          <a:lstStyle/>
          <a:p>
            <a:pPr algn="l" indent="0" marL="0">
              <a:buNone/>
            </a:pPr>
            <a:r>
              <a:rPr lang="en-US" sz="2325" b="1" dirty="0">
                <a:solidFill>
                  <a:srgbClr val="16233A"/>
                </a:solidFill>
                <a:latin typeface="Arial" pitchFamily="34" charset="0"/>
                <a:ea typeface="Arial" pitchFamily="34" charset="-122"/>
                <a:cs typeface="Arial" pitchFamily="34" charset="-120"/>
              </a:rPr>
              <a:t>Ahmed Ossama</a:t>
            </a:r>
            <a:endParaRPr lang="en-US" sz="2325" dirty="0"/>
          </a:p>
        </p:txBody>
      </p:sp>
      <p:sp>
        <p:nvSpPr>
          <p:cNvPr id="15" name="Text 12"/>
          <p:cNvSpPr/>
          <p:nvPr/>
        </p:nvSpPr>
        <p:spPr>
          <a:xfrm>
            <a:off x="10191750" y="3941564"/>
            <a:ext cx="2869362" cy="352425"/>
          </a:xfrm>
          <a:prstGeom prst="rect">
            <a:avLst/>
          </a:prstGeom>
          <a:noFill/>
          <a:ln/>
        </p:spPr>
        <p:txBody>
          <a:bodyPr wrap="square" lIns="25400" tIns="25400" rIns="25400" bIns="25400" rtlCol="0" anchor="t">
            <a:normAutofit/>
          </a:bodyPr>
          <a:lstStyle/>
          <a:p>
            <a:pPr algn="l" indent="0" marL="0">
              <a:buNone/>
            </a:pPr>
            <a:r>
              <a:rPr lang="en-US" sz="1875" dirty="0">
                <a:solidFill>
                  <a:srgbClr val="6B7789"/>
                </a:solidFill>
                <a:latin typeface="Arial" pitchFamily="34" charset="0"/>
                <a:ea typeface="Arial" pitchFamily="34" charset="-122"/>
                <a:cs typeface="Arial" pitchFamily="34" charset="-120"/>
              </a:rPr>
              <a:t>Lead Technical Architect</a:t>
            </a:r>
            <a:endParaRPr lang="en-US" sz="1875" dirty="0"/>
          </a:p>
        </p:txBody>
      </p:sp>
      <p:sp>
        <p:nvSpPr>
          <p:cNvPr id="16" name="Shape 13"/>
          <p:cNvSpPr/>
          <p:nvPr/>
        </p:nvSpPr>
        <p:spPr>
          <a:xfrm>
            <a:off x="952500" y="5100191"/>
            <a:ext cx="7962900" cy="19050"/>
          </a:xfrm>
          <a:prstGeom prst="rect">
            <a:avLst/>
          </a:prstGeom>
          <a:solidFill>
            <a:srgbClr val="E7ECF3"/>
          </a:solidFill>
          <a:ln/>
        </p:spPr>
      </p:sp>
      <p:sp>
        <p:nvSpPr>
          <p:cNvPr id="17" name="Shape 14"/>
          <p:cNvSpPr/>
          <p:nvPr/>
        </p:nvSpPr>
        <p:spPr>
          <a:xfrm>
            <a:off x="952500" y="5977682"/>
            <a:ext cx="590550" cy="590550"/>
          </a:xfrm>
          <a:prstGeom prst="ellipse">
            <a:avLst/>
          </a:prstGeom>
          <a:solidFill>
            <a:srgbClr val="EAF3EE"/>
          </a:solidFill>
          <a:ln/>
        </p:spPr>
      </p:sp>
      <p:sp>
        <p:nvSpPr>
          <p:cNvPr id="18" name="Text 15"/>
          <p:cNvSpPr/>
          <p:nvPr/>
        </p:nvSpPr>
        <p:spPr>
          <a:xfrm>
            <a:off x="914400" y="5977682"/>
            <a:ext cx="666750" cy="628650"/>
          </a:xfrm>
          <a:prstGeom prst="rect">
            <a:avLst/>
          </a:prstGeom>
          <a:noFill/>
          <a:ln/>
        </p:spPr>
        <p:txBody>
          <a:bodyPr wrap="square" lIns="25400" tIns="25400" rIns="25400" bIns="25400" rtlCol="0" anchor="ctr">
            <a:normAutofit/>
          </a:bodyPr>
          <a:lstStyle/>
          <a:p>
            <a:pPr algn="ctr" indent="0" marL="0">
              <a:buNone/>
            </a:pPr>
            <a:r>
              <a:rPr lang="en-US" sz="1950" b="1" dirty="0">
                <a:solidFill>
                  <a:srgbClr val="3E9B5F"/>
                </a:solidFill>
                <a:latin typeface="Arial" pitchFamily="34" charset="0"/>
                <a:ea typeface="Arial" pitchFamily="34" charset="-122"/>
                <a:cs typeface="Arial" pitchFamily="34" charset="-120"/>
              </a:rPr>
              <a:t>EA</a:t>
            </a:r>
            <a:endParaRPr lang="en-US" sz="1950" dirty="0"/>
          </a:p>
        </p:txBody>
      </p:sp>
      <p:sp>
        <p:nvSpPr>
          <p:cNvPr id="19" name="Text 16"/>
          <p:cNvSpPr/>
          <p:nvPr/>
        </p:nvSpPr>
        <p:spPr>
          <a:xfrm>
            <a:off x="1771650" y="5944344"/>
            <a:ext cx="3148816" cy="381000"/>
          </a:xfrm>
          <a:prstGeom prst="rect">
            <a:avLst/>
          </a:prstGeom>
          <a:noFill/>
          <a:ln/>
        </p:spPr>
        <p:txBody>
          <a:bodyPr wrap="square" lIns="25400" tIns="25400" rIns="25400" bIns="25400" rtlCol="0" anchor="t">
            <a:normAutofit/>
          </a:bodyPr>
          <a:lstStyle/>
          <a:p>
            <a:pPr algn="l" indent="0" marL="0">
              <a:buNone/>
            </a:pPr>
            <a:r>
              <a:rPr lang="en-US" sz="2325" b="1" dirty="0">
                <a:solidFill>
                  <a:srgbClr val="16233A"/>
                </a:solidFill>
                <a:latin typeface="Arial" pitchFamily="34" charset="0"/>
                <a:ea typeface="Arial" pitchFamily="34" charset="-122"/>
                <a:cs typeface="Arial" pitchFamily="34" charset="-120"/>
              </a:rPr>
              <a:t>Eman Ayman</a:t>
            </a:r>
            <a:endParaRPr lang="en-US" sz="2325" dirty="0"/>
          </a:p>
        </p:txBody>
      </p:sp>
      <p:sp>
        <p:nvSpPr>
          <p:cNvPr id="20" name="Text 17"/>
          <p:cNvSpPr/>
          <p:nvPr/>
        </p:nvSpPr>
        <p:spPr>
          <a:xfrm>
            <a:off x="1771650" y="6287244"/>
            <a:ext cx="3148816" cy="352425"/>
          </a:xfrm>
          <a:prstGeom prst="rect">
            <a:avLst/>
          </a:prstGeom>
          <a:noFill/>
          <a:ln/>
        </p:spPr>
        <p:txBody>
          <a:bodyPr wrap="square" lIns="25400" tIns="25400" rIns="25400" bIns="25400" rtlCol="0" anchor="t">
            <a:normAutofit/>
          </a:bodyPr>
          <a:lstStyle/>
          <a:p>
            <a:pPr algn="l" indent="0" marL="0">
              <a:buNone/>
            </a:pPr>
            <a:r>
              <a:rPr lang="en-US" sz="1875" dirty="0">
                <a:solidFill>
                  <a:srgbClr val="6B7789"/>
                </a:solidFill>
                <a:latin typeface="Arial" pitchFamily="34" charset="0"/>
                <a:ea typeface="Arial" pitchFamily="34" charset="-122"/>
                <a:cs typeface="Arial" pitchFamily="34" charset="-120"/>
              </a:rPr>
              <a:t>Threat Analyst &amp; Simulator</a:t>
            </a:r>
            <a:endParaRPr lang="en-US" sz="1875" dirty="0"/>
          </a:p>
        </p:txBody>
      </p:sp>
      <p:sp>
        <p:nvSpPr>
          <p:cNvPr id="21" name="Shape 18"/>
          <p:cNvSpPr/>
          <p:nvPr/>
        </p:nvSpPr>
        <p:spPr>
          <a:xfrm>
            <a:off x="9372600" y="5100191"/>
            <a:ext cx="7962900" cy="19050"/>
          </a:xfrm>
          <a:prstGeom prst="rect">
            <a:avLst/>
          </a:prstGeom>
          <a:solidFill>
            <a:srgbClr val="E7ECF3"/>
          </a:solidFill>
          <a:ln/>
        </p:spPr>
      </p:sp>
      <p:sp>
        <p:nvSpPr>
          <p:cNvPr id="22" name="Shape 19"/>
          <p:cNvSpPr/>
          <p:nvPr/>
        </p:nvSpPr>
        <p:spPr>
          <a:xfrm>
            <a:off x="9372600" y="5977682"/>
            <a:ext cx="590550" cy="590550"/>
          </a:xfrm>
          <a:prstGeom prst="ellipse">
            <a:avLst/>
          </a:prstGeom>
          <a:solidFill>
            <a:srgbClr val="EAF0F8"/>
          </a:solidFill>
          <a:ln/>
        </p:spPr>
      </p:sp>
      <p:sp>
        <p:nvSpPr>
          <p:cNvPr id="23" name="Text 20"/>
          <p:cNvSpPr/>
          <p:nvPr/>
        </p:nvSpPr>
        <p:spPr>
          <a:xfrm>
            <a:off x="9334500" y="5977682"/>
            <a:ext cx="666750" cy="628650"/>
          </a:xfrm>
          <a:prstGeom prst="rect">
            <a:avLst/>
          </a:prstGeom>
          <a:noFill/>
          <a:ln/>
        </p:spPr>
        <p:txBody>
          <a:bodyPr wrap="square" lIns="25400" tIns="25400" rIns="25400" bIns="25400" rtlCol="0" anchor="ctr">
            <a:normAutofit/>
          </a:bodyPr>
          <a:lstStyle/>
          <a:p>
            <a:pPr algn="ctr" indent="0" marL="0">
              <a:buNone/>
            </a:pPr>
            <a:r>
              <a:rPr lang="en-US" sz="1950" b="1" dirty="0">
                <a:solidFill>
                  <a:srgbClr val="1E5AA8"/>
                </a:solidFill>
                <a:latin typeface="Arial" pitchFamily="34" charset="0"/>
                <a:ea typeface="Arial" pitchFamily="34" charset="-122"/>
                <a:cs typeface="Arial" pitchFamily="34" charset="-120"/>
              </a:rPr>
              <a:t>AM</a:t>
            </a:r>
            <a:endParaRPr lang="en-US" sz="1950" dirty="0"/>
          </a:p>
        </p:txBody>
      </p:sp>
      <p:sp>
        <p:nvSpPr>
          <p:cNvPr id="24" name="Text 21"/>
          <p:cNvSpPr/>
          <p:nvPr/>
        </p:nvSpPr>
        <p:spPr>
          <a:xfrm>
            <a:off x="10191750" y="5944344"/>
            <a:ext cx="3831163" cy="381000"/>
          </a:xfrm>
          <a:prstGeom prst="rect">
            <a:avLst/>
          </a:prstGeom>
          <a:noFill/>
          <a:ln/>
        </p:spPr>
        <p:txBody>
          <a:bodyPr wrap="square" lIns="25400" tIns="25400" rIns="25400" bIns="25400" rtlCol="0" anchor="t">
            <a:normAutofit/>
          </a:bodyPr>
          <a:lstStyle/>
          <a:p>
            <a:pPr algn="l" indent="0" marL="0">
              <a:buNone/>
            </a:pPr>
            <a:r>
              <a:rPr lang="en-US" sz="2325" b="1" dirty="0">
                <a:solidFill>
                  <a:srgbClr val="16233A"/>
                </a:solidFill>
                <a:latin typeface="Arial" pitchFamily="34" charset="0"/>
                <a:ea typeface="Arial" pitchFamily="34" charset="-122"/>
                <a:cs typeface="Arial" pitchFamily="34" charset="-120"/>
              </a:rPr>
              <a:t>Ali Mohamed</a:t>
            </a:r>
            <a:endParaRPr lang="en-US" sz="2325" dirty="0"/>
          </a:p>
        </p:txBody>
      </p:sp>
      <p:sp>
        <p:nvSpPr>
          <p:cNvPr id="25" name="Text 22"/>
          <p:cNvSpPr/>
          <p:nvPr/>
        </p:nvSpPr>
        <p:spPr>
          <a:xfrm>
            <a:off x="10191750" y="6287244"/>
            <a:ext cx="383116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6B7789"/>
                </a:solidFill>
                <a:latin typeface="Arial" pitchFamily="34" charset="0"/>
                <a:ea typeface="Arial" pitchFamily="34" charset="-122"/>
                <a:cs typeface="Arial" pitchFamily="34" charset="-120"/>
              </a:rPr>
              <a:t>Detection &amp; Telemetry Specialist</a:t>
            </a:r>
            <a:endParaRPr lang="en-US" sz="1875" dirty="0"/>
          </a:p>
        </p:txBody>
      </p:sp>
      <p:sp>
        <p:nvSpPr>
          <p:cNvPr id="26" name="Shape 23"/>
          <p:cNvSpPr/>
          <p:nvPr/>
        </p:nvSpPr>
        <p:spPr>
          <a:xfrm>
            <a:off x="952500" y="7445871"/>
            <a:ext cx="7962900" cy="19050"/>
          </a:xfrm>
          <a:prstGeom prst="rect">
            <a:avLst/>
          </a:prstGeom>
          <a:solidFill>
            <a:srgbClr val="E7ECF3"/>
          </a:solidFill>
          <a:ln/>
        </p:spPr>
      </p:sp>
      <p:sp>
        <p:nvSpPr>
          <p:cNvPr id="27" name="Shape 24"/>
          <p:cNvSpPr/>
          <p:nvPr/>
        </p:nvSpPr>
        <p:spPr>
          <a:xfrm>
            <a:off x="952500" y="8323362"/>
            <a:ext cx="590550" cy="590550"/>
          </a:xfrm>
          <a:prstGeom prst="ellipse">
            <a:avLst/>
          </a:prstGeom>
          <a:solidFill>
            <a:srgbClr val="EAF3EE"/>
          </a:solidFill>
          <a:ln/>
        </p:spPr>
      </p:sp>
      <p:sp>
        <p:nvSpPr>
          <p:cNvPr id="28" name="Text 25"/>
          <p:cNvSpPr/>
          <p:nvPr/>
        </p:nvSpPr>
        <p:spPr>
          <a:xfrm>
            <a:off x="914400" y="8323362"/>
            <a:ext cx="666750" cy="628650"/>
          </a:xfrm>
          <a:prstGeom prst="rect">
            <a:avLst/>
          </a:prstGeom>
          <a:noFill/>
          <a:ln/>
        </p:spPr>
        <p:txBody>
          <a:bodyPr wrap="square" lIns="25400" tIns="25400" rIns="25400" bIns="25400" rtlCol="0" anchor="ctr">
            <a:normAutofit/>
          </a:bodyPr>
          <a:lstStyle/>
          <a:p>
            <a:pPr algn="ctr" indent="0" marL="0">
              <a:buNone/>
            </a:pPr>
            <a:r>
              <a:rPr lang="en-US" sz="1950" b="1" dirty="0">
                <a:solidFill>
                  <a:srgbClr val="3E9B5F"/>
                </a:solidFill>
                <a:latin typeface="Arial" pitchFamily="34" charset="0"/>
                <a:ea typeface="Arial" pitchFamily="34" charset="-122"/>
                <a:cs typeface="Arial" pitchFamily="34" charset="-120"/>
              </a:rPr>
              <a:t>HA</a:t>
            </a:r>
            <a:endParaRPr lang="en-US" sz="1950" dirty="0"/>
          </a:p>
        </p:txBody>
      </p:sp>
      <p:sp>
        <p:nvSpPr>
          <p:cNvPr id="29" name="Text 26"/>
          <p:cNvSpPr/>
          <p:nvPr/>
        </p:nvSpPr>
        <p:spPr>
          <a:xfrm>
            <a:off x="1771650" y="8290024"/>
            <a:ext cx="3448407" cy="381000"/>
          </a:xfrm>
          <a:prstGeom prst="rect">
            <a:avLst/>
          </a:prstGeom>
          <a:noFill/>
          <a:ln/>
        </p:spPr>
        <p:txBody>
          <a:bodyPr wrap="square" lIns="25400" tIns="25400" rIns="25400" bIns="25400" rtlCol="0" anchor="t">
            <a:normAutofit/>
          </a:bodyPr>
          <a:lstStyle/>
          <a:p>
            <a:pPr algn="l" indent="0" marL="0">
              <a:buNone/>
            </a:pPr>
            <a:r>
              <a:rPr lang="en-US" sz="2325" b="1" dirty="0">
                <a:solidFill>
                  <a:srgbClr val="16233A"/>
                </a:solidFill>
                <a:latin typeface="Arial" pitchFamily="34" charset="0"/>
                <a:ea typeface="Arial" pitchFamily="34" charset="-122"/>
                <a:cs typeface="Arial" pitchFamily="34" charset="-120"/>
              </a:rPr>
              <a:t>Hoda Alaa</a:t>
            </a:r>
            <a:endParaRPr lang="en-US" sz="2325" dirty="0"/>
          </a:p>
        </p:txBody>
      </p:sp>
      <p:sp>
        <p:nvSpPr>
          <p:cNvPr id="30" name="Text 27"/>
          <p:cNvSpPr/>
          <p:nvPr/>
        </p:nvSpPr>
        <p:spPr>
          <a:xfrm>
            <a:off x="1771650" y="8632924"/>
            <a:ext cx="3448407" cy="352425"/>
          </a:xfrm>
          <a:prstGeom prst="rect">
            <a:avLst/>
          </a:prstGeom>
          <a:noFill/>
          <a:ln/>
        </p:spPr>
        <p:txBody>
          <a:bodyPr wrap="square" lIns="25400" tIns="25400" rIns="25400" bIns="25400" rtlCol="0" anchor="t">
            <a:normAutofit/>
          </a:bodyPr>
          <a:lstStyle/>
          <a:p>
            <a:pPr algn="l" indent="0" marL="0">
              <a:buNone/>
            </a:pPr>
            <a:r>
              <a:rPr lang="en-US" sz="1875" dirty="0">
                <a:solidFill>
                  <a:srgbClr val="6B7789"/>
                </a:solidFill>
                <a:latin typeface="Arial" pitchFamily="34" charset="0"/>
                <a:ea typeface="Arial" pitchFamily="34" charset="-122"/>
                <a:cs typeface="Arial" pitchFamily="34" charset="-120"/>
              </a:rPr>
              <a:t>System Integration Specialist</a:t>
            </a:r>
            <a:endParaRPr lang="en-US" sz="1875" dirty="0"/>
          </a:p>
        </p:txBody>
      </p:sp>
      <p:sp>
        <p:nvSpPr>
          <p:cNvPr id="31" name="Shape 28"/>
          <p:cNvSpPr/>
          <p:nvPr/>
        </p:nvSpPr>
        <p:spPr>
          <a:xfrm>
            <a:off x="9372600" y="7445871"/>
            <a:ext cx="7962900" cy="19050"/>
          </a:xfrm>
          <a:prstGeom prst="rect">
            <a:avLst/>
          </a:prstGeom>
          <a:solidFill>
            <a:srgbClr val="E7ECF3"/>
          </a:solidFill>
          <a:ln/>
        </p:spPr>
      </p:sp>
      <p:sp>
        <p:nvSpPr>
          <p:cNvPr id="32" name="Shape 29"/>
          <p:cNvSpPr/>
          <p:nvPr/>
        </p:nvSpPr>
        <p:spPr>
          <a:xfrm>
            <a:off x="9372600" y="8323362"/>
            <a:ext cx="590550" cy="590550"/>
          </a:xfrm>
          <a:prstGeom prst="ellipse">
            <a:avLst/>
          </a:prstGeom>
          <a:solidFill>
            <a:srgbClr val="EAF3EE"/>
          </a:solidFill>
          <a:ln/>
        </p:spPr>
      </p:sp>
      <p:sp>
        <p:nvSpPr>
          <p:cNvPr id="33" name="Text 30"/>
          <p:cNvSpPr/>
          <p:nvPr/>
        </p:nvSpPr>
        <p:spPr>
          <a:xfrm>
            <a:off x="9334500" y="8323362"/>
            <a:ext cx="666750" cy="628650"/>
          </a:xfrm>
          <a:prstGeom prst="rect">
            <a:avLst/>
          </a:prstGeom>
          <a:noFill/>
          <a:ln/>
        </p:spPr>
        <p:txBody>
          <a:bodyPr wrap="square" lIns="25400" tIns="25400" rIns="25400" bIns="25400" rtlCol="0" anchor="ctr">
            <a:normAutofit/>
          </a:bodyPr>
          <a:lstStyle/>
          <a:p>
            <a:pPr algn="ctr" indent="0" marL="0">
              <a:buNone/>
            </a:pPr>
            <a:r>
              <a:rPr lang="en-US" sz="1950" b="1" dirty="0">
                <a:solidFill>
                  <a:srgbClr val="3E9B5F"/>
                </a:solidFill>
                <a:latin typeface="Arial" pitchFamily="34" charset="0"/>
                <a:ea typeface="Arial" pitchFamily="34" charset="-122"/>
                <a:cs typeface="Arial" pitchFamily="34" charset="-120"/>
              </a:rPr>
              <a:t>MS</a:t>
            </a:r>
            <a:endParaRPr lang="en-US" sz="1950" dirty="0"/>
          </a:p>
        </p:txBody>
      </p:sp>
      <p:sp>
        <p:nvSpPr>
          <p:cNvPr id="34" name="Text 31"/>
          <p:cNvSpPr/>
          <p:nvPr/>
        </p:nvSpPr>
        <p:spPr>
          <a:xfrm>
            <a:off x="10191750" y="8290024"/>
            <a:ext cx="4328026" cy="381000"/>
          </a:xfrm>
          <a:prstGeom prst="rect">
            <a:avLst/>
          </a:prstGeom>
          <a:noFill/>
          <a:ln/>
        </p:spPr>
        <p:txBody>
          <a:bodyPr wrap="square" lIns="25400" tIns="25400" rIns="25400" bIns="25400" rtlCol="0" anchor="t">
            <a:normAutofit/>
          </a:bodyPr>
          <a:lstStyle/>
          <a:p>
            <a:pPr algn="l" indent="0" marL="0">
              <a:buNone/>
            </a:pPr>
            <a:r>
              <a:rPr lang="en-US" sz="2325" b="1" dirty="0">
                <a:solidFill>
                  <a:srgbClr val="16233A"/>
                </a:solidFill>
                <a:latin typeface="Arial" pitchFamily="34" charset="0"/>
                <a:ea typeface="Arial" pitchFamily="34" charset="-122"/>
                <a:cs typeface="Arial" pitchFamily="34" charset="-120"/>
              </a:rPr>
              <a:t>Mariam Salama</a:t>
            </a:r>
            <a:endParaRPr lang="en-US" sz="2325" dirty="0"/>
          </a:p>
        </p:txBody>
      </p:sp>
      <p:sp>
        <p:nvSpPr>
          <p:cNvPr id="35" name="Text 32"/>
          <p:cNvSpPr/>
          <p:nvPr/>
        </p:nvSpPr>
        <p:spPr>
          <a:xfrm>
            <a:off x="10191750" y="8632924"/>
            <a:ext cx="4328026" cy="352425"/>
          </a:xfrm>
          <a:prstGeom prst="rect">
            <a:avLst/>
          </a:prstGeom>
          <a:noFill/>
          <a:ln/>
        </p:spPr>
        <p:txBody>
          <a:bodyPr wrap="square" lIns="25400" tIns="25400" rIns="25400" bIns="25400" rtlCol="0" anchor="t">
            <a:normAutofit/>
          </a:bodyPr>
          <a:lstStyle/>
          <a:p>
            <a:pPr algn="l" indent="0" marL="0">
              <a:buNone/>
            </a:pPr>
            <a:r>
              <a:rPr lang="en-US" sz="1875" dirty="0">
                <a:solidFill>
                  <a:srgbClr val="6B7789"/>
                </a:solidFill>
                <a:latin typeface="Arial" pitchFamily="34" charset="0"/>
                <a:ea typeface="Arial" pitchFamily="34" charset="-122"/>
                <a:cs typeface="Arial" pitchFamily="34" charset="-120"/>
              </a:rPr>
              <a:t>Quality Assurance &amp; Technical Writer</a:t>
            </a:r>
            <a:endParaRPr lang="en-US" sz="18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1705049"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CONTENTS</a:t>
            </a:r>
            <a:endParaRPr lang="en-US" sz="1800" dirty="0"/>
          </a:p>
        </p:txBody>
      </p:sp>
      <p:sp>
        <p:nvSpPr>
          <p:cNvPr id="4" name="Text 2"/>
          <p:cNvSpPr/>
          <p:nvPr/>
        </p:nvSpPr>
        <p:spPr>
          <a:xfrm>
            <a:off x="952500" y="1276350"/>
            <a:ext cx="18021300"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48" kern="0" dirty="0">
                <a:solidFill>
                  <a:srgbClr val="16233A"/>
                </a:solidFill>
                <a:latin typeface="Arial" pitchFamily="34" charset="0"/>
                <a:ea typeface="Arial" pitchFamily="34" charset="-122"/>
                <a:cs typeface="Arial" pitchFamily="34" charset="-120"/>
              </a:rPr>
              <a:t>Agenda</a:t>
            </a:r>
            <a:endParaRPr lang="en-US" sz="4800" dirty="0"/>
          </a:p>
        </p:txBody>
      </p:sp>
      <p:sp>
        <p:nvSpPr>
          <p:cNvPr id="5" name="Shape 3"/>
          <p:cNvSpPr/>
          <p:nvPr/>
        </p:nvSpPr>
        <p:spPr>
          <a:xfrm>
            <a:off x="952500" y="2411611"/>
            <a:ext cx="7905750" cy="19050"/>
          </a:xfrm>
          <a:prstGeom prst="rect">
            <a:avLst/>
          </a:prstGeom>
          <a:solidFill>
            <a:srgbClr val="E7ECF3"/>
          </a:solidFill>
          <a:ln/>
        </p:spPr>
      </p:sp>
      <p:sp>
        <p:nvSpPr>
          <p:cNvPr id="6" name="Text 4"/>
          <p:cNvSpPr/>
          <p:nvPr/>
        </p:nvSpPr>
        <p:spPr>
          <a:xfrm>
            <a:off x="952500" y="2640211"/>
            <a:ext cx="436513"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E5AA8"/>
                </a:solidFill>
                <a:latin typeface="Arial" pitchFamily="34" charset="0"/>
                <a:ea typeface="Arial" pitchFamily="34" charset="-122"/>
                <a:cs typeface="Arial" pitchFamily="34" charset="-120"/>
              </a:rPr>
              <a:t>01</a:t>
            </a:r>
            <a:endParaRPr lang="en-US" sz="2550" dirty="0"/>
          </a:p>
        </p:txBody>
      </p:sp>
      <p:sp>
        <p:nvSpPr>
          <p:cNvPr id="7" name="Text 5"/>
          <p:cNvSpPr/>
          <p:nvPr/>
        </p:nvSpPr>
        <p:spPr>
          <a:xfrm>
            <a:off x="1560463" y="2640211"/>
            <a:ext cx="5423743" cy="447675"/>
          </a:xfrm>
          <a:prstGeom prst="rect">
            <a:avLst/>
          </a:prstGeom>
          <a:noFill/>
          <a:ln/>
        </p:spPr>
        <p:txBody>
          <a:bodyPr wrap="square" lIns="25400" tIns="25400" rIns="25400" bIns="25400" rtlCol="0" anchor="t">
            <a:normAutofit/>
          </a:bodyPr>
          <a:lstStyle/>
          <a:p>
            <a:pPr algn="l" indent="0" marL="0">
              <a:buNone/>
            </a:pPr>
            <a:r>
              <a:rPr lang="en-US" sz="2550" b="1" dirty="0">
                <a:solidFill>
                  <a:srgbClr val="16233A"/>
                </a:solidFill>
                <a:latin typeface="Arial" pitchFamily="34" charset="0"/>
                <a:ea typeface="Arial" pitchFamily="34" charset="-122"/>
                <a:cs typeface="Arial" pitchFamily="34" charset="-120"/>
              </a:rPr>
              <a:t>The Challenge</a:t>
            </a:r>
            <a:endParaRPr lang="en-US" sz="2550" dirty="0"/>
          </a:p>
        </p:txBody>
      </p:sp>
      <p:sp>
        <p:nvSpPr>
          <p:cNvPr id="8" name="Text 6"/>
          <p:cNvSpPr/>
          <p:nvPr/>
        </p:nvSpPr>
        <p:spPr>
          <a:xfrm>
            <a:off x="1560463" y="3106936"/>
            <a:ext cx="542374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6B7789"/>
                </a:solidFill>
                <a:latin typeface="Arial" pitchFamily="34" charset="0"/>
                <a:ea typeface="Arial" pitchFamily="34" charset="-122"/>
                <a:cs typeface="Arial" pitchFamily="34" charset="-120"/>
              </a:rPr>
              <a:t>The visibility &amp; alerting gap we set out to close</a:t>
            </a:r>
            <a:endParaRPr lang="en-US" sz="1875" dirty="0"/>
          </a:p>
        </p:txBody>
      </p:sp>
      <p:sp>
        <p:nvSpPr>
          <p:cNvPr id="9" name="Shape 7"/>
          <p:cNvSpPr/>
          <p:nvPr/>
        </p:nvSpPr>
        <p:spPr>
          <a:xfrm>
            <a:off x="9429750" y="2411611"/>
            <a:ext cx="7905750" cy="19050"/>
          </a:xfrm>
          <a:prstGeom prst="rect">
            <a:avLst/>
          </a:prstGeom>
          <a:solidFill>
            <a:srgbClr val="E7ECF3"/>
          </a:solidFill>
          <a:ln/>
        </p:spPr>
      </p:sp>
      <p:sp>
        <p:nvSpPr>
          <p:cNvPr id="10" name="Text 8"/>
          <p:cNvSpPr/>
          <p:nvPr/>
        </p:nvSpPr>
        <p:spPr>
          <a:xfrm>
            <a:off x="9429750" y="2640211"/>
            <a:ext cx="436513"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E5AA8"/>
                </a:solidFill>
                <a:latin typeface="Arial" pitchFamily="34" charset="0"/>
                <a:ea typeface="Arial" pitchFamily="34" charset="-122"/>
                <a:cs typeface="Arial" pitchFamily="34" charset="-120"/>
              </a:rPr>
              <a:t>02</a:t>
            </a:r>
            <a:endParaRPr lang="en-US" sz="2550" dirty="0"/>
          </a:p>
        </p:txBody>
      </p:sp>
      <p:sp>
        <p:nvSpPr>
          <p:cNvPr id="11" name="Text 9"/>
          <p:cNvSpPr/>
          <p:nvPr/>
        </p:nvSpPr>
        <p:spPr>
          <a:xfrm>
            <a:off x="10037713" y="2640211"/>
            <a:ext cx="4687372" cy="447675"/>
          </a:xfrm>
          <a:prstGeom prst="rect">
            <a:avLst/>
          </a:prstGeom>
          <a:noFill/>
          <a:ln/>
        </p:spPr>
        <p:txBody>
          <a:bodyPr wrap="square" lIns="25400" tIns="25400" rIns="25400" bIns="25400" rtlCol="0" anchor="t">
            <a:normAutofit/>
          </a:bodyPr>
          <a:lstStyle/>
          <a:p>
            <a:pPr algn="l" indent="0" marL="0">
              <a:buNone/>
            </a:pPr>
            <a:r>
              <a:rPr lang="en-US" sz="2550" b="1" dirty="0">
                <a:solidFill>
                  <a:srgbClr val="16233A"/>
                </a:solidFill>
                <a:latin typeface="Arial" pitchFamily="34" charset="0"/>
                <a:ea typeface="Arial" pitchFamily="34" charset="-122"/>
                <a:cs typeface="Arial" pitchFamily="34" charset="-120"/>
              </a:rPr>
              <a:t>System Design</a:t>
            </a:r>
            <a:endParaRPr lang="en-US" sz="2550" dirty="0"/>
          </a:p>
        </p:txBody>
      </p:sp>
      <p:sp>
        <p:nvSpPr>
          <p:cNvPr id="12" name="Text 10"/>
          <p:cNvSpPr/>
          <p:nvPr/>
        </p:nvSpPr>
        <p:spPr>
          <a:xfrm>
            <a:off x="10037713" y="3106936"/>
            <a:ext cx="4687372" cy="352425"/>
          </a:xfrm>
          <a:prstGeom prst="rect">
            <a:avLst/>
          </a:prstGeom>
          <a:noFill/>
          <a:ln/>
        </p:spPr>
        <p:txBody>
          <a:bodyPr wrap="square" lIns="25400" tIns="25400" rIns="25400" bIns="25400" rtlCol="0" anchor="t">
            <a:normAutofit/>
          </a:bodyPr>
          <a:lstStyle/>
          <a:p>
            <a:pPr algn="l" indent="0" marL="0">
              <a:buNone/>
            </a:pPr>
            <a:r>
              <a:rPr lang="en-US" sz="1875" dirty="0">
                <a:solidFill>
                  <a:srgbClr val="6B7789"/>
                </a:solidFill>
                <a:latin typeface="Arial" pitchFamily="34" charset="0"/>
                <a:ea typeface="Arial" pitchFamily="34" charset="-122"/>
                <a:cs typeface="Arial" pitchFamily="34" charset="-120"/>
              </a:rPr>
              <a:t>Lab topology, architecture &amp; data model</a:t>
            </a:r>
            <a:endParaRPr lang="en-US" sz="1875" dirty="0"/>
          </a:p>
        </p:txBody>
      </p:sp>
      <p:sp>
        <p:nvSpPr>
          <p:cNvPr id="13" name="Shape 11"/>
          <p:cNvSpPr/>
          <p:nvPr/>
        </p:nvSpPr>
        <p:spPr>
          <a:xfrm>
            <a:off x="952500" y="4877991"/>
            <a:ext cx="7905750" cy="19050"/>
          </a:xfrm>
          <a:prstGeom prst="rect">
            <a:avLst/>
          </a:prstGeom>
          <a:solidFill>
            <a:srgbClr val="E7ECF3"/>
          </a:solidFill>
          <a:ln/>
        </p:spPr>
      </p:sp>
      <p:sp>
        <p:nvSpPr>
          <p:cNvPr id="14" name="Text 12"/>
          <p:cNvSpPr/>
          <p:nvPr/>
        </p:nvSpPr>
        <p:spPr>
          <a:xfrm>
            <a:off x="952500" y="5106591"/>
            <a:ext cx="436513"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E5AA8"/>
                </a:solidFill>
                <a:latin typeface="Arial" pitchFamily="34" charset="0"/>
                <a:ea typeface="Arial" pitchFamily="34" charset="-122"/>
                <a:cs typeface="Arial" pitchFamily="34" charset="-120"/>
              </a:rPr>
              <a:t>03</a:t>
            </a:r>
            <a:endParaRPr lang="en-US" sz="2550" dirty="0"/>
          </a:p>
        </p:txBody>
      </p:sp>
      <p:sp>
        <p:nvSpPr>
          <p:cNvPr id="15" name="Text 13"/>
          <p:cNvSpPr/>
          <p:nvPr/>
        </p:nvSpPr>
        <p:spPr>
          <a:xfrm>
            <a:off x="1560463" y="5106591"/>
            <a:ext cx="6360170" cy="447675"/>
          </a:xfrm>
          <a:prstGeom prst="rect">
            <a:avLst/>
          </a:prstGeom>
          <a:noFill/>
          <a:ln/>
        </p:spPr>
        <p:txBody>
          <a:bodyPr wrap="square" lIns="25400" tIns="25400" rIns="25400" bIns="25400" rtlCol="0" anchor="t">
            <a:normAutofit/>
          </a:bodyPr>
          <a:lstStyle/>
          <a:p>
            <a:pPr algn="l" indent="0" marL="0">
              <a:buNone/>
            </a:pPr>
            <a:r>
              <a:rPr lang="en-US" sz="2550" b="1" dirty="0">
                <a:solidFill>
                  <a:srgbClr val="16233A"/>
                </a:solidFill>
                <a:latin typeface="Arial" pitchFamily="34" charset="0"/>
                <a:ea typeface="Arial" pitchFamily="34" charset="-122"/>
                <a:cs typeface="Arial" pitchFamily="34" charset="-120"/>
              </a:rPr>
              <a:t>Detection &amp; Automation</a:t>
            </a:r>
            <a:endParaRPr lang="en-US" sz="2550" dirty="0"/>
          </a:p>
        </p:txBody>
      </p:sp>
      <p:sp>
        <p:nvSpPr>
          <p:cNvPr id="16" name="Text 14"/>
          <p:cNvSpPr/>
          <p:nvPr/>
        </p:nvSpPr>
        <p:spPr>
          <a:xfrm>
            <a:off x="1560463" y="5573316"/>
            <a:ext cx="636017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6B7789"/>
                </a:solidFill>
                <a:latin typeface="Arial" pitchFamily="34" charset="0"/>
                <a:ea typeface="Arial" pitchFamily="34" charset="-122"/>
                <a:cs typeface="Arial" pitchFamily="34" charset="-120"/>
              </a:rPr>
              <a:t>Endpoint rules, MITRE mapping &amp; the Discord pipeline</a:t>
            </a:r>
            <a:endParaRPr lang="en-US" sz="1875" dirty="0"/>
          </a:p>
        </p:txBody>
      </p:sp>
      <p:sp>
        <p:nvSpPr>
          <p:cNvPr id="17" name="Shape 15"/>
          <p:cNvSpPr/>
          <p:nvPr/>
        </p:nvSpPr>
        <p:spPr>
          <a:xfrm>
            <a:off x="9429750" y="4877991"/>
            <a:ext cx="7905750" cy="19050"/>
          </a:xfrm>
          <a:prstGeom prst="rect">
            <a:avLst/>
          </a:prstGeom>
          <a:solidFill>
            <a:srgbClr val="E7ECF3"/>
          </a:solidFill>
          <a:ln/>
        </p:spPr>
      </p:sp>
      <p:sp>
        <p:nvSpPr>
          <p:cNvPr id="18" name="Text 16"/>
          <p:cNvSpPr/>
          <p:nvPr/>
        </p:nvSpPr>
        <p:spPr>
          <a:xfrm>
            <a:off x="9429750" y="5106591"/>
            <a:ext cx="436513"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E5AA8"/>
                </a:solidFill>
                <a:latin typeface="Arial" pitchFamily="34" charset="0"/>
                <a:ea typeface="Arial" pitchFamily="34" charset="-122"/>
                <a:cs typeface="Arial" pitchFamily="34" charset="-120"/>
              </a:rPr>
              <a:t>04</a:t>
            </a:r>
            <a:endParaRPr lang="en-US" sz="2550" dirty="0"/>
          </a:p>
        </p:txBody>
      </p:sp>
      <p:sp>
        <p:nvSpPr>
          <p:cNvPr id="19" name="Text 17"/>
          <p:cNvSpPr/>
          <p:nvPr/>
        </p:nvSpPr>
        <p:spPr>
          <a:xfrm>
            <a:off x="10037713" y="5106591"/>
            <a:ext cx="5492338" cy="447675"/>
          </a:xfrm>
          <a:prstGeom prst="rect">
            <a:avLst/>
          </a:prstGeom>
          <a:noFill/>
          <a:ln/>
        </p:spPr>
        <p:txBody>
          <a:bodyPr wrap="square" lIns="25400" tIns="25400" rIns="25400" bIns="25400" rtlCol="0" anchor="t">
            <a:normAutofit/>
          </a:bodyPr>
          <a:lstStyle/>
          <a:p>
            <a:pPr algn="l" indent="0" marL="0">
              <a:buNone/>
            </a:pPr>
            <a:r>
              <a:rPr lang="en-US" sz="2550" b="1" dirty="0">
                <a:solidFill>
                  <a:srgbClr val="16233A"/>
                </a:solidFill>
                <a:latin typeface="Arial" pitchFamily="34" charset="0"/>
                <a:ea typeface="Arial" pitchFamily="34" charset="-122"/>
                <a:cs typeface="Arial" pitchFamily="34" charset="-120"/>
              </a:rPr>
              <a:t>Validation</a:t>
            </a:r>
            <a:endParaRPr lang="en-US" sz="2550" dirty="0"/>
          </a:p>
        </p:txBody>
      </p:sp>
      <p:sp>
        <p:nvSpPr>
          <p:cNvPr id="20" name="Text 18"/>
          <p:cNvSpPr/>
          <p:nvPr/>
        </p:nvSpPr>
        <p:spPr>
          <a:xfrm>
            <a:off x="10037713" y="5573316"/>
            <a:ext cx="5492338" cy="352425"/>
          </a:xfrm>
          <a:prstGeom prst="rect">
            <a:avLst/>
          </a:prstGeom>
          <a:noFill/>
          <a:ln/>
        </p:spPr>
        <p:txBody>
          <a:bodyPr wrap="square" lIns="25400" tIns="25400" rIns="25400" bIns="25400" rtlCol="0" anchor="t">
            <a:normAutofit/>
          </a:bodyPr>
          <a:lstStyle/>
          <a:p>
            <a:pPr algn="l" indent="0" marL="0">
              <a:buNone/>
            </a:pPr>
            <a:r>
              <a:rPr lang="en-US" sz="1875" dirty="0">
                <a:solidFill>
                  <a:srgbClr val="6B7789"/>
                </a:solidFill>
                <a:latin typeface="Arial" pitchFamily="34" charset="0"/>
                <a:ea typeface="Arial" pitchFamily="34" charset="-122"/>
                <a:cs typeface="Arial" pitchFamily="34" charset="-120"/>
              </a:rPr>
              <a:t>Endpoint simulation, dashboards &amp; test results</a:t>
            </a:r>
            <a:endParaRPr lang="en-US" sz="1875" dirty="0"/>
          </a:p>
        </p:txBody>
      </p:sp>
      <p:sp>
        <p:nvSpPr>
          <p:cNvPr id="21" name="Shape 19"/>
          <p:cNvSpPr/>
          <p:nvPr/>
        </p:nvSpPr>
        <p:spPr>
          <a:xfrm>
            <a:off x="952500" y="7344370"/>
            <a:ext cx="7905750" cy="19050"/>
          </a:xfrm>
          <a:prstGeom prst="rect">
            <a:avLst/>
          </a:prstGeom>
          <a:solidFill>
            <a:srgbClr val="E7ECF3"/>
          </a:solidFill>
          <a:ln/>
        </p:spPr>
      </p:sp>
      <p:sp>
        <p:nvSpPr>
          <p:cNvPr id="22" name="Text 20"/>
          <p:cNvSpPr/>
          <p:nvPr/>
        </p:nvSpPr>
        <p:spPr>
          <a:xfrm>
            <a:off x="952500" y="7572970"/>
            <a:ext cx="436513"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E5AA8"/>
                </a:solidFill>
                <a:latin typeface="Arial" pitchFamily="34" charset="0"/>
                <a:ea typeface="Arial" pitchFamily="34" charset="-122"/>
                <a:cs typeface="Arial" pitchFamily="34" charset="-120"/>
              </a:rPr>
              <a:t>05</a:t>
            </a:r>
            <a:endParaRPr lang="en-US" sz="2550" dirty="0"/>
          </a:p>
        </p:txBody>
      </p:sp>
      <p:sp>
        <p:nvSpPr>
          <p:cNvPr id="23" name="Text 21"/>
          <p:cNvSpPr/>
          <p:nvPr/>
        </p:nvSpPr>
        <p:spPr>
          <a:xfrm>
            <a:off x="1560463" y="7572970"/>
            <a:ext cx="4626144" cy="447675"/>
          </a:xfrm>
          <a:prstGeom prst="rect">
            <a:avLst/>
          </a:prstGeom>
          <a:noFill/>
          <a:ln/>
        </p:spPr>
        <p:txBody>
          <a:bodyPr wrap="square" lIns="25400" tIns="25400" rIns="25400" bIns="25400" rtlCol="0" anchor="t">
            <a:normAutofit/>
          </a:bodyPr>
          <a:lstStyle/>
          <a:p>
            <a:pPr algn="l" indent="0" marL="0">
              <a:buNone/>
            </a:pPr>
            <a:r>
              <a:rPr lang="en-US" sz="2550" b="1" dirty="0">
                <a:solidFill>
                  <a:srgbClr val="16233A"/>
                </a:solidFill>
                <a:latin typeface="Arial" pitchFamily="34" charset="0"/>
                <a:ea typeface="Arial" pitchFamily="34" charset="-122"/>
                <a:cs typeface="Arial" pitchFamily="34" charset="-120"/>
              </a:rPr>
              <a:t>Reflection &amp; Roadmap</a:t>
            </a:r>
            <a:endParaRPr lang="en-US" sz="2550" dirty="0"/>
          </a:p>
        </p:txBody>
      </p:sp>
      <p:sp>
        <p:nvSpPr>
          <p:cNvPr id="24" name="Text 22"/>
          <p:cNvSpPr/>
          <p:nvPr/>
        </p:nvSpPr>
        <p:spPr>
          <a:xfrm>
            <a:off x="1560463" y="8039695"/>
            <a:ext cx="4626144" cy="352425"/>
          </a:xfrm>
          <a:prstGeom prst="rect">
            <a:avLst/>
          </a:prstGeom>
          <a:noFill/>
          <a:ln/>
        </p:spPr>
        <p:txBody>
          <a:bodyPr wrap="square" lIns="25400" tIns="25400" rIns="25400" bIns="25400" rtlCol="0" anchor="t">
            <a:normAutofit/>
          </a:bodyPr>
          <a:lstStyle/>
          <a:p>
            <a:pPr algn="l" indent="0" marL="0">
              <a:buNone/>
            </a:pPr>
            <a:r>
              <a:rPr lang="en-US" sz="1875" dirty="0">
                <a:solidFill>
                  <a:srgbClr val="6B7789"/>
                </a:solidFill>
                <a:latin typeface="Arial" pitchFamily="34" charset="0"/>
                <a:ea typeface="Arial" pitchFamily="34" charset="-122"/>
                <a:cs typeface="Arial" pitchFamily="34" charset="-120"/>
              </a:rPr>
              <a:t>Evaluation, timeline &amp; what comes next</a:t>
            </a:r>
            <a:endParaRPr lang="en-US" sz="1875" dirty="0"/>
          </a:p>
        </p:txBody>
      </p:sp>
      <p:sp>
        <p:nvSpPr>
          <p:cNvPr id="25" name="Text 23"/>
          <p:cNvSpPr/>
          <p:nvPr/>
        </p:nvSpPr>
        <p:spPr>
          <a:xfrm>
            <a:off x="11969055" y="8329910"/>
            <a:ext cx="3109853" cy="304800"/>
          </a:xfrm>
          <a:prstGeom prst="rect">
            <a:avLst/>
          </a:prstGeom>
          <a:noFill/>
          <a:ln/>
        </p:spPr>
        <p:txBody>
          <a:bodyPr wrap="square" lIns="25400" tIns="25400" rIns="25400" bIns="25400" rtlCol="0" anchor="t">
            <a:normAutofit/>
          </a:bodyPr>
          <a:lstStyle/>
          <a:p>
            <a:pPr algn="l" indent="0" marL="0">
              <a:buNone/>
            </a:pPr>
            <a:r>
              <a:rPr lang="en-US" sz="1800" i="1" dirty="0">
                <a:solidFill>
                  <a:srgbClr val="AEB8C6"/>
                </a:solidFill>
                <a:latin typeface="Arial" pitchFamily="34" charset="0"/>
                <a:ea typeface="Arial" pitchFamily="34" charset="-122"/>
                <a:cs typeface="Arial" pitchFamily="34" charset="-120"/>
              </a:rPr>
              <a:t>~18 minutes · Q&amp;A to follow</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3C73"/>
        </a:solidFill>
      </p:bgPr>
    </p:bg>
    <p:spTree>
      <p:nvGrpSpPr>
        <p:cNvPr id="1" name=""/>
        <p:cNvGrpSpPr/>
        <p:nvPr/>
      </p:nvGrpSpPr>
      <p:grpSpPr>
        <a:xfrm>
          <a:off x="0" y="0"/>
          <a:ext cx="0" cy="0"/>
          <a:chOff x="0" y="0"/>
          <a:chExt cx="0" cy="0"/>
        </a:xfrm>
      </p:grpSpPr>
      <p:sp>
        <p:nvSpPr>
          <p:cNvPr id="2" name="Text 0"/>
          <p:cNvSpPr/>
          <p:nvPr/>
        </p:nvSpPr>
        <p:spPr>
          <a:xfrm>
            <a:off x="952500" y="3126135"/>
            <a:ext cx="18021300" cy="1924050"/>
          </a:xfrm>
          <a:prstGeom prst="rect">
            <a:avLst/>
          </a:prstGeom>
          <a:noFill/>
          <a:ln/>
        </p:spPr>
        <p:txBody>
          <a:bodyPr wrap="square" lIns="25400" tIns="25400" rIns="25400" bIns="25400" rtlCol="0" anchor="t">
            <a:normAutofit/>
          </a:bodyPr>
          <a:lstStyle/>
          <a:p>
            <a:pPr algn="l" indent="0" marL="0">
              <a:lnSpc>
                <a:spcPct val="90000"/>
              </a:lnSpc>
              <a:buNone/>
            </a:pPr>
            <a:r>
              <a:rPr lang="en-US" sz="16500" b="1" dirty="0">
                <a:ln w="19050">
                  <a:solidFill>
                    <a:srgbClr val="4C86C9"/>
                  </a:solidFill>
                </a:ln>
                <a:solidFill>
                  <a:srgbClr val="000000">
                    <a:alpha val="0"/>
                  </a:srgbClr>
                </a:solidFill>
                <a:latin typeface="Arial" pitchFamily="34" charset="0"/>
                <a:ea typeface="Arial" pitchFamily="34" charset="-122"/>
                <a:cs typeface="Arial" pitchFamily="34" charset="-120"/>
              </a:rPr>
              <a:t>01</a:t>
            </a:r>
            <a:endParaRPr lang="en-US" sz="16500" dirty="0"/>
          </a:p>
        </p:txBody>
      </p:sp>
      <p:sp>
        <p:nvSpPr>
          <p:cNvPr id="3" name="Shape 1"/>
          <p:cNvSpPr/>
          <p:nvPr/>
        </p:nvSpPr>
        <p:spPr>
          <a:xfrm>
            <a:off x="952500" y="5521672"/>
            <a:ext cx="666750" cy="47625"/>
          </a:xfrm>
          <a:prstGeom prst="roundRect">
            <a:avLst>
              <a:gd name="adj" fmla="val 50000"/>
            </a:avLst>
          </a:prstGeom>
          <a:solidFill>
            <a:srgbClr val="3E9B5F"/>
          </a:solidFill>
          <a:ln/>
        </p:spPr>
      </p:sp>
      <p:sp>
        <p:nvSpPr>
          <p:cNvPr id="4" name="Text 2"/>
          <p:cNvSpPr/>
          <p:nvPr/>
        </p:nvSpPr>
        <p:spPr>
          <a:xfrm>
            <a:off x="1828800" y="5107335"/>
            <a:ext cx="5343034" cy="914400"/>
          </a:xfrm>
          <a:prstGeom prst="rect">
            <a:avLst/>
          </a:prstGeom>
          <a:noFill/>
          <a:ln/>
        </p:spPr>
        <p:txBody>
          <a:bodyPr wrap="square" lIns="25400" tIns="25400" rIns="25400" bIns="25400" rtlCol="0" anchor="t">
            <a:normAutofit/>
          </a:bodyPr>
          <a:lstStyle/>
          <a:p>
            <a:pPr algn="l" indent="0" marL="0">
              <a:buNone/>
            </a:pPr>
            <a:r>
              <a:rPr lang="en-US" sz="6000" b="1" spc="-60" kern="0" dirty="0">
                <a:solidFill>
                  <a:srgbClr val="FFFFFF"/>
                </a:solidFill>
                <a:latin typeface="Arial" pitchFamily="34" charset="0"/>
                <a:ea typeface="Arial" pitchFamily="34" charset="-122"/>
                <a:cs typeface="Arial" pitchFamily="34" charset="-120"/>
              </a:rPr>
              <a:t>The Challenge</a:t>
            </a:r>
            <a:endParaRPr lang="en-US" sz="6000" dirty="0"/>
          </a:p>
        </p:txBody>
      </p:sp>
      <p:sp>
        <p:nvSpPr>
          <p:cNvPr id="5" name="Text 3"/>
          <p:cNvSpPr/>
          <p:nvPr/>
        </p:nvSpPr>
        <p:spPr>
          <a:xfrm>
            <a:off x="952500" y="6307485"/>
            <a:ext cx="11772900" cy="89148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B6C8E0"/>
                </a:solidFill>
                <a:latin typeface="Arial" pitchFamily="34" charset="0"/>
                <a:ea typeface="Arial" pitchFamily="34" charset="-122"/>
                <a:cs typeface="Arial" pitchFamily="34" charset="-120"/>
              </a:rPr>
              <a:t>Why fragmented endpoints and web apps leave analysts blind — and always tethered to a dashboard.</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3469035"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PROBLEM STATEMENT</a:t>
            </a:r>
            <a:endParaRPr lang="en-US" sz="1800" dirty="0"/>
          </a:p>
        </p:txBody>
      </p:sp>
      <p:sp>
        <p:nvSpPr>
          <p:cNvPr id="4" name="Text 2"/>
          <p:cNvSpPr/>
          <p:nvPr/>
        </p:nvSpPr>
        <p:spPr>
          <a:xfrm>
            <a:off x="952500" y="1276350"/>
            <a:ext cx="14127480" cy="1272480"/>
          </a:xfrm>
          <a:prstGeom prst="rect">
            <a:avLst/>
          </a:prstGeom>
          <a:noFill/>
          <a:ln/>
        </p:spPr>
        <p:txBody>
          <a:bodyPr wrap="square" lIns="25400" tIns="25400" rIns="25400" bIns="25400" rtlCol="0" anchor="t">
            <a:normAutofit/>
          </a:bodyPr>
          <a:lstStyle/>
          <a:p>
            <a:pPr algn="l" indent="0" marL="0">
              <a:lnSpc>
                <a:spcPct val="108000"/>
              </a:lnSpc>
              <a:buNone/>
            </a:pPr>
            <a:r>
              <a:rPr lang="en-US" sz="4500" b="1" spc="-45" kern="0" dirty="0">
                <a:solidFill>
                  <a:srgbClr val="16233A"/>
                </a:solidFill>
                <a:latin typeface="Arial" pitchFamily="34" charset="0"/>
                <a:ea typeface="Arial" pitchFamily="34" charset="-122"/>
                <a:cs typeface="Arial" pitchFamily="34" charset="-120"/>
              </a:rPr>
              <a:t>Endpoints and web apps are monitored in isolation — so internal threats go unseen</a:t>
            </a:r>
            <a:endParaRPr lang="en-US" sz="4500" dirty="0"/>
          </a:p>
        </p:txBody>
      </p:sp>
      <p:sp>
        <p:nvSpPr>
          <p:cNvPr id="5" name="Text 3"/>
          <p:cNvSpPr/>
          <p:nvPr/>
        </p:nvSpPr>
        <p:spPr>
          <a:xfrm>
            <a:off x="952500" y="2796480"/>
            <a:ext cx="13931265" cy="1281113"/>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48566A"/>
                </a:solidFill>
                <a:latin typeface="Arial" pitchFamily="34" charset="0"/>
                <a:ea typeface="Arial" pitchFamily="34" charset="-122"/>
                <a:cs typeface="Arial" pitchFamily="34" charset="-120"/>
              </a:rPr>
              <a:t>IT environments span both endpoints and web applications, yet they frequently lack centralized visibility — leaving them exposed to undetected exploitation, persistence, and unauthorized access. In a lab or SOC-training context, analysts also lack an always-on notification channel.</a:t>
            </a:r>
            <a:endParaRPr lang="en-US" sz="2250" dirty="0"/>
          </a:p>
        </p:txBody>
      </p:sp>
      <p:sp>
        <p:nvSpPr>
          <p:cNvPr id="6" name="Shape 4"/>
          <p:cNvSpPr/>
          <p:nvPr/>
        </p:nvSpPr>
        <p:spPr>
          <a:xfrm>
            <a:off x="952500" y="4496693"/>
            <a:ext cx="8039100" cy="1845766"/>
          </a:xfrm>
          <a:prstGeom prst="roundRect">
            <a:avLst>
              <a:gd name="adj" fmla="val 5160"/>
            </a:avLst>
          </a:prstGeom>
          <a:solidFill>
            <a:srgbClr val="F3F6FA"/>
          </a:solidFill>
          <a:ln/>
        </p:spPr>
      </p:sp>
      <p:sp>
        <p:nvSpPr>
          <p:cNvPr id="7" name="Shape 5"/>
          <p:cNvSpPr/>
          <p:nvPr/>
        </p:nvSpPr>
        <p:spPr>
          <a:xfrm>
            <a:off x="952500" y="6332934"/>
            <a:ext cx="8039100" cy="9525"/>
          </a:xfrm>
          <a:prstGeom prst="rect">
            <a:avLst/>
          </a:prstGeom>
          <a:solidFill>
            <a:srgbClr val="DCE3EC"/>
          </a:solidFill>
          <a:ln/>
        </p:spPr>
      </p:sp>
      <p:sp>
        <p:nvSpPr>
          <p:cNvPr id="8" name="Shape 6"/>
          <p:cNvSpPr/>
          <p:nvPr/>
        </p:nvSpPr>
        <p:spPr>
          <a:xfrm>
            <a:off x="952500" y="4496693"/>
            <a:ext cx="8039100" cy="9525"/>
          </a:xfrm>
          <a:prstGeom prst="rect">
            <a:avLst/>
          </a:prstGeom>
          <a:solidFill>
            <a:srgbClr val="DCE3EC"/>
          </a:solidFill>
          <a:ln/>
        </p:spPr>
      </p:sp>
      <p:sp>
        <p:nvSpPr>
          <p:cNvPr id="9" name="Shape 7"/>
          <p:cNvSpPr/>
          <p:nvPr/>
        </p:nvSpPr>
        <p:spPr>
          <a:xfrm>
            <a:off x="952500" y="4496693"/>
            <a:ext cx="57150" cy="1845766"/>
          </a:xfrm>
          <a:prstGeom prst="rect">
            <a:avLst/>
          </a:prstGeom>
          <a:solidFill>
            <a:srgbClr val="1E5AA8"/>
          </a:solidFill>
          <a:ln/>
        </p:spPr>
      </p:sp>
      <p:sp>
        <p:nvSpPr>
          <p:cNvPr id="10" name="Shape 8"/>
          <p:cNvSpPr/>
          <p:nvPr/>
        </p:nvSpPr>
        <p:spPr>
          <a:xfrm>
            <a:off x="8982075" y="4496693"/>
            <a:ext cx="9525" cy="1845766"/>
          </a:xfrm>
          <a:prstGeom prst="rect">
            <a:avLst/>
          </a:prstGeom>
          <a:solidFill>
            <a:srgbClr val="DCE3EC"/>
          </a:solidFill>
          <a:ln/>
        </p:spPr>
      </p:sp>
      <p:sp>
        <p:nvSpPr>
          <p:cNvPr id="11" name="Text 9"/>
          <p:cNvSpPr/>
          <p:nvPr/>
        </p:nvSpPr>
        <p:spPr>
          <a:xfrm>
            <a:off x="1352550" y="4830068"/>
            <a:ext cx="8015288"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16233A"/>
                </a:solidFill>
                <a:latin typeface="Arial" pitchFamily="34" charset="0"/>
                <a:ea typeface="Arial" pitchFamily="34" charset="-122"/>
                <a:cs typeface="Arial" pitchFamily="34" charset="-120"/>
              </a:rPr>
              <a:t>No centralized visibility</a:t>
            </a:r>
            <a:endParaRPr lang="en-US" sz="2250" dirty="0"/>
          </a:p>
        </p:txBody>
      </p:sp>
      <p:sp>
        <p:nvSpPr>
          <p:cNvPr id="12" name="Text 10"/>
          <p:cNvSpPr/>
          <p:nvPr/>
        </p:nvSpPr>
        <p:spPr>
          <a:xfrm>
            <a:off x="1352550" y="5315843"/>
            <a:ext cx="7505224"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A6779"/>
                </a:solidFill>
                <a:latin typeface="Arial" pitchFamily="34" charset="0"/>
                <a:ea typeface="Arial" pitchFamily="34" charset="-122"/>
                <a:cs typeface="Arial" pitchFamily="34" charset="-120"/>
              </a:rPr>
              <a:t>Endpoint and web-server telemetry live in separate silos, so suspicious host activity slips through unnoticed.</a:t>
            </a:r>
            <a:endParaRPr lang="en-US" sz="1950" dirty="0"/>
          </a:p>
        </p:txBody>
      </p:sp>
      <p:sp>
        <p:nvSpPr>
          <p:cNvPr id="13" name="Shape 11"/>
          <p:cNvSpPr/>
          <p:nvPr/>
        </p:nvSpPr>
        <p:spPr>
          <a:xfrm>
            <a:off x="9296400" y="4496693"/>
            <a:ext cx="8039100" cy="1845766"/>
          </a:xfrm>
          <a:prstGeom prst="roundRect">
            <a:avLst>
              <a:gd name="adj" fmla="val 5160"/>
            </a:avLst>
          </a:prstGeom>
          <a:solidFill>
            <a:srgbClr val="F3F6FA"/>
          </a:solidFill>
          <a:ln/>
        </p:spPr>
      </p:sp>
      <p:sp>
        <p:nvSpPr>
          <p:cNvPr id="14" name="Shape 12"/>
          <p:cNvSpPr/>
          <p:nvPr/>
        </p:nvSpPr>
        <p:spPr>
          <a:xfrm>
            <a:off x="9296400" y="6332934"/>
            <a:ext cx="8039100" cy="9525"/>
          </a:xfrm>
          <a:prstGeom prst="rect">
            <a:avLst/>
          </a:prstGeom>
          <a:solidFill>
            <a:srgbClr val="DCE3EC"/>
          </a:solidFill>
          <a:ln/>
        </p:spPr>
      </p:sp>
      <p:sp>
        <p:nvSpPr>
          <p:cNvPr id="15" name="Shape 13"/>
          <p:cNvSpPr/>
          <p:nvPr/>
        </p:nvSpPr>
        <p:spPr>
          <a:xfrm>
            <a:off x="9296400" y="4496693"/>
            <a:ext cx="8039100" cy="9525"/>
          </a:xfrm>
          <a:prstGeom prst="rect">
            <a:avLst/>
          </a:prstGeom>
          <a:solidFill>
            <a:srgbClr val="DCE3EC"/>
          </a:solidFill>
          <a:ln/>
        </p:spPr>
      </p:sp>
      <p:sp>
        <p:nvSpPr>
          <p:cNvPr id="16" name="Shape 14"/>
          <p:cNvSpPr/>
          <p:nvPr/>
        </p:nvSpPr>
        <p:spPr>
          <a:xfrm>
            <a:off x="9296400" y="4496693"/>
            <a:ext cx="57150" cy="1845766"/>
          </a:xfrm>
          <a:prstGeom prst="rect">
            <a:avLst/>
          </a:prstGeom>
          <a:solidFill>
            <a:srgbClr val="3E9B5F"/>
          </a:solidFill>
          <a:ln/>
        </p:spPr>
      </p:sp>
      <p:sp>
        <p:nvSpPr>
          <p:cNvPr id="17" name="Shape 15"/>
          <p:cNvSpPr/>
          <p:nvPr/>
        </p:nvSpPr>
        <p:spPr>
          <a:xfrm>
            <a:off x="17325975" y="4496693"/>
            <a:ext cx="9525" cy="1845766"/>
          </a:xfrm>
          <a:prstGeom prst="rect">
            <a:avLst/>
          </a:prstGeom>
          <a:solidFill>
            <a:srgbClr val="DCE3EC"/>
          </a:solidFill>
          <a:ln/>
        </p:spPr>
      </p:sp>
      <p:sp>
        <p:nvSpPr>
          <p:cNvPr id="18" name="Text 16"/>
          <p:cNvSpPr/>
          <p:nvPr/>
        </p:nvSpPr>
        <p:spPr>
          <a:xfrm>
            <a:off x="9696450" y="4830068"/>
            <a:ext cx="8015288"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16233A"/>
                </a:solidFill>
                <a:latin typeface="Arial" pitchFamily="34" charset="0"/>
                <a:ea typeface="Arial" pitchFamily="34" charset="-122"/>
                <a:cs typeface="Arial" pitchFamily="34" charset="-120"/>
              </a:rPr>
              <a:t>No out-of-band alerting</a:t>
            </a:r>
            <a:endParaRPr lang="en-US" sz="2250" dirty="0"/>
          </a:p>
        </p:txBody>
      </p:sp>
      <p:sp>
        <p:nvSpPr>
          <p:cNvPr id="19" name="Text 17"/>
          <p:cNvSpPr/>
          <p:nvPr/>
        </p:nvSpPr>
        <p:spPr>
          <a:xfrm>
            <a:off x="9696450" y="5315843"/>
            <a:ext cx="7505224"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A6779"/>
                </a:solidFill>
                <a:latin typeface="Arial" pitchFamily="34" charset="0"/>
                <a:ea typeface="Arial" pitchFamily="34" charset="-122"/>
                <a:cs typeface="Arial" pitchFamily="34" charset="-120"/>
              </a:rPr>
              <a:t>Analysts must watch the console continuously to notice a live incident — there is no push notification away from the dashboard.</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1967478"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OBJECTIVES</a:t>
            </a:r>
            <a:endParaRPr lang="en-US" sz="1800" dirty="0"/>
          </a:p>
        </p:txBody>
      </p:sp>
      <p:sp>
        <p:nvSpPr>
          <p:cNvPr id="4" name="Text 2"/>
          <p:cNvSpPr/>
          <p:nvPr/>
        </p:nvSpPr>
        <p:spPr>
          <a:xfrm>
            <a:off x="952500" y="1276350"/>
            <a:ext cx="18021300"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48" kern="0" dirty="0">
                <a:solidFill>
                  <a:srgbClr val="16233A"/>
                </a:solidFill>
                <a:latin typeface="Arial" pitchFamily="34" charset="0"/>
                <a:ea typeface="Arial" pitchFamily="34" charset="-122"/>
                <a:cs typeface="Arial" pitchFamily="34" charset="-120"/>
              </a:rPr>
              <a:t>What we set out to build</a:t>
            </a:r>
            <a:endParaRPr lang="en-US" sz="4800" dirty="0"/>
          </a:p>
        </p:txBody>
      </p:sp>
      <p:sp>
        <p:nvSpPr>
          <p:cNvPr id="5" name="Shape 3"/>
          <p:cNvSpPr/>
          <p:nvPr/>
        </p:nvSpPr>
        <p:spPr>
          <a:xfrm>
            <a:off x="952500" y="2373511"/>
            <a:ext cx="8048625" cy="3451920"/>
          </a:xfrm>
          <a:prstGeom prst="roundRect">
            <a:avLst>
              <a:gd name="adj" fmla="val 3311"/>
            </a:avLst>
          </a:prstGeom>
          <a:solidFill>
            <a:srgbClr val="FFFFFF"/>
          </a:solidFill>
          <a:ln w="9525">
            <a:solidFill>
              <a:srgbClr val="DCE3EC"/>
            </a:solidFill>
            <a:prstDash val="solid"/>
          </a:ln>
          <a:effectLst>
            <a:outerShdw sx="100000" sy="100000" kx="0" ky="0" algn="bl" rotWithShape="0" blurRad="323850" dist="152400" dir="5400000">
              <a:srgbClr val="143C73">
                <a:alpha val="50000"/>
              </a:srgbClr>
            </a:outerShdw>
          </a:effectLst>
        </p:spPr>
      </p:sp>
      <p:sp>
        <p:nvSpPr>
          <p:cNvPr id="6" name="Text 4"/>
          <p:cNvSpPr/>
          <p:nvPr/>
        </p:nvSpPr>
        <p:spPr>
          <a:xfrm>
            <a:off x="1343025" y="2744986"/>
            <a:ext cx="7994333"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1E5AA8"/>
                </a:solidFill>
                <a:latin typeface="Arial" pitchFamily="34" charset="0"/>
                <a:ea typeface="Arial" pitchFamily="34" charset="-122"/>
                <a:cs typeface="Arial" pitchFamily="34" charset="-120"/>
              </a:rPr>
              <a:t>01</a:t>
            </a:r>
            <a:endParaRPr lang="en-US" sz="2250" dirty="0"/>
          </a:p>
        </p:txBody>
      </p:sp>
      <p:sp>
        <p:nvSpPr>
          <p:cNvPr id="7" name="Text 5"/>
          <p:cNvSpPr/>
          <p:nvPr/>
        </p:nvSpPr>
        <p:spPr>
          <a:xfrm>
            <a:off x="1343025" y="3221236"/>
            <a:ext cx="7994333"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16233A"/>
                </a:solidFill>
                <a:latin typeface="Arial" pitchFamily="34" charset="0"/>
                <a:ea typeface="Arial" pitchFamily="34" charset="-122"/>
                <a:cs typeface="Arial" pitchFamily="34" charset="-120"/>
              </a:rPr>
              <a:t>Centralized SIEM/XDR</a:t>
            </a:r>
            <a:endParaRPr lang="en-US" sz="2400" dirty="0"/>
          </a:p>
        </p:txBody>
      </p:sp>
      <p:sp>
        <p:nvSpPr>
          <p:cNvPr id="8" name="Text 6"/>
          <p:cNvSpPr/>
          <p:nvPr/>
        </p:nvSpPr>
        <p:spPr>
          <a:xfrm>
            <a:off x="1343025" y="3716536"/>
            <a:ext cx="7485602"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A6779"/>
                </a:solidFill>
                <a:latin typeface="Arial" pitchFamily="34" charset="0"/>
                <a:ea typeface="Arial" pitchFamily="34" charset="-122"/>
                <a:cs typeface="Arial" pitchFamily="34" charset="-120"/>
              </a:rPr>
              <a:t>A Wazuh Manager ingesting real-time logs from a Windows 10 endpoint and a DVWA web server.</a:t>
            </a:r>
            <a:endParaRPr lang="en-US" sz="1950" dirty="0"/>
          </a:p>
        </p:txBody>
      </p:sp>
      <p:sp>
        <p:nvSpPr>
          <p:cNvPr id="9" name="Shape 7"/>
          <p:cNvSpPr/>
          <p:nvPr/>
        </p:nvSpPr>
        <p:spPr>
          <a:xfrm>
            <a:off x="9286875" y="2373511"/>
            <a:ext cx="8048625" cy="3451920"/>
          </a:xfrm>
          <a:prstGeom prst="roundRect">
            <a:avLst>
              <a:gd name="adj" fmla="val 3311"/>
            </a:avLst>
          </a:prstGeom>
          <a:solidFill>
            <a:srgbClr val="FFFFFF"/>
          </a:solidFill>
          <a:ln w="9525">
            <a:solidFill>
              <a:srgbClr val="DCE3EC"/>
            </a:solidFill>
            <a:prstDash val="solid"/>
          </a:ln>
          <a:effectLst>
            <a:outerShdw sx="100000" sy="100000" kx="0" ky="0" algn="bl" rotWithShape="0" blurRad="323850" dist="152400" dir="5400000">
              <a:srgbClr val="143C73">
                <a:alpha val="50000"/>
              </a:srgbClr>
            </a:outerShdw>
          </a:effectLst>
        </p:spPr>
      </p:sp>
      <p:sp>
        <p:nvSpPr>
          <p:cNvPr id="10" name="Text 8"/>
          <p:cNvSpPr/>
          <p:nvPr/>
        </p:nvSpPr>
        <p:spPr>
          <a:xfrm>
            <a:off x="9677400" y="2744986"/>
            <a:ext cx="7994333"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1E5AA8"/>
                </a:solidFill>
                <a:latin typeface="Arial" pitchFamily="34" charset="0"/>
                <a:ea typeface="Arial" pitchFamily="34" charset="-122"/>
                <a:cs typeface="Arial" pitchFamily="34" charset="-120"/>
              </a:rPr>
              <a:t>02</a:t>
            </a:r>
            <a:endParaRPr lang="en-US" sz="2250" dirty="0"/>
          </a:p>
        </p:txBody>
      </p:sp>
      <p:sp>
        <p:nvSpPr>
          <p:cNvPr id="11" name="Text 9"/>
          <p:cNvSpPr/>
          <p:nvPr/>
        </p:nvSpPr>
        <p:spPr>
          <a:xfrm>
            <a:off x="9677400" y="3221236"/>
            <a:ext cx="7994333"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16233A"/>
                </a:solidFill>
                <a:latin typeface="Arial" pitchFamily="34" charset="0"/>
                <a:ea typeface="Arial" pitchFamily="34" charset="-122"/>
                <a:cs typeface="Arial" pitchFamily="34" charset="-120"/>
              </a:rPr>
              <a:t>Detection engineering</a:t>
            </a:r>
            <a:endParaRPr lang="en-US" sz="2400" dirty="0"/>
          </a:p>
        </p:txBody>
      </p:sp>
      <p:sp>
        <p:nvSpPr>
          <p:cNvPr id="12" name="Text 10"/>
          <p:cNvSpPr/>
          <p:nvPr/>
        </p:nvSpPr>
        <p:spPr>
          <a:xfrm>
            <a:off x="9677400" y="3716536"/>
            <a:ext cx="7485602"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A6779"/>
                </a:solidFill>
                <a:latin typeface="Arial" pitchFamily="34" charset="0"/>
                <a:ea typeface="Arial" pitchFamily="34" charset="-122"/>
                <a:cs typeface="Arial" pitchFamily="34" charset="-120"/>
              </a:rPr>
              <a:t>Custom rules mapped to MITRE ATT&amp;CK — including process-creation and DLL-load detection (rules 67027 / 92154).</a:t>
            </a:r>
            <a:endParaRPr lang="en-US" sz="1950" dirty="0"/>
          </a:p>
        </p:txBody>
      </p:sp>
      <p:sp>
        <p:nvSpPr>
          <p:cNvPr id="13" name="Shape 11"/>
          <p:cNvSpPr/>
          <p:nvPr/>
        </p:nvSpPr>
        <p:spPr>
          <a:xfrm>
            <a:off x="952500" y="6111180"/>
            <a:ext cx="8048625" cy="3451920"/>
          </a:xfrm>
          <a:prstGeom prst="roundRect">
            <a:avLst>
              <a:gd name="adj" fmla="val 3311"/>
            </a:avLst>
          </a:prstGeom>
          <a:solidFill>
            <a:srgbClr val="FFFFFF"/>
          </a:solidFill>
          <a:ln w="9525">
            <a:solidFill>
              <a:srgbClr val="DCE3EC"/>
            </a:solidFill>
            <a:prstDash val="solid"/>
          </a:ln>
          <a:effectLst>
            <a:outerShdw sx="100000" sy="100000" kx="0" ky="0" algn="bl" rotWithShape="0" blurRad="323850" dist="152400" dir="5400000">
              <a:srgbClr val="143C73">
                <a:alpha val="50000"/>
              </a:srgbClr>
            </a:outerShdw>
          </a:effectLst>
        </p:spPr>
      </p:sp>
      <p:sp>
        <p:nvSpPr>
          <p:cNvPr id="14" name="Text 12"/>
          <p:cNvSpPr/>
          <p:nvPr/>
        </p:nvSpPr>
        <p:spPr>
          <a:xfrm>
            <a:off x="1343025" y="6482655"/>
            <a:ext cx="7994333"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3E9B5F"/>
                </a:solidFill>
                <a:latin typeface="Arial" pitchFamily="34" charset="0"/>
                <a:ea typeface="Arial" pitchFamily="34" charset="-122"/>
                <a:cs typeface="Arial" pitchFamily="34" charset="-120"/>
              </a:rPr>
              <a:t>03</a:t>
            </a:r>
            <a:endParaRPr lang="en-US" sz="2250" dirty="0"/>
          </a:p>
        </p:txBody>
      </p:sp>
      <p:sp>
        <p:nvSpPr>
          <p:cNvPr id="15" name="Text 13"/>
          <p:cNvSpPr/>
          <p:nvPr/>
        </p:nvSpPr>
        <p:spPr>
          <a:xfrm>
            <a:off x="1343025" y="6958905"/>
            <a:ext cx="7994333"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16233A"/>
                </a:solidFill>
                <a:latin typeface="Arial" pitchFamily="34" charset="0"/>
                <a:ea typeface="Arial" pitchFamily="34" charset="-122"/>
                <a:cs typeface="Arial" pitchFamily="34" charset="-120"/>
              </a:rPr>
              <a:t>Endpoint threat simulation</a:t>
            </a:r>
            <a:endParaRPr lang="en-US" sz="2400" dirty="0"/>
          </a:p>
        </p:txBody>
      </p:sp>
      <p:sp>
        <p:nvSpPr>
          <p:cNvPr id="16" name="Text 14"/>
          <p:cNvSpPr/>
          <p:nvPr/>
        </p:nvSpPr>
        <p:spPr>
          <a:xfrm>
            <a:off x="1343025" y="7454205"/>
            <a:ext cx="7485602"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A6779"/>
                </a:solidFill>
                <a:latin typeface="Arial" pitchFamily="34" charset="0"/>
                <a:ea typeface="Arial" pitchFamily="34" charset="-122"/>
                <a:cs typeface="Arial" pitchFamily="34" charset="-120"/>
              </a:rPr>
              <a:t>Prove the pipeline by simulating suspicious native Windows processes and DLL-injection persistence on the endpoint.</a:t>
            </a:r>
            <a:endParaRPr lang="en-US" sz="1950" dirty="0"/>
          </a:p>
        </p:txBody>
      </p:sp>
      <p:sp>
        <p:nvSpPr>
          <p:cNvPr id="17" name="Shape 15"/>
          <p:cNvSpPr/>
          <p:nvPr/>
        </p:nvSpPr>
        <p:spPr>
          <a:xfrm>
            <a:off x="9286875" y="6111180"/>
            <a:ext cx="8048625" cy="3451920"/>
          </a:xfrm>
          <a:prstGeom prst="roundRect">
            <a:avLst>
              <a:gd name="adj" fmla="val 3311"/>
            </a:avLst>
          </a:prstGeom>
          <a:solidFill>
            <a:srgbClr val="FFFFFF"/>
          </a:solidFill>
          <a:ln w="9525">
            <a:solidFill>
              <a:srgbClr val="DCE3EC"/>
            </a:solidFill>
            <a:prstDash val="solid"/>
          </a:ln>
          <a:effectLst>
            <a:outerShdw sx="100000" sy="100000" kx="0" ky="0" algn="bl" rotWithShape="0" blurRad="323850" dist="152400" dir="5400000">
              <a:srgbClr val="143C73">
                <a:alpha val="50000"/>
              </a:srgbClr>
            </a:outerShdw>
          </a:effectLst>
        </p:spPr>
      </p:sp>
      <p:sp>
        <p:nvSpPr>
          <p:cNvPr id="18" name="Text 16"/>
          <p:cNvSpPr/>
          <p:nvPr/>
        </p:nvSpPr>
        <p:spPr>
          <a:xfrm>
            <a:off x="9677400" y="6482655"/>
            <a:ext cx="7994333"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3E9B5F"/>
                </a:solidFill>
                <a:latin typeface="Arial" pitchFamily="34" charset="0"/>
                <a:ea typeface="Arial" pitchFamily="34" charset="-122"/>
                <a:cs typeface="Arial" pitchFamily="34" charset="-120"/>
              </a:rPr>
              <a:t>04</a:t>
            </a:r>
            <a:endParaRPr lang="en-US" sz="2250" dirty="0"/>
          </a:p>
        </p:txBody>
      </p:sp>
      <p:sp>
        <p:nvSpPr>
          <p:cNvPr id="19" name="Text 17"/>
          <p:cNvSpPr/>
          <p:nvPr/>
        </p:nvSpPr>
        <p:spPr>
          <a:xfrm>
            <a:off x="9677400" y="6958905"/>
            <a:ext cx="7994333"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16233A"/>
                </a:solidFill>
                <a:latin typeface="Arial" pitchFamily="34" charset="0"/>
                <a:ea typeface="Arial" pitchFamily="34" charset="-122"/>
                <a:cs typeface="Arial" pitchFamily="34" charset="-120"/>
              </a:rPr>
              <a:t>Automated notification</a:t>
            </a:r>
            <a:endParaRPr lang="en-US" sz="2400" dirty="0"/>
          </a:p>
        </p:txBody>
      </p:sp>
      <p:sp>
        <p:nvSpPr>
          <p:cNvPr id="20" name="Text 18"/>
          <p:cNvSpPr/>
          <p:nvPr/>
        </p:nvSpPr>
        <p:spPr>
          <a:xfrm>
            <a:off x="9677400" y="7454205"/>
            <a:ext cx="7485602"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A6779"/>
                </a:solidFill>
                <a:latin typeface="Arial" pitchFamily="34" charset="0"/>
                <a:ea typeface="Arial" pitchFamily="34" charset="-122"/>
                <a:cs typeface="Arial" pitchFamily="34" charset="-120"/>
              </a:rPr>
              <a:t>A custom-discord.py integration delivering severity-based, color-coded incident cards to a SOC channel.</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3C73"/>
        </a:solidFill>
      </p:bgPr>
    </p:bg>
    <p:spTree>
      <p:nvGrpSpPr>
        <p:cNvPr id="1" name=""/>
        <p:cNvGrpSpPr/>
        <p:nvPr/>
      </p:nvGrpSpPr>
      <p:grpSpPr>
        <a:xfrm>
          <a:off x="0" y="0"/>
          <a:ext cx="0" cy="0"/>
          <a:chOff x="0" y="0"/>
          <a:chExt cx="0" cy="0"/>
        </a:xfrm>
      </p:grpSpPr>
      <p:sp>
        <p:nvSpPr>
          <p:cNvPr id="2" name="Text 0"/>
          <p:cNvSpPr/>
          <p:nvPr/>
        </p:nvSpPr>
        <p:spPr>
          <a:xfrm>
            <a:off x="952500" y="3126135"/>
            <a:ext cx="18021300" cy="1924050"/>
          </a:xfrm>
          <a:prstGeom prst="rect">
            <a:avLst/>
          </a:prstGeom>
          <a:noFill/>
          <a:ln/>
        </p:spPr>
        <p:txBody>
          <a:bodyPr wrap="square" lIns="25400" tIns="25400" rIns="25400" bIns="25400" rtlCol="0" anchor="t">
            <a:normAutofit/>
          </a:bodyPr>
          <a:lstStyle/>
          <a:p>
            <a:pPr algn="l" indent="0" marL="0">
              <a:lnSpc>
                <a:spcPct val="90000"/>
              </a:lnSpc>
              <a:buNone/>
            </a:pPr>
            <a:r>
              <a:rPr lang="en-US" sz="16500" b="1" dirty="0">
                <a:ln w="19050">
                  <a:solidFill>
                    <a:srgbClr val="4C86C9"/>
                  </a:solidFill>
                </a:ln>
                <a:solidFill>
                  <a:srgbClr val="000000">
                    <a:alpha val="0"/>
                  </a:srgbClr>
                </a:solidFill>
                <a:latin typeface="Arial" pitchFamily="34" charset="0"/>
                <a:ea typeface="Arial" pitchFamily="34" charset="-122"/>
                <a:cs typeface="Arial" pitchFamily="34" charset="-120"/>
              </a:rPr>
              <a:t>02</a:t>
            </a:r>
            <a:endParaRPr lang="en-US" sz="16500" dirty="0"/>
          </a:p>
        </p:txBody>
      </p:sp>
      <p:sp>
        <p:nvSpPr>
          <p:cNvPr id="3" name="Shape 1"/>
          <p:cNvSpPr/>
          <p:nvPr/>
        </p:nvSpPr>
        <p:spPr>
          <a:xfrm>
            <a:off x="952500" y="5521672"/>
            <a:ext cx="666750" cy="47625"/>
          </a:xfrm>
          <a:prstGeom prst="roundRect">
            <a:avLst>
              <a:gd name="adj" fmla="val 50000"/>
            </a:avLst>
          </a:prstGeom>
          <a:solidFill>
            <a:srgbClr val="3E9B5F"/>
          </a:solidFill>
          <a:ln/>
        </p:spPr>
      </p:sp>
      <p:sp>
        <p:nvSpPr>
          <p:cNvPr id="4" name="Text 2"/>
          <p:cNvSpPr/>
          <p:nvPr/>
        </p:nvSpPr>
        <p:spPr>
          <a:xfrm>
            <a:off x="1828800" y="5107335"/>
            <a:ext cx="5527700" cy="914400"/>
          </a:xfrm>
          <a:prstGeom prst="rect">
            <a:avLst/>
          </a:prstGeom>
          <a:noFill/>
          <a:ln/>
        </p:spPr>
        <p:txBody>
          <a:bodyPr wrap="square" lIns="25400" tIns="25400" rIns="25400" bIns="25400" rtlCol="0" anchor="t">
            <a:normAutofit/>
          </a:bodyPr>
          <a:lstStyle/>
          <a:p>
            <a:pPr algn="l" indent="0" marL="0">
              <a:buNone/>
            </a:pPr>
            <a:r>
              <a:rPr lang="en-US" sz="6000" b="1" spc="-60" kern="0" dirty="0">
                <a:solidFill>
                  <a:srgbClr val="FFFFFF"/>
                </a:solidFill>
                <a:latin typeface="Arial" pitchFamily="34" charset="0"/>
                <a:ea typeface="Arial" pitchFamily="34" charset="-122"/>
                <a:cs typeface="Arial" pitchFamily="34" charset="-120"/>
              </a:rPr>
              <a:t>System Design</a:t>
            </a:r>
            <a:endParaRPr lang="en-US" sz="6000" dirty="0"/>
          </a:p>
        </p:txBody>
      </p:sp>
      <p:sp>
        <p:nvSpPr>
          <p:cNvPr id="5" name="Text 3"/>
          <p:cNvSpPr/>
          <p:nvPr/>
        </p:nvSpPr>
        <p:spPr>
          <a:xfrm>
            <a:off x="952500" y="6307485"/>
            <a:ext cx="11772900" cy="89148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B6C8E0"/>
                </a:solidFill>
                <a:latin typeface="Arial" pitchFamily="34" charset="0"/>
                <a:ea typeface="Arial" pitchFamily="34" charset="-122"/>
                <a:cs typeface="Arial" pitchFamily="34" charset="-120"/>
              </a:rPr>
              <a:t>An isolated lab, a hub-and-spoke SIEM, and an outbound automation edge to the cloud.</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3390126"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SOLUTION OVERVIEW</a:t>
            </a:r>
            <a:endParaRPr lang="en-US" sz="1800" dirty="0"/>
          </a:p>
        </p:txBody>
      </p:sp>
      <p:sp>
        <p:nvSpPr>
          <p:cNvPr id="4" name="Text 2"/>
          <p:cNvSpPr/>
          <p:nvPr/>
        </p:nvSpPr>
        <p:spPr>
          <a:xfrm>
            <a:off x="952500" y="1276350"/>
            <a:ext cx="18021300"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48" kern="0" dirty="0">
                <a:solidFill>
                  <a:srgbClr val="16233A"/>
                </a:solidFill>
                <a:latin typeface="Arial" pitchFamily="34" charset="0"/>
                <a:ea typeface="Arial" pitchFamily="34" charset="-122"/>
                <a:cs typeface="Arial" pitchFamily="34" charset="-120"/>
              </a:rPr>
              <a:t>Three components on one isolated subnet</a:t>
            </a:r>
            <a:endParaRPr lang="en-US" sz="4800" dirty="0"/>
          </a:p>
        </p:txBody>
      </p:sp>
      <p:sp>
        <p:nvSpPr>
          <p:cNvPr id="5" name="Shape 3"/>
          <p:cNvSpPr/>
          <p:nvPr/>
        </p:nvSpPr>
        <p:spPr>
          <a:xfrm>
            <a:off x="952500" y="2335411"/>
            <a:ext cx="5295900" cy="6141839"/>
          </a:xfrm>
          <a:prstGeom prst="roundRect">
            <a:avLst>
              <a:gd name="adj" fmla="val 2158"/>
            </a:avLst>
          </a:prstGeom>
          <a:solidFill>
            <a:srgbClr val="F3F6FA"/>
          </a:solidFill>
          <a:ln/>
        </p:spPr>
      </p:sp>
      <p:sp>
        <p:nvSpPr>
          <p:cNvPr id="6" name="Shape 4"/>
          <p:cNvSpPr/>
          <p:nvPr/>
        </p:nvSpPr>
        <p:spPr>
          <a:xfrm>
            <a:off x="952500" y="8467725"/>
            <a:ext cx="5295900" cy="9525"/>
          </a:xfrm>
          <a:prstGeom prst="rect">
            <a:avLst/>
          </a:prstGeom>
          <a:solidFill>
            <a:srgbClr val="DCE3EC"/>
          </a:solidFill>
          <a:ln/>
        </p:spPr>
      </p:sp>
      <p:sp>
        <p:nvSpPr>
          <p:cNvPr id="7" name="Shape 5"/>
          <p:cNvSpPr/>
          <p:nvPr/>
        </p:nvSpPr>
        <p:spPr>
          <a:xfrm>
            <a:off x="952500" y="2335411"/>
            <a:ext cx="5295900" cy="57150"/>
          </a:xfrm>
          <a:prstGeom prst="rect">
            <a:avLst/>
          </a:prstGeom>
          <a:solidFill>
            <a:srgbClr val="1E5AA8"/>
          </a:solidFill>
          <a:ln/>
        </p:spPr>
      </p:sp>
      <p:sp>
        <p:nvSpPr>
          <p:cNvPr id="8" name="Shape 6"/>
          <p:cNvSpPr/>
          <p:nvPr/>
        </p:nvSpPr>
        <p:spPr>
          <a:xfrm>
            <a:off x="952500" y="2335411"/>
            <a:ext cx="9525" cy="6141839"/>
          </a:xfrm>
          <a:prstGeom prst="rect">
            <a:avLst/>
          </a:prstGeom>
          <a:solidFill>
            <a:srgbClr val="DCE3EC"/>
          </a:solidFill>
          <a:ln/>
        </p:spPr>
      </p:sp>
      <p:sp>
        <p:nvSpPr>
          <p:cNvPr id="9" name="Shape 7"/>
          <p:cNvSpPr/>
          <p:nvPr/>
        </p:nvSpPr>
        <p:spPr>
          <a:xfrm>
            <a:off x="6238875" y="2335411"/>
            <a:ext cx="9525" cy="6141839"/>
          </a:xfrm>
          <a:prstGeom prst="rect">
            <a:avLst/>
          </a:prstGeom>
          <a:solidFill>
            <a:srgbClr val="DCE3EC"/>
          </a:solidFill>
          <a:ln/>
        </p:spPr>
      </p:sp>
      <p:sp>
        <p:nvSpPr>
          <p:cNvPr id="10" name="Text 8"/>
          <p:cNvSpPr/>
          <p:nvPr/>
        </p:nvSpPr>
        <p:spPr>
          <a:xfrm>
            <a:off x="1304925" y="2773561"/>
            <a:ext cx="505015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E5AA8"/>
                </a:solidFill>
                <a:latin typeface="Courier New" pitchFamily="34" charset="0"/>
                <a:ea typeface="Courier New" pitchFamily="34" charset="-122"/>
                <a:cs typeface="Courier New" pitchFamily="34" charset="-120"/>
              </a:rPr>
              <a:t>.130</a:t>
            </a:r>
            <a:endParaRPr lang="en-US" sz="1800" dirty="0"/>
          </a:p>
        </p:txBody>
      </p:sp>
      <p:sp>
        <p:nvSpPr>
          <p:cNvPr id="11" name="Text 9"/>
          <p:cNvSpPr/>
          <p:nvPr/>
        </p:nvSpPr>
        <p:spPr>
          <a:xfrm>
            <a:off x="1304925" y="3268861"/>
            <a:ext cx="505015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16233A"/>
                </a:solidFill>
                <a:latin typeface="Arial" pitchFamily="34" charset="0"/>
                <a:ea typeface="Arial" pitchFamily="34" charset="-122"/>
                <a:cs typeface="Arial" pitchFamily="34" charset="-120"/>
              </a:rPr>
              <a:t>Wazuh Manager</a:t>
            </a:r>
            <a:endParaRPr lang="en-US" sz="2400" dirty="0"/>
          </a:p>
        </p:txBody>
      </p:sp>
      <p:sp>
        <p:nvSpPr>
          <p:cNvPr id="12" name="Text 10"/>
          <p:cNvSpPr/>
          <p:nvPr/>
        </p:nvSpPr>
        <p:spPr>
          <a:xfrm>
            <a:off x="1304925" y="3771751"/>
            <a:ext cx="4728782" cy="1115020"/>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5A6779"/>
                </a:solidFill>
                <a:latin typeface="Arial" pitchFamily="34" charset="0"/>
                <a:ea typeface="Arial" pitchFamily="34" charset="-122"/>
                <a:cs typeface="Arial" pitchFamily="34" charset="-120"/>
              </a:rPr>
              <a:t>The hub — decodes logs, evaluates rules, generates alerts, and invokes the integration.</a:t>
            </a:r>
            <a:endParaRPr lang="en-US" sz="1950" dirty="0"/>
          </a:p>
        </p:txBody>
      </p:sp>
      <p:sp>
        <p:nvSpPr>
          <p:cNvPr id="13" name="Shape 11"/>
          <p:cNvSpPr/>
          <p:nvPr/>
        </p:nvSpPr>
        <p:spPr>
          <a:xfrm>
            <a:off x="6496050" y="2335411"/>
            <a:ext cx="5295900" cy="6141839"/>
          </a:xfrm>
          <a:prstGeom prst="roundRect">
            <a:avLst>
              <a:gd name="adj" fmla="val 2158"/>
            </a:avLst>
          </a:prstGeom>
          <a:solidFill>
            <a:srgbClr val="F3F6FA"/>
          </a:solidFill>
          <a:ln/>
        </p:spPr>
      </p:sp>
      <p:sp>
        <p:nvSpPr>
          <p:cNvPr id="14" name="Shape 12"/>
          <p:cNvSpPr/>
          <p:nvPr/>
        </p:nvSpPr>
        <p:spPr>
          <a:xfrm>
            <a:off x="6496050" y="8467725"/>
            <a:ext cx="5295900" cy="9525"/>
          </a:xfrm>
          <a:prstGeom prst="rect">
            <a:avLst/>
          </a:prstGeom>
          <a:solidFill>
            <a:srgbClr val="DCE3EC"/>
          </a:solidFill>
          <a:ln/>
        </p:spPr>
      </p:sp>
      <p:sp>
        <p:nvSpPr>
          <p:cNvPr id="15" name="Shape 13"/>
          <p:cNvSpPr/>
          <p:nvPr/>
        </p:nvSpPr>
        <p:spPr>
          <a:xfrm>
            <a:off x="6496050" y="2335411"/>
            <a:ext cx="5295900" cy="57150"/>
          </a:xfrm>
          <a:prstGeom prst="rect">
            <a:avLst/>
          </a:prstGeom>
          <a:solidFill>
            <a:srgbClr val="1E5AA8"/>
          </a:solidFill>
          <a:ln/>
        </p:spPr>
      </p:sp>
      <p:sp>
        <p:nvSpPr>
          <p:cNvPr id="16" name="Shape 14"/>
          <p:cNvSpPr/>
          <p:nvPr/>
        </p:nvSpPr>
        <p:spPr>
          <a:xfrm>
            <a:off x="6496050" y="2335411"/>
            <a:ext cx="9525" cy="6141839"/>
          </a:xfrm>
          <a:prstGeom prst="rect">
            <a:avLst/>
          </a:prstGeom>
          <a:solidFill>
            <a:srgbClr val="DCE3EC"/>
          </a:solidFill>
          <a:ln/>
        </p:spPr>
      </p:sp>
      <p:sp>
        <p:nvSpPr>
          <p:cNvPr id="17" name="Shape 15"/>
          <p:cNvSpPr/>
          <p:nvPr/>
        </p:nvSpPr>
        <p:spPr>
          <a:xfrm>
            <a:off x="11782425" y="2335411"/>
            <a:ext cx="9525" cy="6141839"/>
          </a:xfrm>
          <a:prstGeom prst="rect">
            <a:avLst/>
          </a:prstGeom>
          <a:solidFill>
            <a:srgbClr val="DCE3EC"/>
          </a:solidFill>
          <a:ln/>
        </p:spPr>
      </p:sp>
      <p:sp>
        <p:nvSpPr>
          <p:cNvPr id="18" name="Text 16"/>
          <p:cNvSpPr/>
          <p:nvPr/>
        </p:nvSpPr>
        <p:spPr>
          <a:xfrm>
            <a:off x="6848475" y="2773561"/>
            <a:ext cx="505015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E5AA8"/>
                </a:solidFill>
                <a:latin typeface="Courier New" pitchFamily="34" charset="0"/>
                <a:ea typeface="Courier New" pitchFamily="34" charset="-122"/>
                <a:cs typeface="Courier New" pitchFamily="34" charset="-120"/>
              </a:rPr>
              <a:t>.131</a:t>
            </a:r>
            <a:endParaRPr lang="en-US" sz="1800" dirty="0"/>
          </a:p>
        </p:txBody>
      </p:sp>
      <p:sp>
        <p:nvSpPr>
          <p:cNvPr id="19" name="Text 17"/>
          <p:cNvSpPr/>
          <p:nvPr/>
        </p:nvSpPr>
        <p:spPr>
          <a:xfrm>
            <a:off x="6848475" y="3268861"/>
            <a:ext cx="505015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16233A"/>
                </a:solidFill>
                <a:latin typeface="Arial" pitchFamily="34" charset="0"/>
                <a:ea typeface="Arial" pitchFamily="34" charset="-122"/>
                <a:cs typeface="Arial" pitchFamily="34" charset="-120"/>
              </a:rPr>
              <a:t>Windows 10 + DVWA</a:t>
            </a:r>
            <a:endParaRPr lang="en-US" sz="2400" dirty="0"/>
          </a:p>
        </p:txBody>
      </p:sp>
      <p:sp>
        <p:nvSpPr>
          <p:cNvPr id="20" name="Text 18"/>
          <p:cNvSpPr/>
          <p:nvPr/>
        </p:nvSpPr>
        <p:spPr>
          <a:xfrm>
            <a:off x="6848475" y="3771751"/>
            <a:ext cx="4728782" cy="1115020"/>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5A6779"/>
                </a:solidFill>
                <a:latin typeface="Arial" pitchFamily="34" charset="0"/>
                <a:ea typeface="Arial" pitchFamily="34" charset="-122"/>
                <a:cs typeface="Arial" pitchFamily="34" charset="-120"/>
              </a:rPr>
              <a:t>The monitored endpoint — hosts the Wazuh Agent and Sysmon, generating internal process telemetry.</a:t>
            </a:r>
            <a:endParaRPr lang="en-US" sz="1950" dirty="0"/>
          </a:p>
        </p:txBody>
      </p:sp>
      <p:sp>
        <p:nvSpPr>
          <p:cNvPr id="21" name="Shape 19"/>
          <p:cNvSpPr/>
          <p:nvPr/>
        </p:nvSpPr>
        <p:spPr>
          <a:xfrm>
            <a:off x="12039600" y="2335411"/>
            <a:ext cx="5295900" cy="6141839"/>
          </a:xfrm>
          <a:prstGeom prst="roundRect">
            <a:avLst>
              <a:gd name="adj" fmla="val 2158"/>
            </a:avLst>
          </a:prstGeom>
          <a:solidFill>
            <a:srgbClr val="F3F6FA"/>
          </a:solidFill>
          <a:ln/>
        </p:spPr>
      </p:sp>
      <p:sp>
        <p:nvSpPr>
          <p:cNvPr id="22" name="Shape 20"/>
          <p:cNvSpPr/>
          <p:nvPr/>
        </p:nvSpPr>
        <p:spPr>
          <a:xfrm>
            <a:off x="12039600" y="8467725"/>
            <a:ext cx="5295900" cy="9525"/>
          </a:xfrm>
          <a:prstGeom prst="rect">
            <a:avLst/>
          </a:prstGeom>
          <a:solidFill>
            <a:srgbClr val="DCE3EC"/>
          </a:solidFill>
          <a:ln/>
        </p:spPr>
      </p:sp>
      <p:sp>
        <p:nvSpPr>
          <p:cNvPr id="23" name="Shape 21"/>
          <p:cNvSpPr/>
          <p:nvPr/>
        </p:nvSpPr>
        <p:spPr>
          <a:xfrm>
            <a:off x="12039600" y="2335411"/>
            <a:ext cx="5295900" cy="57150"/>
          </a:xfrm>
          <a:prstGeom prst="rect">
            <a:avLst/>
          </a:prstGeom>
          <a:solidFill>
            <a:srgbClr val="3E9B5F"/>
          </a:solidFill>
          <a:ln/>
        </p:spPr>
      </p:sp>
      <p:sp>
        <p:nvSpPr>
          <p:cNvPr id="24" name="Shape 22"/>
          <p:cNvSpPr/>
          <p:nvPr/>
        </p:nvSpPr>
        <p:spPr>
          <a:xfrm>
            <a:off x="12039600" y="2335411"/>
            <a:ext cx="9525" cy="6141839"/>
          </a:xfrm>
          <a:prstGeom prst="rect">
            <a:avLst/>
          </a:prstGeom>
          <a:solidFill>
            <a:srgbClr val="DCE3EC"/>
          </a:solidFill>
          <a:ln/>
        </p:spPr>
      </p:sp>
      <p:sp>
        <p:nvSpPr>
          <p:cNvPr id="25" name="Shape 23"/>
          <p:cNvSpPr/>
          <p:nvPr/>
        </p:nvSpPr>
        <p:spPr>
          <a:xfrm>
            <a:off x="17325975" y="2335411"/>
            <a:ext cx="9525" cy="6141839"/>
          </a:xfrm>
          <a:prstGeom prst="rect">
            <a:avLst/>
          </a:prstGeom>
          <a:solidFill>
            <a:srgbClr val="DCE3EC"/>
          </a:solidFill>
          <a:ln/>
        </p:spPr>
      </p:sp>
      <p:sp>
        <p:nvSpPr>
          <p:cNvPr id="26" name="Text 24"/>
          <p:cNvSpPr/>
          <p:nvPr/>
        </p:nvSpPr>
        <p:spPr>
          <a:xfrm>
            <a:off x="12392025" y="2773561"/>
            <a:ext cx="505015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E9B5F"/>
                </a:solidFill>
                <a:latin typeface="Courier New" pitchFamily="34" charset="0"/>
                <a:ea typeface="Courier New" pitchFamily="34" charset="-122"/>
                <a:cs typeface="Courier New" pitchFamily="34" charset="-120"/>
              </a:rPr>
              <a:t>HTTPS</a:t>
            </a:r>
            <a:endParaRPr lang="en-US" sz="1800" dirty="0"/>
          </a:p>
        </p:txBody>
      </p:sp>
      <p:sp>
        <p:nvSpPr>
          <p:cNvPr id="27" name="Text 25"/>
          <p:cNvSpPr/>
          <p:nvPr/>
        </p:nvSpPr>
        <p:spPr>
          <a:xfrm>
            <a:off x="12392025" y="3268861"/>
            <a:ext cx="505015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16233A"/>
                </a:solidFill>
                <a:latin typeface="Arial" pitchFamily="34" charset="0"/>
                <a:ea typeface="Arial" pitchFamily="34" charset="-122"/>
                <a:cs typeface="Arial" pitchFamily="34" charset="-120"/>
              </a:rPr>
              <a:t>Discord Webhook</a:t>
            </a:r>
            <a:endParaRPr lang="en-US" sz="2400" dirty="0"/>
          </a:p>
        </p:txBody>
      </p:sp>
      <p:sp>
        <p:nvSpPr>
          <p:cNvPr id="28" name="Text 26"/>
          <p:cNvSpPr/>
          <p:nvPr/>
        </p:nvSpPr>
        <p:spPr>
          <a:xfrm>
            <a:off x="12392025" y="3771751"/>
            <a:ext cx="4728782" cy="1115020"/>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5A6779"/>
                </a:solidFill>
                <a:latin typeface="Arial" pitchFamily="34" charset="0"/>
                <a:ea typeface="Arial" pitchFamily="34" charset="-122"/>
                <a:cs typeface="Arial" pitchFamily="34" charset="-120"/>
              </a:rPr>
              <a:t>Cloud SOC dashboard — receives severity-colored incident cards in real time.</a:t>
            </a:r>
            <a:endParaRPr lang="en-US" sz="1950" dirty="0"/>
          </a:p>
        </p:txBody>
      </p:sp>
      <p:sp>
        <p:nvSpPr>
          <p:cNvPr id="29" name="Shape 27"/>
          <p:cNvSpPr/>
          <p:nvPr/>
        </p:nvSpPr>
        <p:spPr>
          <a:xfrm>
            <a:off x="952500" y="8820150"/>
            <a:ext cx="16383000" cy="742950"/>
          </a:xfrm>
          <a:prstGeom prst="roundRect">
            <a:avLst>
              <a:gd name="adj" fmla="val 12821"/>
            </a:avLst>
          </a:prstGeom>
          <a:solidFill>
            <a:srgbClr val="EEF3F9"/>
          </a:solidFill>
          <a:ln/>
        </p:spPr>
      </p:sp>
      <p:sp>
        <p:nvSpPr>
          <p:cNvPr id="30" name="Text 28"/>
          <p:cNvSpPr/>
          <p:nvPr/>
        </p:nvSpPr>
        <p:spPr>
          <a:xfrm>
            <a:off x="1238250" y="9029700"/>
            <a:ext cx="6138669" cy="361950"/>
          </a:xfrm>
          <a:prstGeom prst="rect">
            <a:avLst/>
          </a:prstGeom>
          <a:noFill/>
          <a:ln/>
        </p:spPr>
        <p:txBody>
          <a:bodyPr wrap="square" lIns="25400" tIns="25400" rIns="25400" bIns="25400" rtlCol="0" anchor="t">
            <a:normAutofit/>
          </a:bodyPr>
          <a:lstStyle/>
          <a:p>
            <a:pPr algn="l" indent="0" marL="0">
              <a:buNone/>
            </a:pPr>
            <a:r>
              <a:rPr lang="en-US" sz="1950" dirty="0">
                <a:solidFill>
                  <a:srgbClr val="48566A"/>
                </a:solidFill>
                <a:latin typeface="Arial" pitchFamily="34" charset="0"/>
                <a:ea typeface="Arial" pitchFamily="34" charset="-122"/>
                <a:cs typeface="Arial" pitchFamily="34" charset="-120"/>
              </a:rPr>
              <a:t>All nodes run on an isolated VMware NAT switch —</a:t>
            </a:r>
            <a:endParaRPr lang="en-US" sz="1950" dirty="0"/>
          </a:p>
        </p:txBody>
      </p:sp>
      <p:sp>
        <p:nvSpPr>
          <p:cNvPr id="31" name="Text 29"/>
          <p:cNvSpPr/>
          <p:nvPr/>
        </p:nvSpPr>
        <p:spPr>
          <a:xfrm>
            <a:off x="6971258" y="9029700"/>
            <a:ext cx="4086225" cy="361950"/>
          </a:xfrm>
          <a:prstGeom prst="rect">
            <a:avLst/>
          </a:prstGeom>
          <a:noFill/>
          <a:ln/>
        </p:spPr>
        <p:txBody>
          <a:bodyPr wrap="square" lIns="25400" tIns="25400" rIns="25400" bIns="25400" rtlCol="0" anchor="t">
            <a:normAutofit/>
          </a:bodyPr>
          <a:lstStyle/>
          <a:p>
            <a:pPr algn="l" indent="0" marL="0">
              <a:buNone/>
            </a:pPr>
            <a:r>
              <a:rPr lang="en-US" sz="1950" dirty="0">
                <a:solidFill>
                  <a:srgbClr val="143C73"/>
                </a:solidFill>
                <a:latin typeface="Courier New" pitchFamily="34" charset="0"/>
                <a:ea typeface="Courier New" pitchFamily="34" charset="-122"/>
                <a:cs typeface="Courier New" pitchFamily="34" charset="-120"/>
              </a:rPr>
              <a:t>VMnet8 · 192.168.135.0/24</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3736047"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DEPLOYMENT · VMNET8</a:t>
            </a:r>
            <a:endParaRPr lang="en-US" sz="1800" dirty="0"/>
          </a:p>
        </p:txBody>
      </p:sp>
      <p:sp>
        <p:nvSpPr>
          <p:cNvPr id="4" name="Text 2"/>
          <p:cNvSpPr/>
          <p:nvPr/>
        </p:nvSpPr>
        <p:spPr>
          <a:xfrm>
            <a:off x="952500" y="1276350"/>
            <a:ext cx="18021300"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48" kern="0" dirty="0">
                <a:solidFill>
                  <a:srgbClr val="16233A"/>
                </a:solidFill>
                <a:latin typeface="Arial" pitchFamily="34" charset="0"/>
                <a:ea typeface="Arial" pitchFamily="34" charset="-122"/>
                <a:cs typeface="Arial" pitchFamily="34" charset="-120"/>
              </a:rPr>
              <a:t>Lab topology &amp; node addressing</a:t>
            </a:r>
            <a:endParaRPr lang="en-US" sz="4800" dirty="0"/>
          </a:p>
        </p:txBody>
      </p:sp>
      <p:sp>
        <p:nvSpPr>
          <p:cNvPr id="5" name="Shape 3"/>
          <p:cNvSpPr/>
          <p:nvPr/>
        </p:nvSpPr>
        <p:spPr>
          <a:xfrm>
            <a:off x="952500" y="2335411"/>
            <a:ext cx="16383000" cy="7227689"/>
          </a:xfrm>
          <a:prstGeom prst="roundRect">
            <a:avLst>
              <a:gd name="adj" fmla="val 1581"/>
            </a:avLst>
          </a:prstGeom>
          <a:ln w="9525">
            <a:solidFill>
              <a:srgbClr val="DCE3EC"/>
            </a:solidFill>
            <a:prstDash val="solid"/>
          </a:ln>
        </p:spPr>
      </p:sp>
      <p:sp>
        <p:nvSpPr>
          <p:cNvPr id="6" name="Shape 4"/>
          <p:cNvSpPr/>
          <p:nvPr/>
        </p:nvSpPr>
        <p:spPr>
          <a:xfrm>
            <a:off x="962025" y="2344936"/>
            <a:ext cx="16363950" cy="781050"/>
          </a:xfrm>
          <a:prstGeom prst="rect">
            <a:avLst/>
          </a:prstGeom>
          <a:solidFill>
            <a:srgbClr val="143C73"/>
          </a:solidFill>
          <a:ln/>
        </p:spPr>
      </p:sp>
      <p:sp>
        <p:nvSpPr>
          <p:cNvPr id="7" name="Text 5"/>
          <p:cNvSpPr/>
          <p:nvPr/>
        </p:nvSpPr>
        <p:spPr>
          <a:xfrm>
            <a:off x="1343025" y="2573536"/>
            <a:ext cx="4719459"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Node</a:t>
            </a:r>
            <a:endParaRPr lang="en-US" sz="1950" dirty="0"/>
          </a:p>
        </p:txBody>
      </p:sp>
      <p:sp>
        <p:nvSpPr>
          <p:cNvPr id="8" name="Text 6"/>
          <p:cNvSpPr/>
          <p:nvPr/>
        </p:nvSpPr>
        <p:spPr>
          <a:xfrm>
            <a:off x="5633442" y="2573536"/>
            <a:ext cx="3861614"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IP Address</a:t>
            </a:r>
            <a:endParaRPr lang="en-US" sz="1950" dirty="0"/>
          </a:p>
        </p:txBody>
      </p:sp>
      <p:sp>
        <p:nvSpPr>
          <p:cNvPr id="9" name="Text 7"/>
          <p:cNvSpPr/>
          <p:nvPr/>
        </p:nvSpPr>
        <p:spPr>
          <a:xfrm>
            <a:off x="9144000" y="2573536"/>
            <a:ext cx="8581073"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Role</a:t>
            </a:r>
            <a:endParaRPr lang="en-US" sz="1950" dirty="0"/>
          </a:p>
        </p:txBody>
      </p:sp>
      <p:sp>
        <p:nvSpPr>
          <p:cNvPr id="10" name="Shape 8"/>
          <p:cNvSpPr/>
          <p:nvPr/>
        </p:nvSpPr>
        <p:spPr>
          <a:xfrm>
            <a:off x="962025" y="5262116"/>
            <a:ext cx="16363950" cy="9525"/>
          </a:xfrm>
          <a:prstGeom prst="rect">
            <a:avLst/>
          </a:prstGeom>
          <a:solidFill>
            <a:srgbClr val="E7ECF3"/>
          </a:solidFill>
          <a:ln/>
        </p:spPr>
      </p:sp>
      <p:sp>
        <p:nvSpPr>
          <p:cNvPr id="11" name="Text 9"/>
          <p:cNvSpPr/>
          <p:nvPr/>
        </p:nvSpPr>
        <p:spPr>
          <a:xfrm>
            <a:off x="1343025" y="4041577"/>
            <a:ext cx="4719459"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6233A"/>
                </a:solidFill>
                <a:latin typeface="Arial" pitchFamily="34" charset="0"/>
                <a:ea typeface="Arial" pitchFamily="34" charset="-122"/>
                <a:cs typeface="Arial" pitchFamily="34" charset="-120"/>
              </a:rPr>
              <a:t>Wazuh Manager</a:t>
            </a:r>
            <a:endParaRPr lang="en-US" sz="2100" dirty="0"/>
          </a:p>
        </p:txBody>
      </p:sp>
      <p:sp>
        <p:nvSpPr>
          <p:cNvPr id="12" name="Text 10"/>
          <p:cNvSpPr/>
          <p:nvPr/>
        </p:nvSpPr>
        <p:spPr>
          <a:xfrm>
            <a:off x="5633442" y="4032052"/>
            <a:ext cx="3861614" cy="361950"/>
          </a:xfrm>
          <a:prstGeom prst="rect">
            <a:avLst/>
          </a:prstGeom>
          <a:noFill/>
          <a:ln/>
        </p:spPr>
        <p:txBody>
          <a:bodyPr wrap="square" lIns="25400" tIns="25400" rIns="25400" bIns="25400" rtlCol="0" anchor="t">
            <a:normAutofit/>
          </a:bodyPr>
          <a:lstStyle/>
          <a:p>
            <a:pPr algn="l" indent="0" marL="0">
              <a:buNone/>
            </a:pPr>
            <a:r>
              <a:rPr lang="en-US" sz="1950" dirty="0">
                <a:solidFill>
                  <a:srgbClr val="1E5AA8"/>
                </a:solidFill>
                <a:latin typeface="Courier New" pitchFamily="34" charset="0"/>
                <a:ea typeface="Courier New" pitchFamily="34" charset="-122"/>
                <a:cs typeface="Courier New" pitchFamily="34" charset="-120"/>
              </a:rPr>
              <a:t>192.168.135.130</a:t>
            </a:r>
            <a:endParaRPr lang="en-US" sz="1950" dirty="0"/>
          </a:p>
        </p:txBody>
      </p:sp>
      <p:sp>
        <p:nvSpPr>
          <p:cNvPr id="13" name="Text 11"/>
          <p:cNvSpPr/>
          <p:nvPr/>
        </p:nvSpPr>
        <p:spPr>
          <a:xfrm>
            <a:off x="9144000" y="3879652"/>
            <a:ext cx="8035004" cy="666750"/>
          </a:xfrm>
          <a:prstGeom prst="rect">
            <a:avLst/>
          </a:prstGeom>
          <a:noFill/>
          <a:ln/>
        </p:spPr>
        <p:txBody>
          <a:bodyPr wrap="square" lIns="25400" tIns="25400" rIns="25400" bIns="25400" rtlCol="0" anchor="t">
            <a:normAutofit/>
          </a:bodyPr>
          <a:lstStyle/>
          <a:p>
            <a:pPr algn="l" indent="0" marL="0">
              <a:buNone/>
            </a:pPr>
            <a:r>
              <a:rPr lang="en-US" sz="1875" dirty="0">
                <a:solidFill>
                  <a:srgbClr val="5A6779"/>
                </a:solidFill>
                <a:latin typeface="Arial" pitchFamily="34" charset="0"/>
                <a:ea typeface="Arial" pitchFamily="34" charset="-122"/>
                <a:cs typeface="Arial" pitchFamily="34" charset="-120"/>
              </a:rPr>
              <a:t>Central SIEM hub — log decoding, rule evaluation, alert generation, custom-discord.py integration.</a:t>
            </a:r>
            <a:endParaRPr lang="en-US" sz="1875" dirty="0"/>
          </a:p>
        </p:txBody>
      </p:sp>
      <p:sp>
        <p:nvSpPr>
          <p:cNvPr id="14" name="Shape 12"/>
          <p:cNvSpPr/>
          <p:nvPr/>
        </p:nvSpPr>
        <p:spPr>
          <a:xfrm>
            <a:off x="962025" y="5271641"/>
            <a:ext cx="16363950" cy="2145804"/>
          </a:xfrm>
          <a:prstGeom prst="rect">
            <a:avLst/>
          </a:prstGeom>
          <a:solidFill>
            <a:srgbClr val="F7F9FC"/>
          </a:solidFill>
          <a:ln/>
        </p:spPr>
      </p:sp>
      <p:sp>
        <p:nvSpPr>
          <p:cNvPr id="15" name="Shape 13"/>
          <p:cNvSpPr/>
          <p:nvPr/>
        </p:nvSpPr>
        <p:spPr>
          <a:xfrm>
            <a:off x="962025" y="7407920"/>
            <a:ext cx="16363950" cy="9525"/>
          </a:xfrm>
          <a:prstGeom prst="rect">
            <a:avLst/>
          </a:prstGeom>
          <a:solidFill>
            <a:srgbClr val="E7ECF3"/>
          </a:solidFill>
          <a:ln/>
        </p:spPr>
      </p:sp>
      <p:sp>
        <p:nvSpPr>
          <p:cNvPr id="16" name="Text 14"/>
          <p:cNvSpPr/>
          <p:nvPr/>
        </p:nvSpPr>
        <p:spPr>
          <a:xfrm>
            <a:off x="1343025" y="6187380"/>
            <a:ext cx="4719459"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6233A"/>
                </a:solidFill>
                <a:latin typeface="Arial" pitchFamily="34" charset="0"/>
                <a:ea typeface="Arial" pitchFamily="34" charset="-122"/>
                <a:cs typeface="Arial" pitchFamily="34" charset="-120"/>
              </a:rPr>
              <a:t>Windows 10 Target</a:t>
            </a:r>
            <a:endParaRPr lang="en-US" sz="2100" dirty="0"/>
          </a:p>
        </p:txBody>
      </p:sp>
      <p:sp>
        <p:nvSpPr>
          <p:cNvPr id="17" name="Text 15"/>
          <p:cNvSpPr/>
          <p:nvPr/>
        </p:nvSpPr>
        <p:spPr>
          <a:xfrm>
            <a:off x="5633442" y="6177855"/>
            <a:ext cx="3861614" cy="361950"/>
          </a:xfrm>
          <a:prstGeom prst="rect">
            <a:avLst/>
          </a:prstGeom>
          <a:noFill/>
          <a:ln/>
        </p:spPr>
        <p:txBody>
          <a:bodyPr wrap="square" lIns="25400" tIns="25400" rIns="25400" bIns="25400" rtlCol="0" anchor="t">
            <a:normAutofit/>
          </a:bodyPr>
          <a:lstStyle/>
          <a:p>
            <a:pPr algn="l" indent="0" marL="0">
              <a:buNone/>
            </a:pPr>
            <a:r>
              <a:rPr lang="en-US" sz="1950" dirty="0">
                <a:solidFill>
                  <a:srgbClr val="1E5AA8"/>
                </a:solidFill>
                <a:latin typeface="Courier New" pitchFamily="34" charset="0"/>
                <a:ea typeface="Courier New" pitchFamily="34" charset="-122"/>
                <a:cs typeface="Courier New" pitchFamily="34" charset="-120"/>
              </a:rPr>
              <a:t>192.168.135.131</a:t>
            </a:r>
            <a:endParaRPr lang="en-US" sz="1950" dirty="0"/>
          </a:p>
        </p:txBody>
      </p:sp>
      <p:sp>
        <p:nvSpPr>
          <p:cNvPr id="18" name="Text 16"/>
          <p:cNvSpPr/>
          <p:nvPr/>
        </p:nvSpPr>
        <p:spPr>
          <a:xfrm>
            <a:off x="9144000" y="6025455"/>
            <a:ext cx="8035004" cy="666750"/>
          </a:xfrm>
          <a:prstGeom prst="rect">
            <a:avLst/>
          </a:prstGeom>
          <a:noFill/>
          <a:ln/>
        </p:spPr>
        <p:txBody>
          <a:bodyPr wrap="square" lIns="25400" tIns="25400" rIns="25400" bIns="25400" rtlCol="0" anchor="t">
            <a:normAutofit/>
          </a:bodyPr>
          <a:lstStyle/>
          <a:p>
            <a:pPr algn="l" indent="0" marL="0">
              <a:buNone/>
            </a:pPr>
            <a:r>
              <a:rPr lang="en-US" sz="1875" dirty="0">
                <a:solidFill>
                  <a:srgbClr val="5A6779"/>
                </a:solidFill>
                <a:latin typeface="Arial" pitchFamily="34" charset="0"/>
                <a:ea typeface="Arial" pitchFamily="34" charset="-122"/>
                <a:cs typeface="Arial" pitchFamily="34" charset="-120"/>
              </a:rPr>
              <a:t>The monitored endpoint — hosts the Wazuh Agent, Sysmon and the DVWA (Apache / XAMPP) server.</a:t>
            </a:r>
            <a:endParaRPr lang="en-US" sz="1875" dirty="0"/>
          </a:p>
        </p:txBody>
      </p:sp>
      <p:sp>
        <p:nvSpPr>
          <p:cNvPr id="19" name="Text 17"/>
          <p:cNvSpPr/>
          <p:nvPr/>
        </p:nvSpPr>
        <p:spPr>
          <a:xfrm>
            <a:off x="1343025" y="8333036"/>
            <a:ext cx="4719459"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6233A"/>
                </a:solidFill>
                <a:latin typeface="Arial" pitchFamily="34" charset="0"/>
                <a:ea typeface="Arial" pitchFamily="34" charset="-122"/>
                <a:cs typeface="Arial" pitchFamily="34" charset="-120"/>
              </a:rPr>
              <a:t>Discord Webhook API</a:t>
            </a:r>
            <a:endParaRPr lang="en-US" sz="2100" dirty="0"/>
          </a:p>
        </p:txBody>
      </p:sp>
      <p:sp>
        <p:nvSpPr>
          <p:cNvPr id="20" name="Text 18"/>
          <p:cNvSpPr/>
          <p:nvPr/>
        </p:nvSpPr>
        <p:spPr>
          <a:xfrm>
            <a:off x="5633442" y="8323511"/>
            <a:ext cx="3861614" cy="361950"/>
          </a:xfrm>
          <a:prstGeom prst="rect">
            <a:avLst/>
          </a:prstGeom>
          <a:noFill/>
          <a:ln/>
        </p:spPr>
        <p:txBody>
          <a:bodyPr wrap="square" lIns="25400" tIns="25400" rIns="25400" bIns="25400" rtlCol="0" anchor="t">
            <a:normAutofit/>
          </a:bodyPr>
          <a:lstStyle/>
          <a:p>
            <a:pPr algn="l" indent="0" marL="0">
              <a:buNone/>
            </a:pPr>
            <a:r>
              <a:rPr lang="en-US" sz="1950" dirty="0">
                <a:solidFill>
                  <a:srgbClr val="3E9B5F"/>
                </a:solidFill>
                <a:latin typeface="Courier New" pitchFamily="34" charset="0"/>
                <a:ea typeface="Courier New" pitchFamily="34" charset="-122"/>
                <a:cs typeface="Courier New" pitchFamily="34" charset="-120"/>
              </a:rPr>
              <a:t>Outbound HTTPS</a:t>
            </a:r>
            <a:endParaRPr lang="en-US" sz="1950" dirty="0"/>
          </a:p>
        </p:txBody>
      </p:sp>
      <p:sp>
        <p:nvSpPr>
          <p:cNvPr id="21" name="Text 19"/>
          <p:cNvSpPr/>
          <p:nvPr/>
        </p:nvSpPr>
        <p:spPr>
          <a:xfrm>
            <a:off x="9144000" y="8328273"/>
            <a:ext cx="858107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5A6779"/>
                </a:solidFill>
                <a:latin typeface="Arial" pitchFamily="34" charset="0"/>
                <a:ea typeface="Arial" pitchFamily="34" charset="-122"/>
                <a:cs typeface="Arial" pitchFamily="34" charset="-120"/>
              </a:rPr>
              <a:t>Cloud SOC dashboard receiving severity-colored incident embeds.</a:t>
            </a:r>
            <a:endParaRPr lang="en-US" sz="18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4286280"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SOFTWARE ARCHITECTURE</a:t>
            </a:r>
            <a:endParaRPr lang="en-US" sz="1800" dirty="0"/>
          </a:p>
        </p:txBody>
      </p:sp>
      <p:sp>
        <p:nvSpPr>
          <p:cNvPr id="4" name="Text 2"/>
          <p:cNvSpPr/>
          <p:nvPr/>
        </p:nvSpPr>
        <p:spPr>
          <a:xfrm>
            <a:off x="952500" y="1257300"/>
            <a:ext cx="18021300" cy="603498"/>
          </a:xfrm>
          <a:prstGeom prst="rect">
            <a:avLst/>
          </a:prstGeom>
          <a:noFill/>
          <a:ln/>
        </p:spPr>
        <p:txBody>
          <a:bodyPr wrap="square" lIns="25400" tIns="25400" rIns="25400" bIns="25400" rtlCol="0" anchor="t">
            <a:normAutofit/>
          </a:bodyPr>
          <a:lstStyle/>
          <a:p>
            <a:pPr algn="l" indent="0" marL="0">
              <a:lnSpc>
                <a:spcPct val="106000"/>
              </a:lnSpc>
              <a:buNone/>
            </a:pPr>
            <a:r>
              <a:rPr lang="en-US" sz="4200" b="1" spc="-42" kern="0" dirty="0">
                <a:solidFill>
                  <a:srgbClr val="16233A"/>
                </a:solidFill>
                <a:latin typeface="Arial" pitchFamily="34" charset="0"/>
                <a:ea typeface="Arial" pitchFamily="34" charset="-122"/>
                <a:cs typeface="Arial" pitchFamily="34" charset="-120"/>
              </a:rPr>
              <a:t>Hub-and-spoke SIEM with an automation edge</a:t>
            </a:r>
            <a:endParaRPr lang="en-US" sz="4200" dirty="0"/>
          </a:p>
        </p:txBody>
      </p:sp>
      <p:sp>
        <p:nvSpPr>
          <p:cNvPr id="5" name="Shape 3"/>
          <p:cNvSpPr/>
          <p:nvPr/>
        </p:nvSpPr>
        <p:spPr>
          <a:xfrm>
            <a:off x="952500" y="3872954"/>
            <a:ext cx="133350" cy="133350"/>
          </a:xfrm>
          <a:prstGeom prst="ellipse">
            <a:avLst/>
          </a:prstGeom>
          <a:solidFill>
            <a:srgbClr val="1E5AA8"/>
          </a:solidFill>
          <a:ln/>
        </p:spPr>
      </p:sp>
      <p:sp>
        <p:nvSpPr>
          <p:cNvPr id="6" name="Text 4"/>
          <p:cNvSpPr/>
          <p:nvPr/>
        </p:nvSpPr>
        <p:spPr>
          <a:xfrm>
            <a:off x="1295400" y="3758654"/>
            <a:ext cx="9695780"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16233A"/>
                </a:solidFill>
                <a:latin typeface="Arial" pitchFamily="34" charset="0"/>
                <a:ea typeface="Arial" pitchFamily="34" charset="-122"/>
                <a:cs typeface="Arial" pitchFamily="34" charset="-120"/>
              </a:rPr>
              <a:t>The hub</a:t>
            </a:r>
            <a:endParaRPr lang="en-US" sz="2250" dirty="0"/>
          </a:p>
        </p:txBody>
      </p:sp>
      <p:sp>
        <p:nvSpPr>
          <p:cNvPr id="7" name="Text 5"/>
          <p:cNvSpPr/>
          <p:nvPr/>
        </p:nvSpPr>
        <p:spPr>
          <a:xfrm>
            <a:off x="1295400" y="4187279"/>
            <a:ext cx="9078776" cy="733276"/>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A6779"/>
                </a:solidFill>
                <a:latin typeface="Arial" pitchFamily="34" charset="0"/>
                <a:ea typeface="Arial" pitchFamily="34" charset="-122"/>
                <a:cs typeface="Arial" pitchFamily="34" charset="-120"/>
              </a:rPr>
              <a:t>The Wazuh Manager is the central aggregation and analysis engine — decode, evaluate against </a:t>
            </a:r>
            <a:pPr algn="l" indent="0" marL="0">
              <a:lnSpc>
                <a:spcPct val="140000"/>
              </a:lnSpc>
              <a:buNone/>
            </a:pPr>
            <a:r>
              <a:rPr lang="en-US" sz="1800" dirty="0">
                <a:solidFill>
                  <a:srgbClr val="5A6779"/>
                </a:solidFill>
                <a:latin typeface="Courier New" pitchFamily="34" charset="0"/>
                <a:ea typeface="Courier New" pitchFamily="34" charset="-122"/>
                <a:cs typeface="Courier New" pitchFamily="34" charset="-120"/>
              </a:rPr>
              <a:t>local_rules.xml</a:t>
            </a:r>
            <a:pPr algn="l" indent="0" marL="0">
              <a:lnSpc>
                <a:spcPct val="140000"/>
              </a:lnSpc>
              <a:buNone/>
            </a:pPr>
            <a:r>
              <a:rPr lang="en-US" sz="1950" dirty="0">
                <a:solidFill>
                  <a:srgbClr val="5A6779"/>
                </a:solidFill>
                <a:latin typeface="Arial" pitchFamily="34" charset="0"/>
                <a:ea typeface="Arial" pitchFamily="34" charset="-122"/>
                <a:cs typeface="Arial" pitchFamily="34" charset="-120"/>
              </a:rPr>
              <a:t>, index alerts.</a:t>
            </a:r>
            <a:endParaRPr lang="en-US" sz="1950" dirty="0"/>
          </a:p>
        </p:txBody>
      </p:sp>
      <p:sp>
        <p:nvSpPr>
          <p:cNvPr id="8" name="Shape 6"/>
          <p:cNvSpPr/>
          <p:nvPr/>
        </p:nvSpPr>
        <p:spPr>
          <a:xfrm>
            <a:off x="952500" y="5244405"/>
            <a:ext cx="133350" cy="133350"/>
          </a:xfrm>
          <a:prstGeom prst="ellipse">
            <a:avLst/>
          </a:prstGeom>
          <a:solidFill>
            <a:srgbClr val="1E5AA8"/>
          </a:solidFill>
          <a:ln/>
        </p:spPr>
      </p:sp>
      <p:sp>
        <p:nvSpPr>
          <p:cNvPr id="9" name="Text 7"/>
          <p:cNvSpPr/>
          <p:nvPr/>
        </p:nvSpPr>
        <p:spPr>
          <a:xfrm>
            <a:off x="1295400" y="5130105"/>
            <a:ext cx="9695780"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16233A"/>
                </a:solidFill>
                <a:latin typeface="Arial" pitchFamily="34" charset="0"/>
                <a:ea typeface="Arial" pitchFamily="34" charset="-122"/>
                <a:cs typeface="Arial" pitchFamily="34" charset="-120"/>
              </a:rPr>
              <a:t>The spokes</a:t>
            </a:r>
            <a:endParaRPr lang="en-US" sz="2250" dirty="0"/>
          </a:p>
        </p:txBody>
      </p:sp>
      <p:sp>
        <p:nvSpPr>
          <p:cNvPr id="10" name="Text 8"/>
          <p:cNvSpPr/>
          <p:nvPr/>
        </p:nvSpPr>
        <p:spPr>
          <a:xfrm>
            <a:off x="1295400" y="5558730"/>
            <a:ext cx="9078776"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A6779"/>
                </a:solidFill>
                <a:latin typeface="Arial" pitchFamily="34" charset="0"/>
                <a:ea typeface="Arial" pitchFamily="34" charset="-122"/>
                <a:cs typeface="Arial" pitchFamily="34" charset="-120"/>
              </a:rPr>
              <a:t>Agents on the Windows 10 endpoint and DVWA server forward filtered, encrypted telemetry to the hub.</a:t>
            </a:r>
            <a:endParaRPr lang="en-US" sz="1950" dirty="0"/>
          </a:p>
        </p:txBody>
      </p:sp>
      <p:sp>
        <p:nvSpPr>
          <p:cNvPr id="11" name="Shape 9"/>
          <p:cNvSpPr/>
          <p:nvPr/>
        </p:nvSpPr>
        <p:spPr>
          <a:xfrm>
            <a:off x="952500" y="6613922"/>
            <a:ext cx="133350" cy="133350"/>
          </a:xfrm>
          <a:prstGeom prst="ellipse">
            <a:avLst/>
          </a:prstGeom>
          <a:solidFill>
            <a:srgbClr val="3E9B5F"/>
          </a:solidFill>
          <a:ln/>
        </p:spPr>
      </p:sp>
      <p:sp>
        <p:nvSpPr>
          <p:cNvPr id="12" name="Text 10"/>
          <p:cNvSpPr/>
          <p:nvPr/>
        </p:nvSpPr>
        <p:spPr>
          <a:xfrm>
            <a:off x="1295400" y="6499622"/>
            <a:ext cx="9695780"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16233A"/>
                </a:solidFill>
                <a:latin typeface="Arial" pitchFamily="34" charset="0"/>
                <a:ea typeface="Arial" pitchFamily="34" charset="-122"/>
                <a:cs typeface="Arial" pitchFamily="34" charset="-120"/>
              </a:rPr>
              <a:t>The automation edge</a:t>
            </a:r>
            <a:endParaRPr lang="en-US" sz="2250" dirty="0"/>
          </a:p>
        </p:txBody>
      </p:sp>
      <p:sp>
        <p:nvSpPr>
          <p:cNvPr id="13" name="Text 11"/>
          <p:cNvSpPr/>
          <p:nvPr/>
        </p:nvSpPr>
        <p:spPr>
          <a:xfrm>
            <a:off x="1295400" y="6928247"/>
            <a:ext cx="9078776" cy="1079897"/>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A6779"/>
                </a:solidFill>
                <a:latin typeface="Arial" pitchFamily="34" charset="0"/>
                <a:ea typeface="Arial" pitchFamily="34" charset="-122"/>
                <a:cs typeface="Arial" pitchFamily="34" charset="-120"/>
              </a:rPr>
              <a:t>On a qualifying alert, the Manager invokes </a:t>
            </a:r>
            <a:pPr algn="l" indent="0" marL="0">
              <a:lnSpc>
                <a:spcPct val="140000"/>
              </a:lnSpc>
              <a:buNone/>
            </a:pPr>
            <a:r>
              <a:rPr lang="en-US" sz="1800" dirty="0">
                <a:solidFill>
                  <a:srgbClr val="5A6779"/>
                </a:solidFill>
                <a:latin typeface="Courier New" pitchFamily="34" charset="0"/>
                <a:ea typeface="Courier New" pitchFamily="34" charset="-122"/>
                <a:cs typeface="Courier New" pitchFamily="34" charset="-120"/>
              </a:rPr>
              <a:t>custom-discord.py </a:t>
            </a:r>
            <a:pPr algn="l" indent="0" marL="0">
              <a:lnSpc>
                <a:spcPct val="140000"/>
              </a:lnSpc>
              <a:buNone/>
            </a:pPr>
            <a:r>
              <a:rPr lang="en-US" sz="1950" dirty="0">
                <a:solidFill>
                  <a:srgbClr val="5A6779"/>
                </a:solidFill>
                <a:latin typeface="Arial" pitchFamily="34" charset="0"/>
                <a:ea typeface="Arial" pitchFamily="34" charset="-122"/>
                <a:cs typeface="Arial" pitchFamily="34" charset="-120"/>
              </a:rPr>
              <a:t>for an outbound HTTPS call to the Discord Webhook — a cloud presentation layer alongside the on-prem dashboard.</a:t>
            </a:r>
            <a:endParaRPr lang="en-US" sz="1950" dirty="0"/>
          </a:p>
        </p:txBody>
      </p:sp>
      <p:sp>
        <p:nvSpPr>
          <p:cNvPr id="14" name="Shape 12"/>
          <p:cNvSpPr/>
          <p:nvPr/>
        </p:nvSpPr>
        <p:spPr>
          <a:xfrm>
            <a:off x="10566946" y="1870323"/>
            <a:ext cx="6768554" cy="7988052"/>
          </a:xfrm>
          <a:prstGeom prst="roundRect">
            <a:avLst>
              <a:gd name="adj" fmla="val 1689"/>
            </a:avLst>
          </a:prstGeom>
          <a:solidFill>
            <a:srgbClr val="F7F9FC"/>
          </a:solidFill>
          <a:ln w="9525">
            <a:solidFill>
              <a:srgbClr val="DCE3EC"/>
            </a:solidFill>
            <a:prstDash val="solid"/>
          </a:ln>
        </p:spPr>
      </p:sp>
      <p:pic>
        <p:nvPicPr>
          <p:cNvPr id="15" name="Image 0" descr="preencoded.png">    </p:cNvPr>
          <p:cNvPicPr>
            <a:picLocks noChangeAspect="1"/>
          </p:cNvPicPr>
          <p:nvPr/>
        </p:nvPicPr>
        <p:blipFill>
          <a:blip r:embed="rId1"/>
          <a:srcRect l="0" r="0" t="0" b="0"/>
          <a:stretch/>
        </p:blipFill>
        <p:spPr>
          <a:xfrm>
            <a:off x="12410777" y="2108597"/>
            <a:ext cx="3080891" cy="75115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2941722"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DATABASE DESIGN</a:t>
            </a:r>
            <a:endParaRPr lang="en-US" sz="1800" dirty="0"/>
          </a:p>
        </p:txBody>
      </p:sp>
      <p:sp>
        <p:nvSpPr>
          <p:cNvPr id="4" name="Text 2"/>
          <p:cNvSpPr/>
          <p:nvPr/>
        </p:nvSpPr>
        <p:spPr>
          <a:xfrm>
            <a:off x="952500" y="1257300"/>
            <a:ext cx="18021300" cy="603498"/>
          </a:xfrm>
          <a:prstGeom prst="rect">
            <a:avLst/>
          </a:prstGeom>
          <a:noFill/>
          <a:ln/>
        </p:spPr>
        <p:txBody>
          <a:bodyPr wrap="square" lIns="25400" tIns="25400" rIns="25400" bIns="25400" rtlCol="0" anchor="t">
            <a:normAutofit/>
          </a:bodyPr>
          <a:lstStyle/>
          <a:p>
            <a:pPr algn="l" indent="0" marL="0">
              <a:lnSpc>
                <a:spcPct val="106000"/>
              </a:lnSpc>
              <a:buNone/>
            </a:pPr>
            <a:r>
              <a:rPr lang="en-US" sz="4200" b="1" spc="-42" kern="0" dirty="0">
                <a:solidFill>
                  <a:srgbClr val="16233A"/>
                </a:solidFill>
                <a:latin typeface="Arial" pitchFamily="34" charset="0"/>
                <a:ea typeface="Arial" pitchFamily="34" charset="-122"/>
                <a:cs typeface="Arial" pitchFamily="34" charset="-120"/>
              </a:rPr>
              <a:t>A document model, correlated by rules</a:t>
            </a:r>
            <a:endParaRPr lang="en-US" sz="4200" dirty="0"/>
          </a:p>
        </p:txBody>
      </p:sp>
      <p:sp>
        <p:nvSpPr>
          <p:cNvPr id="5" name="Text 3"/>
          <p:cNvSpPr/>
          <p:nvPr/>
        </p:nvSpPr>
        <p:spPr>
          <a:xfrm>
            <a:off x="952500" y="4630787"/>
            <a:ext cx="6741518" cy="2466975"/>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48566A"/>
                </a:solidFill>
                <a:latin typeface="Arial" pitchFamily="34" charset="0"/>
                <a:ea typeface="Arial" pitchFamily="34" charset="-122"/>
                <a:cs typeface="Arial" pitchFamily="34" charset="-120"/>
              </a:rPr>
              <a:t>Data is stored as JSON documents in the Wazuh Indexer. Decoders parse unstructured logs into structured fields — </a:t>
            </a:r>
            <a:pPr algn="l" indent="0" marL="0">
              <a:lnSpc>
                <a:spcPct val="150000"/>
              </a:lnSpc>
              <a:buNone/>
            </a:pPr>
            <a:r>
              <a:rPr lang="en-US" sz="1800" dirty="0">
                <a:solidFill>
                  <a:srgbClr val="48566A"/>
                </a:solidFill>
                <a:latin typeface="Courier New" pitchFamily="34" charset="0"/>
                <a:ea typeface="Courier New" pitchFamily="34" charset="-122"/>
                <a:cs typeface="Courier New" pitchFamily="34" charset="-120"/>
              </a:rPr>
              <a:t>rule.id</a:t>
            </a:r>
            <a:pPr algn="l" indent="0" marL="0">
              <a:lnSpc>
                <a:spcPct val="150000"/>
              </a:lnSpc>
              <a:buNone/>
            </a:pPr>
            <a:r>
              <a:rPr lang="en-US" sz="2100" dirty="0">
                <a:solidFill>
                  <a:srgbClr val="48566A"/>
                </a:solidFill>
                <a:latin typeface="Arial" pitchFamily="34" charset="0"/>
                <a:ea typeface="Arial" pitchFamily="34" charset="-122"/>
                <a:cs typeface="Arial" pitchFamily="34" charset="-120"/>
              </a:rPr>
              <a:t>, </a:t>
            </a:r>
            <a:pPr algn="l" indent="0" marL="0">
              <a:lnSpc>
                <a:spcPct val="150000"/>
              </a:lnSpc>
              <a:buNone/>
            </a:pPr>
            <a:r>
              <a:rPr lang="en-US" sz="1800" dirty="0">
                <a:solidFill>
                  <a:srgbClr val="48566A"/>
                </a:solidFill>
                <a:latin typeface="Courier New" pitchFamily="34" charset="0"/>
                <a:ea typeface="Courier New" pitchFamily="34" charset="-122"/>
                <a:cs typeface="Courier New" pitchFamily="34" charset="-120"/>
              </a:rPr>
              <a:t>agent.name</a:t>
            </a:r>
            <a:pPr algn="l" indent="0" marL="0">
              <a:lnSpc>
                <a:spcPct val="150000"/>
              </a:lnSpc>
              <a:buNone/>
            </a:pPr>
            <a:r>
              <a:rPr lang="en-US" sz="2100" dirty="0">
                <a:solidFill>
                  <a:srgbClr val="48566A"/>
                </a:solidFill>
                <a:latin typeface="Arial" pitchFamily="34" charset="0"/>
                <a:ea typeface="Arial" pitchFamily="34" charset="-122"/>
                <a:cs typeface="Arial" pitchFamily="34" charset="-120"/>
              </a:rPr>
              <a:t>, </a:t>
            </a:r>
            <a:pPr algn="l" indent="0" marL="0">
              <a:lnSpc>
                <a:spcPct val="150000"/>
              </a:lnSpc>
              <a:buNone/>
            </a:pPr>
            <a:r>
              <a:rPr lang="en-US" sz="1800" dirty="0">
                <a:solidFill>
                  <a:srgbClr val="48566A"/>
                </a:solidFill>
                <a:latin typeface="Courier New" pitchFamily="34" charset="0"/>
                <a:ea typeface="Courier New" pitchFamily="34" charset="-122"/>
                <a:cs typeface="Courier New" pitchFamily="34" charset="-120"/>
              </a:rPr>
              <a:t>data.srcip </a:t>
            </a:r>
            <a:pPr algn="l" indent="0" marL="0">
              <a:lnSpc>
                <a:spcPct val="150000"/>
              </a:lnSpc>
              <a:buNone/>
            </a:pPr>
            <a:r>
              <a:rPr lang="en-US" sz="2100" dirty="0">
                <a:solidFill>
                  <a:srgbClr val="48566A"/>
                </a:solidFill>
                <a:latin typeface="Arial" pitchFamily="34" charset="0"/>
                <a:ea typeface="Arial" pitchFamily="34" charset="-122"/>
                <a:cs typeface="Arial" pitchFamily="34" charset="-120"/>
              </a:rPr>
              <a:t>. Relationships come from correlation: a </a:t>
            </a:r>
            <a:pPr algn="l" indent="0" marL="0">
              <a:lnSpc>
                <a:spcPct val="150000"/>
              </a:lnSpc>
              <a:buNone/>
            </a:pPr>
            <a:r>
              <a:rPr lang="en-US" sz="2100" b="1" dirty="0">
                <a:solidFill>
                  <a:srgbClr val="16233A"/>
                </a:solidFill>
                <a:latin typeface="Arial" pitchFamily="34" charset="0"/>
                <a:ea typeface="Arial" pitchFamily="34" charset="-122"/>
                <a:cs typeface="Arial" pitchFamily="34" charset="-120"/>
              </a:rPr>
              <a:t>Security Alert </a:t>
            </a:r>
            <a:pPr algn="l" indent="0" marL="0">
              <a:lnSpc>
                <a:spcPct val="150000"/>
              </a:lnSpc>
              <a:buNone/>
            </a:pPr>
            <a:r>
              <a:rPr lang="en-US" sz="2100" dirty="0">
                <a:solidFill>
                  <a:srgbClr val="48566A"/>
                </a:solidFill>
                <a:latin typeface="Arial" pitchFamily="34" charset="0"/>
                <a:ea typeface="Arial" pitchFamily="34" charset="-122"/>
                <a:cs typeface="Arial" pitchFamily="34" charset="-120"/>
              </a:rPr>
              <a:t>is generated when a </a:t>
            </a:r>
            <a:pPr algn="l" indent="0" marL="0">
              <a:lnSpc>
                <a:spcPct val="150000"/>
              </a:lnSpc>
              <a:buNone/>
            </a:pPr>
            <a:r>
              <a:rPr lang="en-US" sz="2100" b="1" dirty="0">
                <a:solidFill>
                  <a:srgbClr val="16233A"/>
                </a:solidFill>
                <a:latin typeface="Arial" pitchFamily="34" charset="0"/>
                <a:ea typeface="Arial" pitchFamily="34" charset="-122"/>
                <a:cs typeface="Arial" pitchFamily="34" charset="-120"/>
              </a:rPr>
              <a:t>Raw Log Event </a:t>
            </a:r>
            <a:pPr algn="l" indent="0" marL="0">
              <a:lnSpc>
                <a:spcPct val="150000"/>
              </a:lnSpc>
              <a:buNone/>
            </a:pPr>
            <a:r>
              <a:rPr lang="en-US" sz="2100" dirty="0">
                <a:solidFill>
                  <a:srgbClr val="48566A"/>
                </a:solidFill>
                <a:latin typeface="Arial" pitchFamily="34" charset="0"/>
                <a:ea typeface="Arial" pitchFamily="34" charset="-122"/>
                <a:cs typeface="Arial" pitchFamily="34" charset="-120"/>
              </a:rPr>
              <a:t>matches a </a:t>
            </a:r>
            <a:pPr algn="l" indent="0" marL="0">
              <a:lnSpc>
                <a:spcPct val="150000"/>
              </a:lnSpc>
              <a:buNone/>
            </a:pPr>
            <a:r>
              <a:rPr lang="en-US" sz="2100" b="1" dirty="0">
                <a:solidFill>
                  <a:srgbClr val="16233A"/>
                </a:solidFill>
                <a:latin typeface="Arial" pitchFamily="34" charset="0"/>
                <a:ea typeface="Arial" pitchFamily="34" charset="-122"/>
                <a:cs typeface="Arial" pitchFamily="34" charset="-120"/>
              </a:rPr>
              <a:t>Detection Rule </a:t>
            </a:r>
            <a:pPr algn="l" indent="0" marL="0">
              <a:lnSpc>
                <a:spcPct val="150000"/>
              </a:lnSpc>
              <a:buNone/>
            </a:pPr>
            <a:r>
              <a:rPr lang="en-US" sz="2100" dirty="0">
                <a:solidFill>
                  <a:srgbClr val="48566A"/>
                </a:solidFill>
                <a:latin typeface="Arial" pitchFamily="34" charset="0"/>
                <a:ea typeface="Arial" pitchFamily="34" charset="-122"/>
                <a:cs typeface="Arial" pitchFamily="34" charset="-120"/>
              </a:rPr>
              <a:t>, and each alert may produce a </a:t>
            </a:r>
            <a:pPr algn="l" indent="0" marL="0">
              <a:lnSpc>
                <a:spcPct val="150000"/>
              </a:lnSpc>
              <a:buNone/>
            </a:pPr>
            <a:r>
              <a:rPr lang="en-US" sz="2100" b="1" dirty="0">
                <a:solidFill>
                  <a:srgbClr val="16233A"/>
                </a:solidFill>
                <a:latin typeface="Arial" pitchFamily="34" charset="0"/>
                <a:ea typeface="Arial" pitchFamily="34" charset="-122"/>
                <a:cs typeface="Arial" pitchFamily="34" charset="-120"/>
              </a:rPr>
              <a:t>Discord Ticket</a:t>
            </a:r>
            <a:pPr algn="l" indent="0" marL="0">
              <a:lnSpc>
                <a:spcPct val="150000"/>
              </a:lnSpc>
              <a:buNone/>
            </a:pPr>
            <a:r>
              <a:rPr lang="en-US" sz="2100" dirty="0">
                <a:solidFill>
                  <a:srgbClr val="48566A"/>
                </a:solidFill>
                <a:latin typeface="Arial" pitchFamily="34" charset="0"/>
                <a:ea typeface="Arial" pitchFamily="34" charset="-122"/>
                <a:cs typeface="Arial" pitchFamily="34" charset="-120"/>
              </a:rPr>
              <a:t>.</a:t>
            </a:r>
            <a:endParaRPr lang="en-US" sz="2100" dirty="0"/>
          </a:p>
        </p:txBody>
      </p:sp>
      <p:sp>
        <p:nvSpPr>
          <p:cNvPr id="6" name="Shape 4"/>
          <p:cNvSpPr/>
          <p:nvPr/>
        </p:nvSpPr>
        <p:spPr>
          <a:xfrm>
            <a:off x="7916763" y="1851273"/>
            <a:ext cx="9418588" cy="7988052"/>
          </a:xfrm>
          <a:prstGeom prst="roundRect">
            <a:avLst>
              <a:gd name="adj" fmla="val 1431"/>
            </a:avLst>
          </a:prstGeom>
          <a:solidFill>
            <a:srgbClr val="F7F9FC"/>
          </a:solidFill>
          <a:ln w="9525">
            <a:solidFill>
              <a:srgbClr val="DCE3EC"/>
            </a:solidFill>
            <a:prstDash val="solid"/>
          </a:ln>
        </p:spPr>
      </p:sp>
      <p:pic>
        <p:nvPicPr>
          <p:cNvPr id="7" name="Image 0" descr="preencoded.png">    </p:cNvPr>
          <p:cNvPicPr>
            <a:picLocks noChangeAspect="1"/>
          </p:cNvPicPr>
          <p:nvPr/>
        </p:nvPicPr>
        <p:blipFill>
          <a:blip r:embed="rId1"/>
          <a:srcRect l="0" r="0" t="0" b="0"/>
          <a:stretch/>
        </p:blipFill>
        <p:spPr>
          <a:xfrm>
            <a:off x="10478095" y="2330500"/>
            <a:ext cx="4295775" cy="70294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4066089"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DATA FLOW · END TO END</a:t>
            </a:r>
            <a:endParaRPr lang="en-US" sz="1800" dirty="0"/>
          </a:p>
        </p:txBody>
      </p:sp>
      <p:sp>
        <p:nvSpPr>
          <p:cNvPr id="4" name="Text 2"/>
          <p:cNvSpPr/>
          <p:nvPr/>
        </p:nvSpPr>
        <p:spPr>
          <a:xfrm>
            <a:off x="952500" y="1276350"/>
            <a:ext cx="18021300"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48" kern="0" dirty="0">
                <a:solidFill>
                  <a:srgbClr val="16233A"/>
                </a:solidFill>
                <a:latin typeface="Arial" pitchFamily="34" charset="0"/>
                <a:ea typeface="Arial" pitchFamily="34" charset="-122"/>
                <a:cs typeface="Arial" pitchFamily="34" charset="-120"/>
              </a:rPr>
              <a:t>From endpoint event to alert in six stages</a:t>
            </a:r>
            <a:endParaRPr lang="en-US" sz="4800" dirty="0"/>
          </a:p>
        </p:txBody>
      </p:sp>
      <p:sp>
        <p:nvSpPr>
          <p:cNvPr id="5" name="Shape 3"/>
          <p:cNvSpPr/>
          <p:nvPr/>
        </p:nvSpPr>
        <p:spPr>
          <a:xfrm>
            <a:off x="952500" y="2411611"/>
            <a:ext cx="2603450" cy="7151489"/>
          </a:xfrm>
          <a:prstGeom prst="roundRect">
            <a:avLst>
              <a:gd name="adj" fmla="val 4390"/>
            </a:avLst>
          </a:prstGeom>
          <a:solidFill>
            <a:srgbClr val="F3F6FA"/>
          </a:solidFill>
          <a:ln w="9525">
            <a:solidFill>
              <a:srgbClr val="DCE3EC"/>
            </a:solidFill>
            <a:prstDash val="solid"/>
          </a:ln>
        </p:spPr>
      </p:sp>
      <p:sp>
        <p:nvSpPr>
          <p:cNvPr id="6" name="Text 4"/>
          <p:cNvSpPr/>
          <p:nvPr/>
        </p:nvSpPr>
        <p:spPr>
          <a:xfrm>
            <a:off x="1171575" y="2687836"/>
            <a:ext cx="238183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D64545"/>
                </a:solidFill>
                <a:latin typeface="Arial" pitchFamily="34" charset="0"/>
                <a:ea typeface="Arial" pitchFamily="34" charset="-122"/>
                <a:cs typeface="Arial" pitchFamily="34" charset="-120"/>
              </a:rPr>
              <a:t>01</a:t>
            </a:r>
            <a:endParaRPr lang="en-US" sz="1800" dirty="0"/>
          </a:p>
        </p:txBody>
      </p:sp>
      <p:sp>
        <p:nvSpPr>
          <p:cNvPr id="7" name="Text 5"/>
          <p:cNvSpPr/>
          <p:nvPr/>
        </p:nvSpPr>
        <p:spPr>
          <a:xfrm>
            <a:off x="1171575" y="3106936"/>
            <a:ext cx="2381830" cy="323850"/>
          </a:xfrm>
          <a:prstGeom prst="rect">
            <a:avLst/>
          </a:prstGeom>
          <a:noFill/>
          <a:ln/>
        </p:spPr>
        <p:txBody>
          <a:bodyPr wrap="square" lIns="25400" tIns="25400" rIns="25400" bIns="25400" rtlCol="0" anchor="t">
            <a:normAutofit/>
          </a:bodyPr>
          <a:lstStyle/>
          <a:p>
            <a:pPr algn="l" indent="0" marL="0">
              <a:lnSpc>
                <a:spcPct val="120000"/>
              </a:lnSpc>
              <a:buNone/>
            </a:pPr>
            <a:r>
              <a:rPr lang="en-US" sz="1875" b="1" dirty="0">
                <a:solidFill>
                  <a:srgbClr val="16233A"/>
                </a:solidFill>
                <a:latin typeface="Arial" pitchFamily="34" charset="0"/>
                <a:ea typeface="Arial" pitchFamily="34" charset="-122"/>
                <a:cs typeface="Arial" pitchFamily="34" charset="-120"/>
              </a:rPr>
              <a:t>Event</a:t>
            </a:r>
            <a:endParaRPr lang="en-US" sz="1875" dirty="0"/>
          </a:p>
        </p:txBody>
      </p:sp>
      <p:sp>
        <p:nvSpPr>
          <p:cNvPr id="8" name="Text 6"/>
          <p:cNvSpPr/>
          <p:nvPr/>
        </p:nvSpPr>
        <p:spPr>
          <a:xfrm>
            <a:off x="1171575" y="3506986"/>
            <a:ext cx="2241500" cy="1272183"/>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A6779"/>
                </a:solidFill>
                <a:latin typeface="Arial" pitchFamily="34" charset="0"/>
                <a:ea typeface="Arial" pitchFamily="34" charset="-122"/>
                <a:cs typeface="Arial" pitchFamily="34" charset="-120"/>
              </a:rPr>
              <a:t>A suspicious process spawns on the Windows 10 endpoint.</a:t>
            </a:r>
            <a:endParaRPr lang="en-US" sz="1800" dirty="0"/>
          </a:p>
        </p:txBody>
      </p:sp>
      <p:sp>
        <p:nvSpPr>
          <p:cNvPr id="9" name="Shape 7"/>
          <p:cNvSpPr/>
          <p:nvPr/>
        </p:nvSpPr>
        <p:spPr>
          <a:xfrm>
            <a:off x="3708350" y="2411611"/>
            <a:ext cx="2603450" cy="7151489"/>
          </a:xfrm>
          <a:prstGeom prst="roundRect">
            <a:avLst>
              <a:gd name="adj" fmla="val 4390"/>
            </a:avLst>
          </a:prstGeom>
          <a:solidFill>
            <a:srgbClr val="F3F6FA"/>
          </a:solidFill>
          <a:ln w="9525">
            <a:solidFill>
              <a:srgbClr val="DCE3EC"/>
            </a:solidFill>
            <a:prstDash val="solid"/>
          </a:ln>
        </p:spPr>
      </p:sp>
      <p:sp>
        <p:nvSpPr>
          <p:cNvPr id="10" name="Text 8"/>
          <p:cNvSpPr/>
          <p:nvPr/>
        </p:nvSpPr>
        <p:spPr>
          <a:xfrm>
            <a:off x="3927425" y="2687836"/>
            <a:ext cx="238183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E5AA8"/>
                </a:solidFill>
                <a:latin typeface="Arial" pitchFamily="34" charset="0"/>
                <a:ea typeface="Arial" pitchFamily="34" charset="-122"/>
                <a:cs typeface="Arial" pitchFamily="34" charset="-120"/>
              </a:rPr>
              <a:t>02</a:t>
            </a:r>
            <a:endParaRPr lang="en-US" sz="1800" dirty="0"/>
          </a:p>
        </p:txBody>
      </p:sp>
      <p:sp>
        <p:nvSpPr>
          <p:cNvPr id="11" name="Text 9"/>
          <p:cNvSpPr/>
          <p:nvPr/>
        </p:nvSpPr>
        <p:spPr>
          <a:xfrm>
            <a:off x="3927425" y="3106936"/>
            <a:ext cx="2381830" cy="323850"/>
          </a:xfrm>
          <a:prstGeom prst="rect">
            <a:avLst/>
          </a:prstGeom>
          <a:noFill/>
          <a:ln/>
        </p:spPr>
        <p:txBody>
          <a:bodyPr wrap="square" lIns="25400" tIns="25400" rIns="25400" bIns="25400" rtlCol="0" anchor="t">
            <a:normAutofit/>
          </a:bodyPr>
          <a:lstStyle/>
          <a:p>
            <a:pPr algn="l" indent="0" marL="0">
              <a:lnSpc>
                <a:spcPct val="120000"/>
              </a:lnSpc>
              <a:buNone/>
            </a:pPr>
            <a:r>
              <a:rPr lang="en-US" sz="1875" b="1" dirty="0">
                <a:solidFill>
                  <a:srgbClr val="16233A"/>
                </a:solidFill>
                <a:latin typeface="Arial" pitchFamily="34" charset="0"/>
                <a:ea typeface="Arial" pitchFamily="34" charset="-122"/>
                <a:cs typeface="Arial" pitchFamily="34" charset="-120"/>
              </a:rPr>
              <a:t>Telemetry</a:t>
            </a:r>
            <a:endParaRPr lang="en-US" sz="1875" dirty="0"/>
          </a:p>
        </p:txBody>
      </p:sp>
      <p:sp>
        <p:nvSpPr>
          <p:cNvPr id="12" name="Text 10"/>
          <p:cNvSpPr/>
          <p:nvPr/>
        </p:nvSpPr>
        <p:spPr>
          <a:xfrm>
            <a:off x="3927425" y="3506986"/>
            <a:ext cx="2241500" cy="963662"/>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A6779"/>
                </a:solidFill>
                <a:latin typeface="Arial" pitchFamily="34" charset="0"/>
                <a:ea typeface="Arial" pitchFamily="34" charset="-122"/>
                <a:cs typeface="Arial" pitchFamily="34" charset="-120"/>
              </a:rPr>
              <a:t>Sysmon records the process creation and module load.</a:t>
            </a:r>
            <a:endParaRPr lang="en-US" sz="1800" dirty="0"/>
          </a:p>
        </p:txBody>
      </p:sp>
      <p:sp>
        <p:nvSpPr>
          <p:cNvPr id="13" name="Shape 11"/>
          <p:cNvSpPr/>
          <p:nvPr/>
        </p:nvSpPr>
        <p:spPr>
          <a:xfrm>
            <a:off x="6464201" y="2411611"/>
            <a:ext cx="2603599" cy="7151489"/>
          </a:xfrm>
          <a:prstGeom prst="roundRect">
            <a:avLst>
              <a:gd name="adj" fmla="val 4390"/>
            </a:avLst>
          </a:prstGeom>
          <a:solidFill>
            <a:srgbClr val="F3F6FA"/>
          </a:solidFill>
          <a:ln w="9525">
            <a:solidFill>
              <a:srgbClr val="DCE3EC"/>
            </a:solidFill>
            <a:prstDash val="solid"/>
          </a:ln>
        </p:spPr>
      </p:sp>
      <p:sp>
        <p:nvSpPr>
          <p:cNvPr id="14" name="Text 12"/>
          <p:cNvSpPr/>
          <p:nvPr/>
        </p:nvSpPr>
        <p:spPr>
          <a:xfrm>
            <a:off x="6683276" y="2687836"/>
            <a:ext cx="2381994"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E5AA8"/>
                </a:solidFill>
                <a:latin typeface="Arial" pitchFamily="34" charset="0"/>
                <a:ea typeface="Arial" pitchFamily="34" charset="-122"/>
                <a:cs typeface="Arial" pitchFamily="34" charset="-120"/>
              </a:rPr>
              <a:t>03</a:t>
            </a:r>
            <a:endParaRPr lang="en-US" sz="1800" dirty="0"/>
          </a:p>
        </p:txBody>
      </p:sp>
      <p:sp>
        <p:nvSpPr>
          <p:cNvPr id="15" name="Text 13"/>
          <p:cNvSpPr/>
          <p:nvPr/>
        </p:nvSpPr>
        <p:spPr>
          <a:xfrm>
            <a:off x="6683276" y="3106936"/>
            <a:ext cx="2381994" cy="323850"/>
          </a:xfrm>
          <a:prstGeom prst="rect">
            <a:avLst/>
          </a:prstGeom>
          <a:noFill/>
          <a:ln/>
        </p:spPr>
        <p:txBody>
          <a:bodyPr wrap="square" lIns="25400" tIns="25400" rIns="25400" bIns="25400" rtlCol="0" anchor="t">
            <a:normAutofit/>
          </a:bodyPr>
          <a:lstStyle/>
          <a:p>
            <a:pPr algn="l" indent="0" marL="0">
              <a:lnSpc>
                <a:spcPct val="120000"/>
              </a:lnSpc>
              <a:buNone/>
            </a:pPr>
            <a:r>
              <a:rPr lang="en-US" sz="1875" b="1" dirty="0">
                <a:solidFill>
                  <a:srgbClr val="16233A"/>
                </a:solidFill>
                <a:latin typeface="Arial" pitchFamily="34" charset="0"/>
                <a:ea typeface="Arial" pitchFamily="34" charset="-122"/>
                <a:cs typeface="Arial" pitchFamily="34" charset="-120"/>
              </a:rPr>
              <a:t>Collect</a:t>
            </a:r>
            <a:endParaRPr lang="en-US" sz="1875" dirty="0"/>
          </a:p>
        </p:txBody>
      </p:sp>
      <p:sp>
        <p:nvSpPr>
          <p:cNvPr id="16" name="Text 14"/>
          <p:cNvSpPr/>
          <p:nvPr/>
        </p:nvSpPr>
        <p:spPr>
          <a:xfrm>
            <a:off x="6683276" y="3506986"/>
            <a:ext cx="2241649" cy="1272183"/>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A6779"/>
                </a:solidFill>
                <a:latin typeface="Arial" pitchFamily="34" charset="0"/>
                <a:ea typeface="Arial" pitchFamily="34" charset="-122"/>
                <a:cs typeface="Arial" pitchFamily="34" charset="-120"/>
              </a:rPr>
              <a:t>The Agent filters and forwards logs over an encrypted channel.</a:t>
            </a:r>
            <a:endParaRPr lang="en-US" sz="1800" dirty="0"/>
          </a:p>
        </p:txBody>
      </p:sp>
      <p:sp>
        <p:nvSpPr>
          <p:cNvPr id="17" name="Shape 15"/>
          <p:cNvSpPr/>
          <p:nvPr/>
        </p:nvSpPr>
        <p:spPr>
          <a:xfrm>
            <a:off x="9220200" y="2411611"/>
            <a:ext cx="2603450" cy="7151489"/>
          </a:xfrm>
          <a:prstGeom prst="roundRect">
            <a:avLst>
              <a:gd name="adj" fmla="val 4390"/>
            </a:avLst>
          </a:prstGeom>
          <a:solidFill>
            <a:srgbClr val="F3F6FA"/>
          </a:solidFill>
          <a:ln w="9525">
            <a:solidFill>
              <a:srgbClr val="DCE3EC"/>
            </a:solidFill>
            <a:prstDash val="solid"/>
          </a:ln>
        </p:spPr>
      </p:sp>
      <p:sp>
        <p:nvSpPr>
          <p:cNvPr id="18" name="Text 16"/>
          <p:cNvSpPr/>
          <p:nvPr/>
        </p:nvSpPr>
        <p:spPr>
          <a:xfrm>
            <a:off x="9439275" y="2687836"/>
            <a:ext cx="238183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E5AA8"/>
                </a:solidFill>
                <a:latin typeface="Arial" pitchFamily="34" charset="0"/>
                <a:ea typeface="Arial" pitchFamily="34" charset="-122"/>
                <a:cs typeface="Arial" pitchFamily="34" charset="-120"/>
              </a:rPr>
              <a:t>04</a:t>
            </a:r>
            <a:endParaRPr lang="en-US" sz="1800" dirty="0"/>
          </a:p>
        </p:txBody>
      </p:sp>
      <p:sp>
        <p:nvSpPr>
          <p:cNvPr id="19" name="Text 17"/>
          <p:cNvSpPr/>
          <p:nvPr/>
        </p:nvSpPr>
        <p:spPr>
          <a:xfrm>
            <a:off x="9439275" y="3106936"/>
            <a:ext cx="2381830" cy="323850"/>
          </a:xfrm>
          <a:prstGeom prst="rect">
            <a:avLst/>
          </a:prstGeom>
          <a:noFill/>
          <a:ln/>
        </p:spPr>
        <p:txBody>
          <a:bodyPr wrap="square" lIns="25400" tIns="25400" rIns="25400" bIns="25400" rtlCol="0" anchor="t">
            <a:normAutofit/>
          </a:bodyPr>
          <a:lstStyle/>
          <a:p>
            <a:pPr algn="l" indent="0" marL="0">
              <a:lnSpc>
                <a:spcPct val="120000"/>
              </a:lnSpc>
              <a:buNone/>
            </a:pPr>
            <a:r>
              <a:rPr lang="en-US" sz="1875" b="1" dirty="0">
                <a:solidFill>
                  <a:srgbClr val="16233A"/>
                </a:solidFill>
                <a:latin typeface="Arial" pitchFamily="34" charset="0"/>
                <a:ea typeface="Arial" pitchFamily="34" charset="-122"/>
                <a:cs typeface="Arial" pitchFamily="34" charset="-120"/>
              </a:rPr>
              <a:t>Process</a:t>
            </a:r>
            <a:endParaRPr lang="en-US" sz="1875" dirty="0"/>
          </a:p>
        </p:txBody>
      </p:sp>
      <p:sp>
        <p:nvSpPr>
          <p:cNvPr id="20" name="Text 18"/>
          <p:cNvSpPr/>
          <p:nvPr/>
        </p:nvSpPr>
        <p:spPr>
          <a:xfrm>
            <a:off x="9439275" y="3506986"/>
            <a:ext cx="2241500" cy="1272183"/>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A6779"/>
                </a:solidFill>
                <a:latin typeface="Arial" pitchFamily="34" charset="0"/>
                <a:ea typeface="Arial" pitchFamily="34" charset="-122"/>
                <a:cs typeface="Arial" pitchFamily="34" charset="-120"/>
              </a:rPr>
              <a:t>The Manager correlates it → Rules 67027 / 92154 → persistence.</a:t>
            </a:r>
            <a:endParaRPr lang="en-US" sz="1800" dirty="0"/>
          </a:p>
        </p:txBody>
      </p:sp>
      <p:sp>
        <p:nvSpPr>
          <p:cNvPr id="21" name="Shape 19"/>
          <p:cNvSpPr/>
          <p:nvPr/>
        </p:nvSpPr>
        <p:spPr>
          <a:xfrm>
            <a:off x="11976050" y="2411611"/>
            <a:ext cx="2603450" cy="7151489"/>
          </a:xfrm>
          <a:prstGeom prst="roundRect">
            <a:avLst>
              <a:gd name="adj" fmla="val 4390"/>
            </a:avLst>
          </a:prstGeom>
          <a:solidFill>
            <a:srgbClr val="F3F6FA"/>
          </a:solidFill>
          <a:ln w="9525">
            <a:solidFill>
              <a:srgbClr val="DCE3EC"/>
            </a:solidFill>
            <a:prstDash val="solid"/>
          </a:ln>
        </p:spPr>
      </p:sp>
      <p:sp>
        <p:nvSpPr>
          <p:cNvPr id="22" name="Text 20"/>
          <p:cNvSpPr/>
          <p:nvPr/>
        </p:nvSpPr>
        <p:spPr>
          <a:xfrm>
            <a:off x="12195125" y="2687836"/>
            <a:ext cx="238183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3E9B5F"/>
                </a:solidFill>
                <a:latin typeface="Arial" pitchFamily="34" charset="0"/>
                <a:ea typeface="Arial" pitchFamily="34" charset="-122"/>
                <a:cs typeface="Arial" pitchFamily="34" charset="-120"/>
              </a:rPr>
              <a:t>05</a:t>
            </a:r>
            <a:endParaRPr lang="en-US" sz="1800" dirty="0"/>
          </a:p>
        </p:txBody>
      </p:sp>
      <p:sp>
        <p:nvSpPr>
          <p:cNvPr id="23" name="Text 21"/>
          <p:cNvSpPr/>
          <p:nvPr/>
        </p:nvSpPr>
        <p:spPr>
          <a:xfrm>
            <a:off x="12195125" y="3106936"/>
            <a:ext cx="2381830" cy="323850"/>
          </a:xfrm>
          <a:prstGeom prst="rect">
            <a:avLst/>
          </a:prstGeom>
          <a:noFill/>
          <a:ln/>
        </p:spPr>
        <p:txBody>
          <a:bodyPr wrap="square" lIns="25400" tIns="25400" rIns="25400" bIns="25400" rtlCol="0" anchor="t">
            <a:normAutofit/>
          </a:bodyPr>
          <a:lstStyle/>
          <a:p>
            <a:pPr algn="l" indent="0" marL="0">
              <a:lnSpc>
                <a:spcPct val="120000"/>
              </a:lnSpc>
              <a:buNone/>
            </a:pPr>
            <a:r>
              <a:rPr lang="en-US" sz="1875" b="1" dirty="0">
                <a:solidFill>
                  <a:srgbClr val="16233A"/>
                </a:solidFill>
                <a:latin typeface="Arial" pitchFamily="34" charset="0"/>
                <a:ea typeface="Arial" pitchFamily="34" charset="-122"/>
                <a:cs typeface="Arial" pitchFamily="34" charset="-120"/>
              </a:rPr>
              <a:t>Integrate</a:t>
            </a:r>
            <a:endParaRPr lang="en-US" sz="1875" dirty="0"/>
          </a:p>
        </p:txBody>
      </p:sp>
      <p:sp>
        <p:nvSpPr>
          <p:cNvPr id="24" name="Text 22"/>
          <p:cNvSpPr/>
          <p:nvPr/>
        </p:nvSpPr>
        <p:spPr>
          <a:xfrm>
            <a:off x="12195125" y="3506986"/>
            <a:ext cx="2241500" cy="1272183"/>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A6779"/>
                </a:solidFill>
                <a:latin typeface="Arial" pitchFamily="34" charset="0"/>
                <a:ea typeface="Arial" pitchFamily="34" charset="-122"/>
                <a:cs typeface="Arial" pitchFamily="34" charset="-120"/>
              </a:rPr>
              <a:t>custom-discord.py extracts the IP, maps color, formats the embed.</a:t>
            </a:r>
            <a:endParaRPr lang="en-US" sz="1800" dirty="0"/>
          </a:p>
        </p:txBody>
      </p:sp>
      <p:sp>
        <p:nvSpPr>
          <p:cNvPr id="25" name="Shape 23"/>
          <p:cNvSpPr/>
          <p:nvPr/>
        </p:nvSpPr>
        <p:spPr>
          <a:xfrm>
            <a:off x="14731901" y="2411611"/>
            <a:ext cx="2603599" cy="7151489"/>
          </a:xfrm>
          <a:prstGeom prst="roundRect">
            <a:avLst>
              <a:gd name="adj" fmla="val 4390"/>
            </a:avLst>
          </a:prstGeom>
          <a:solidFill>
            <a:srgbClr val="EAF3EE"/>
          </a:solidFill>
          <a:ln w="9525">
            <a:solidFill>
              <a:srgbClr val="C6E1D0"/>
            </a:solidFill>
            <a:prstDash val="solid"/>
          </a:ln>
        </p:spPr>
      </p:sp>
      <p:sp>
        <p:nvSpPr>
          <p:cNvPr id="26" name="Text 24"/>
          <p:cNvSpPr/>
          <p:nvPr/>
        </p:nvSpPr>
        <p:spPr>
          <a:xfrm>
            <a:off x="14950976" y="2687836"/>
            <a:ext cx="2381994"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3E9B5F"/>
                </a:solidFill>
                <a:latin typeface="Arial" pitchFamily="34" charset="0"/>
                <a:ea typeface="Arial" pitchFamily="34" charset="-122"/>
                <a:cs typeface="Arial" pitchFamily="34" charset="-120"/>
              </a:rPr>
              <a:t>06</a:t>
            </a:r>
            <a:endParaRPr lang="en-US" sz="1800" dirty="0"/>
          </a:p>
        </p:txBody>
      </p:sp>
      <p:sp>
        <p:nvSpPr>
          <p:cNvPr id="27" name="Text 25"/>
          <p:cNvSpPr/>
          <p:nvPr/>
        </p:nvSpPr>
        <p:spPr>
          <a:xfrm>
            <a:off x="14950976" y="3106936"/>
            <a:ext cx="2381994" cy="323850"/>
          </a:xfrm>
          <a:prstGeom prst="rect">
            <a:avLst/>
          </a:prstGeom>
          <a:noFill/>
          <a:ln/>
        </p:spPr>
        <p:txBody>
          <a:bodyPr wrap="square" lIns="25400" tIns="25400" rIns="25400" bIns="25400" rtlCol="0" anchor="t">
            <a:normAutofit/>
          </a:bodyPr>
          <a:lstStyle/>
          <a:p>
            <a:pPr algn="l" indent="0" marL="0">
              <a:lnSpc>
                <a:spcPct val="120000"/>
              </a:lnSpc>
              <a:buNone/>
            </a:pPr>
            <a:r>
              <a:rPr lang="en-US" sz="1875" b="1" dirty="0">
                <a:solidFill>
                  <a:srgbClr val="16233A"/>
                </a:solidFill>
                <a:latin typeface="Arial" pitchFamily="34" charset="0"/>
                <a:ea typeface="Arial" pitchFamily="34" charset="-122"/>
                <a:cs typeface="Arial" pitchFamily="34" charset="-120"/>
              </a:rPr>
              <a:t>Respond</a:t>
            </a:r>
            <a:endParaRPr lang="en-US" sz="1875" dirty="0"/>
          </a:p>
        </p:txBody>
      </p:sp>
      <p:sp>
        <p:nvSpPr>
          <p:cNvPr id="28" name="Text 26"/>
          <p:cNvSpPr/>
          <p:nvPr/>
        </p:nvSpPr>
        <p:spPr>
          <a:xfrm>
            <a:off x="14950976" y="3506986"/>
            <a:ext cx="2241649" cy="1272183"/>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A6779"/>
                </a:solidFill>
                <a:latin typeface="Arial" pitchFamily="34" charset="0"/>
                <a:ea typeface="Arial" pitchFamily="34" charset="-122"/>
                <a:cs typeface="Arial" pitchFamily="34" charset="-120"/>
              </a:rPr>
              <a:t>A color-coded incident card appears instantly in the SOC channel.</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3C73"/>
        </a:solidFill>
      </p:bgPr>
    </p:bg>
    <p:spTree>
      <p:nvGrpSpPr>
        <p:cNvPr id="1" name=""/>
        <p:cNvGrpSpPr/>
        <p:nvPr/>
      </p:nvGrpSpPr>
      <p:grpSpPr>
        <a:xfrm>
          <a:off x="0" y="0"/>
          <a:ext cx="0" cy="0"/>
          <a:chOff x="0" y="0"/>
          <a:chExt cx="0" cy="0"/>
        </a:xfrm>
      </p:grpSpPr>
      <p:sp>
        <p:nvSpPr>
          <p:cNvPr id="2" name="Text 0"/>
          <p:cNvSpPr/>
          <p:nvPr/>
        </p:nvSpPr>
        <p:spPr>
          <a:xfrm>
            <a:off x="952500" y="3126135"/>
            <a:ext cx="18021300" cy="1924050"/>
          </a:xfrm>
          <a:prstGeom prst="rect">
            <a:avLst/>
          </a:prstGeom>
          <a:noFill/>
          <a:ln/>
        </p:spPr>
        <p:txBody>
          <a:bodyPr wrap="square" lIns="25400" tIns="25400" rIns="25400" bIns="25400" rtlCol="0" anchor="t">
            <a:normAutofit/>
          </a:bodyPr>
          <a:lstStyle/>
          <a:p>
            <a:pPr algn="l" indent="0" marL="0">
              <a:lnSpc>
                <a:spcPct val="90000"/>
              </a:lnSpc>
              <a:buNone/>
            </a:pPr>
            <a:r>
              <a:rPr lang="en-US" sz="16500" b="1" dirty="0">
                <a:ln w="19050">
                  <a:solidFill>
                    <a:srgbClr val="4C86C9"/>
                  </a:solidFill>
                </a:ln>
                <a:solidFill>
                  <a:srgbClr val="000000">
                    <a:alpha val="0"/>
                  </a:srgbClr>
                </a:solidFill>
                <a:latin typeface="Arial" pitchFamily="34" charset="0"/>
                <a:ea typeface="Arial" pitchFamily="34" charset="-122"/>
                <a:cs typeface="Arial" pitchFamily="34" charset="-120"/>
              </a:rPr>
              <a:t>03</a:t>
            </a:r>
            <a:endParaRPr lang="en-US" sz="16500" dirty="0"/>
          </a:p>
        </p:txBody>
      </p:sp>
      <p:sp>
        <p:nvSpPr>
          <p:cNvPr id="3" name="Shape 1"/>
          <p:cNvSpPr/>
          <p:nvPr/>
        </p:nvSpPr>
        <p:spPr>
          <a:xfrm>
            <a:off x="952500" y="5521672"/>
            <a:ext cx="666750" cy="47625"/>
          </a:xfrm>
          <a:prstGeom prst="roundRect">
            <a:avLst>
              <a:gd name="adj" fmla="val 50000"/>
            </a:avLst>
          </a:prstGeom>
          <a:solidFill>
            <a:srgbClr val="3E9B5F"/>
          </a:solidFill>
          <a:ln/>
        </p:spPr>
      </p:sp>
      <p:sp>
        <p:nvSpPr>
          <p:cNvPr id="4" name="Text 2"/>
          <p:cNvSpPr/>
          <p:nvPr/>
        </p:nvSpPr>
        <p:spPr>
          <a:xfrm>
            <a:off x="1828800" y="5107335"/>
            <a:ext cx="8575506" cy="914400"/>
          </a:xfrm>
          <a:prstGeom prst="rect">
            <a:avLst/>
          </a:prstGeom>
          <a:noFill/>
          <a:ln/>
        </p:spPr>
        <p:txBody>
          <a:bodyPr wrap="square" lIns="25400" tIns="25400" rIns="25400" bIns="25400" rtlCol="0" anchor="t">
            <a:normAutofit/>
          </a:bodyPr>
          <a:lstStyle/>
          <a:p>
            <a:pPr algn="l" indent="0" marL="0">
              <a:buNone/>
            </a:pPr>
            <a:r>
              <a:rPr lang="en-US" sz="6000" b="1" spc="-60" kern="0" dirty="0">
                <a:solidFill>
                  <a:srgbClr val="FFFFFF"/>
                </a:solidFill>
                <a:latin typeface="Arial" pitchFamily="34" charset="0"/>
                <a:ea typeface="Arial" pitchFamily="34" charset="-122"/>
                <a:cs typeface="Arial" pitchFamily="34" charset="-120"/>
              </a:rPr>
              <a:t>Detection &amp; Automation</a:t>
            </a:r>
            <a:endParaRPr lang="en-US" sz="6000" dirty="0"/>
          </a:p>
        </p:txBody>
      </p:sp>
      <p:sp>
        <p:nvSpPr>
          <p:cNvPr id="5" name="Text 3"/>
          <p:cNvSpPr/>
          <p:nvPr/>
        </p:nvSpPr>
        <p:spPr>
          <a:xfrm>
            <a:off x="952500" y="6307485"/>
            <a:ext cx="11772900" cy="89148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B6C8E0"/>
                </a:solidFill>
                <a:latin typeface="Arial" pitchFamily="34" charset="0"/>
                <a:ea typeface="Arial" pitchFamily="34" charset="-122"/>
                <a:cs typeface="Arial" pitchFamily="34" charset="-120"/>
              </a:rPr>
              <a:t>Custom MITRE-mapped rules, endpoint telemetry, and the Python integration that turns an alert into a Discord card.</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4128135"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DETECTION ENGINEERING</a:t>
            </a:r>
            <a:endParaRPr lang="en-US" sz="1800" dirty="0"/>
          </a:p>
        </p:txBody>
      </p:sp>
      <p:sp>
        <p:nvSpPr>
          <p:cNvPr id="4" name="Text 2"/>
          <p:cNvSpPr/>
          <p:nvPr/>
        </p:nvSpPr>
        <p:spPr>
          <a:xfrm>
            <a:off x="952500" y="127635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45" kern="0" dirty="0">
                <a:solidFill>
                  <a:srgbClr val="16233A"/>
                </a:solidFill>
                <a:latin typeface="Arial" pitchFamily="34" charset="0"/>
                <a:ea typeface="Arial" pitchFamily="34" charset="-122"/>
                <a:cs typeface="Arial" pitchFamily="34" charset="-120"/>
              </a:rPr>
              <a:t>Endpoint rules, mapped to MITRE ATT&amp;CK</a:t>
            </a:r>
            <a:endParaRPr lang="en-US" sz="4500" dirty="0"/>
          </a:p>
        </p:txBody>
      </p:sp>
      <p:sp>
        <p:nvSpPr>
          <p:cNvPr id="5" name="Shape 3"/>
          <p:cNvSpPr/>
          <p:nvPr/>
        </p:nvSpPr>
        <p:spPr>
          <a:xfrm>
            <a:off x="952500" y="2219325"/>
            <a:ext cx="16383000" cy="6810375"/>
          </a:xfrm>
          <a:prstGeom prst="roundRect">
            <a:avLst>
              <a:gd name="adj" fmla="val 1678"/>
            </a:avLst>
          </a:prstGeom>
          <a:ln w="9525">
            <a:solidFill>
              <a:srgbClr val="DCE3EC"/>
            </a:solidFill>
            <a:prstDash val="solid"/>
          </a:ln>
        </p:spPr>
      </p:sp>
      <p:sp>
        <p:nvSpPr>
          <p:cNvPr id="6" name="Shape 4"/>
          <p:cNvSpPr/>
          <p:nvPr/>
        </p:nvSpPr>
        <p:spPr>
          <a:xfrm>
            <a:off x="962025" y="2228850"/>
            <a:ext cx="16363950" cy="723900"/>
          </a:xfrm>
          <a:prstGeom prst="rect">
            <a:avLst/>
          </a:prstGeom>
          <a:solidFill>
            <a:srgbClr val="143C73"/>
          </a:solidFill>
          <a:ln/>
        </p:spPr>
      </p:sp>
      <p:sp>
        <p:nvSpPr>
          <p:cNvPr id="7" name="Text 5"/>
          <p:cNvSpPr/>
          <p:nvPr/>
        </p:nvSpPr>
        <p:spPr>
          <a:xfrm>
            <a:off x="1343025" y="2438400"/>
            <a:ext cx="3432364"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FFFFFF"/>
                </a:solidFill>
                <a:latin typeface="Arial" pitchFamily="34" charset="0"/>
                <a:ea typeface="Arial" pitchFamily="34" charset="-122"/>
                <a:cs typeface="Arial" pitchFamily="34" charset="-120"/>
              </a:rPr>
              <a:t>Rule ID</a:t>
            </a:r>
            <a:endParaRPr lang="en-US" sz="1875" dirty="0"/>
          </a:p>
        </p:txBody>
      </p:sp>
      <p:sp>
        <p:nvSpPr>
          <p:cNvPr id="8" name="Text 6"/>
          <p:cNvSpPr/>
          <p:nvPr/>
        </p:nvSpPr>
        <p:spPr>
          <a:xfrm>
            <a:off x="4463355" y="2438400"/>
            <a:ext cx="9725248"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FFFFFF"/>
                </a:solidFill>
                <a:latin typeface="Arial" pitchFamily="34" charset="0"/>
                <a:ea typeface="Arial" pitchFamily="34" charset="-122"/>
                <a:cs typeface="Arial" pitchFamily="34" charset="-120"/>
              </a:rPr>
              <a:t>Detection</a:t>
            </a:r>
            <a:endParaRPr lang="en-US" sz="1875" dirty="0"/>
          </a:p>
        </p:txBody>
      </p:sp>
      <p:sp>
        <p:nvSpPr>
          <p:cNvPr id="9" name="Text 7"/>
          <p:cNvSpPr/>
          <p:nvPr/>
        </p:nvSpPr>
        <p:spPr>
          <a:xfrm>
            <a:off x="13304490" y="2438400"/>
            <a:ext cx="4004370"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FFFFFF"/>
                </a:solidFill>
                <a:latin typeface="Arial" pitchFamily="34" charset="0"/>
                <a:ea typeface="Arial" pitchFamily="34" charset="-122"/>
                <a:cs typeface="Arial" pitchFamily="34" charset="-120"/>
              </a:rPr>
              <a:t>MITRE</a:t>
            </a:r>
            <a:endParaRPr lang="en-US" sz="1875" dirty="0"/>
          </a:p>
        </p:txBody>
      </p:sp>
      <p:sp>
        <p:nvSpPr>
          <p:cNvPr id="10" name="Shape 8"/>
          <p:cNvSpPr/>
          <p:nvPr/>
        </p:nvSpPr>
        <p:spPr>
          <a:xfrm>
            <a:off x="962025" y="4462463"/>
            <a:ext cx="16363950" cy="9525"/>
          </a:xfrm>
          <a:prstGeom prst="rect">
            <a:avLst/>
          </a:prstGeom>
          <a:solidFill>
            <a:srgbClr val="E7ECF3"/>
          </a:solidFill>
          <a:ln/>
        </p:spPr>
      </p:sp>
      <p:sp>
        <p:nvSpPr>
          <p:cNvPr id="11" name="Text 9"/>
          <p:cNvSpPr/>
          <p:nvPr/>
        </p:nvSpPr>
        <p:spPr>
          <a:xfrm>
            <a:off x="1343025" y="3545681"/>
            <a:ext cx="3432364" cy="361950"/>
          </a:xfrm>
          <a:prstGeom prst="rect">
            <a:avLst/>
          </a:prstGeom>
          <a:noFill/>
          <a:ln/>
        </p:spPr>
        <p:txBody>
          <a:bodyPr wrap="square" lIns="25400" tIns="25400" rIns="25400" bIns="25400" rtlCol="0" anchor="t">
            <a:normAutofit/>
          </a:bodyPr>
          <a:lstStyle/>
          <a:p>
            <a:pPr algn="l" indent="0" marL="0">
              <a:buNone/>
            </a:pPr>
            <a:r>
              <a:rPr lang="en-US" sz="1950" dirty="0">
                <a:solidFill>
                  <a:srgbClr val="1E5AA8"/>
                </a:solidFill>
                <a:latin typeface="Courier New" pitchFamily="34" charset="0"/>
                <a:ea typeface="Courier New" pitchFamily="34" charset="-122"/>
                <a:cs typeface="Courier New" pitchFamily="34" charset="-120"/>
              </a:rPr>
              <a:t>67027</a:t>
            </a:r>
            <a:endParaRPr lang="en-US" sz="1950" dirty="0"/>
          </a:p>
        </p:txBody>
      </p:sp>
      <p:sp>
        <p:nvSpPr>
          <p:cNvPr id="12" name="Text 10"/>
          <p:cNvSpPr/>
          <p:nvPr/>
        </p:nvSpPr>
        <p:spPr>
          <a:xfrm>
            <a:off x="4463355" y="3540919"/>
            <a:ext cx="9725248" cy="371475"/>
          </a:xfrm>
          <a:prstGeom prst="rect">
            <a:avLst/>
          </a:prstGeom>
          <a:noFill/>
          <a:ln/>
        </p:spPr>
        <p:txBody>
          <a:bodyPr wrap="square" lIns="25400" tIns="25400" rIns="25400" bIns="25400" rtlCol="0" anchor="t">
            <a:normAutofit/>
          </a:bodyPr>
          <a:lstStyle/>
          <a:p>
            <a:pPr algn="l" indent="0" marL="0">
              <a:buNone/>
            </a:pPr>
            <a:r>
              <a:rPr lang="en-US" sz="2025" dirty="0">
                <a:solidFill>
                  <a:srgbClr val="16233A"/>
                </a:solidFill>
                <a:latin typeface="Arial" pitchFamily="34" charset="0"/>
                <a:ea typeface="Arial" pitchFamily="34" charset="-122"/>
                <a:cs typeface="Arial" pitchFamily="34" charset="-120"/>
              </a:rPr>
              <a:t>A process was created — internal Windows executables</a:t>
            </a:r>
            <a:endParaRPr lang="en-US" sz="2025" dirty="0"/>
          </a:p>
        </p:txBody>
      </p:sp>
      <p:sp>
        <p:nvSpPr>
          <p:cNvPr id="13" name="Text 11"/>
          <p:cNvSpPr/>
          <p:nvPr/>
        </p:nvSpPr>
        <p:spPr>
          <a:xfrm>
            <a:off x="13304490" y="3555206"/>
            <a:ext cx="400437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E9B5F"/>
                </a:solidFill>
                <a:latin typeface="Courier New" pitchFamily="34" charset="0"/>
                <a:ea typeface="Courier New" pitchFamily="34" charset="-122"/>
                <a:cs typeface="Courier New" pitchFamily="34" charset="-120"/>
              </a:rPr>
              <a:t>Execution</a:t>
            </a:r>
            <a:endParaRPr lang="en-US" sz="1800" dirty="0"/>
          </a:p>
        </p:txBody>
      </p:sp>
      <p:sp>
        <p:nvSpPr>
          <p:cNvPr id="14" name="Shape 12"/>
          <p:cNvSpPr/>
          <p:nvPr/>
        </p:nvSpPr>
        <p:spPr>
          <a:xfrm>
            <a:off x="962025" y="4471988"/>
            <a:ext cx="16363950" cy="1519238"/>
          </a:xfrm>
          <a:prstGeom prst="rect">
            <a:avLst/>
          </a:prstGeom>
          <a:solidFill>
            <a:srgbClr val="FBEDED"/>
          </a:solidFill>
          <a:ln/>
        </p:spPr>
      </p:sp>
      <p:sp>
        <p:nvSpPr>
          <p:cNvPr id="15" name="Shape 13"/>
          <p:cNvSpPr/>
          <p:nvPr/>
        </p:nvSpPr>
        <p:spPr>
          <a:xfrm>
            <a:off x="962025" y="5981700"/>
            <a:ext cx="16363950" cy="9525"/>
          </a:xfrm>
          <a:prstGeom prst="rect">
            <a:avLst/>
          </a:prstGeom>
          <a:solidFill>
            <a:srgbClr val="E7ECF3"/>
          </a:solidFill>
          <a:ln/>
        </p:spPr>
      </p:sp>
      <p:sp>
        <p:nvSpPr>
          <p:cNvPr id="16" name="Shape 14"/>
          <p:cNvSpPr/>
          <p:nvPr/>
        </p:nvSpPr>
        <p:spPr>
          <a:xfrm>
            <a:off x="962025" y="4471988"/>
            <a:ext cx="57150" cy="1519238"/>
          </a:xfrm>
          <a:prstGeom prst="rect">
            <a:avLst/>
          </a:prstGeom>
          <a:solidFill>
            <a:srgbClr val="D64545"/>
          </a:solidFill>
          <a:ln/>
        </p:spPr>
      </p:sp>
      <p:sp>
        <p:nvSpPr>
          <p:cNvPr id="17" name="Text 15"/>
          <p:cNvSpPr/>
          <p:nvPr/>
        </p:nvSpPr>
        <p:spPr>
          <a:xfrm>
            <a:off x="1400175" y="5083969"/>
            <a:ext cx="3419758"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D64545"/>
                </a:solidFill>
                <a:latin typeface="Courier New" pitchFamily="34" charset="0"/>
                <a:ea typeface="Courier New" pitchFamily="34" charset="-122"/>
                <a:cs typeface="Courier New" pitchFamily="34" charset="-120"/>
              </a:rPr>
              <a:t>92154</a:t>
            </a:r>
            <a:endParaRPr lang="en-US" sz="1950" dirty="0"/>
          </a:p>
        </p:txBody>
      </p:sp>
      <p:sp>
        <p:nvSpPr>
          <p:cNvPr id="18" name="Text 16"/>
          <p:cNvSpPr/>
          <p:nvPr/>
        </p:nvSpPr>
        <p:spPr>
          <a:xfrm>
            <a:off x="4509046" y="5060156"/>
            <a:ext cx="9689559" cy="371475"/>
          </a:xfrm>
          <a:prstGeom prst="rect">
            <a:avLst/>
          </a:prstGeom>
          <a:noFill/>
          <a:ln/>
        </p:spPr>
        <p:txBody>
          <a:bodyPr wrap="square" lIns="25400" tIns="25400" rIns="25400" bIns="25400" rtlCol="0" anchor="t">
            <a:normAutofit/>
          </a:bodyPr>
          <a:lstStyle/>
          <a:p>
            <a:pPr algn="l" indent="0" marL="0">
              <a:buNone/>
            </a:pPr>
            <a:r>
              <a:rPr lang="en-US" sz="2025" dirty="0">
                <a:solidFill>
                  <a:srgbClr val="16233A"/>
                </a:solidFill>
                <a:latin typeface="Arial" pitchFamily="34" charset="0"/>
                <a:ea typeface="Arial" pitchFamily="34" charset="-122"/>
                <a:cs typeface="Arial" pitchFamily="34" charset="-120"/>
              </a:rPr>
              <a:t>Process loaded </a:t>
            </a:r>
            <a:pPr algn="l" indent="0" marL="0">
              <a:buNone/>
            </a:pPr>
            <a:r>
              <a:rPr lang="en-US" sz="1800" dirty="0">
                <a:solidFill>
                  <a:srgbClr val="16233A"/>
                </a:solidFill>
                <a:latin typeface="Courier New" pitchFamily="34" charset="0"/>
                <a:ea typeface="Courier New" pitchFamily="34" charset="-122"/>
                <a:cs typeface="Courier New" pitchFamily="34" charset="-120"/>
              </a:rPr>
              <a:t>taskschd.dll </a:t>
            </a:r>
            <a:pPr algn="l" indent="0" marL="0">
              <a:buNone/>
            </a:pPr>
            <a:r>
              <a:rPr lang="en-US" sz="2025" dirty="0">
                <a:solidFill>
                  <a:srgbClr val="16233A"/>
                </a:solidFill>
                <a:latin typeface="Arial" pitchFamily="34" charset="0"/>
                <a:ea typeface="Arial" pitchFamily="34" charset="-122"/>
                <a:cs typeface="Arial" pitchFamily="34" charset="-120"/>
              </a:rPr>
              <a:t>— delayed-execution persistence</a:t>
            </a:r>
            <a:endParaRPr lang="en-US" sz="2025" dirty="0"/>
          </a:p>
        </p:txBody>
      </p:sp>
      <p:sp>
        <p:nvSpPr>
          <p:cNvPr id="19" name="Text 17"/>
          <p:cNvSpPr/>
          <p:nvPr/>
        </p:nvSpPr>
        <p:spPr>
          <a:xfrm>
            <a:off x="13317736" y="5098256"/>
            <a:ext cx="3989799" cy="295275"/>
          </a:xfrm>
          <a:prstGeom prst="rect">
            <a:avLst/>
          </a:prstGeom>
          <a:noFill/>
          <a:ln/>
        </p:spPr>
        <p:txBody>
          <a:bodyPr wrap="square" lIns="25400" tIns="25400" rIns="25400" bIns="25400" rtlCol="0" anchor="t">
            <a:normAutofit/>
          </a:bodyPr>
          <a:lstStyle/>
          <a:p>
            <a:pPr algn="l" indent="0" marL="0">
              <a:buNone/>
            </a:pPr>
            <a:r>
              <a:rPr lang="en-US" sz="1800" b="1" dirty="0">
                <a:solidFill>
                  <a:srgbClr val="D64545"/>
                </a:solidFill>
                <a:latin typeface="Courier New" pitchFamily="34" charset="0"/>
                <a:ea typeface="Courier New" pitchFamily="34" charset="-122"/>
                <a:cs typeface="Courier New" pitchFamily="34" charset="-120"/>
              </a:rPr>
              <a:t>T1053</a:t>
            </a:r>
            <a:endParaRPr lang="en-US" sz="1800" dirty="0"/>
          </a:p>
        </p:txBody>
      </p:sp>
      <p:sp>
        <p:nvSpPr>
          <p:cNvPr id="20" name="Shape 18"/>
          <p:cNvSpPr/>
          <p:nvPr/>
        </p:nvSpPr>
        <p:spPr>
          <a:xfrm>
            <a:off x="962025" y="7500938"/>
            <a:ext cx="16363950" cy="9525"/>
          </a:xfrm>
          <a:prstGeom prst="rect">
            <a:avLst/>
          </a:prstGeom>
          <a:solidFill>
            <a:srgbClr val="E7ECF3"/>
          </a:solidFill>
          <a:ln/>
        </p:spPr>
      </p:sp>
      <p:sp>
        <p:nvSpPr>
          <p:cNvPr id="21" name="Text 19"/>
          <p:cNvSpPr/>
          <p:nvPr/>
        </p:nvSpPr>
        <p:spPr>
          <a:xfrm>
            <a:off x="1343025" y="6584156"/>
            <a:ext cx="3432364" cy="361950"/>
          </a:xfrm>
          <a:prstGeom prst="rect">
            <a:avLst/>
          </a:prstGeom>
          <a:noFill/>
          <a:ln/>
        </p:spPr>
        <p:txBody>
          <a:bodyPr wrap="square" lIns="25400" tIns="25400" rIns="25400" bIns="25400" rtlCol="0" anchor="t">
            <a:normAutofit/>
          </a:bodyPr>
          <a:lstStyle/>
          <a:p>
            <a:pPr algn="l" indent="0" marL="0">
              <a:buNone/>
            </a:pPr>
            <a:r>
              <a:rPr lang="en-US" sz="1950" dirty="0">
                <a:solidFill>
                  <a:srgbClr val="1E5AA8"/>
                </a:solidFill>
                <a:latin typeface="Courier New" pitchFamily="34" charset="0"/>
                <a:ea typeface="Courier New" pitchFamily="34" charset="-122"/>
                <a:cs typeface="Courier New" pitchFamily="34" charset="-120"/>
              </a:rPr>
              <a:t>100001</a:t>
            </a:r>
            <a:endParaRPr lang="en-US" sz="1950" dirty="0"/>
          </a:p>
        </p:txBody>
      </p:sp>
      <p:sp>
        <p:nvSpPr>
          <p:cNvPr id="22" name="Text 20"/>
          <p:cNvSpPr/>
          <p:nvPr/>
        </p:nvSpPr>
        <p:spPr>
          <a:xfrm>
            <a:off x="4463355" y="6579394"/>
            <a:ext cx="9725248" cy="371475"/>
          </a:xfrm>
          <a:prstGeom prst="rect">
            <a:avLst/>
          </a:prstGeom>
          <a:noFill/>
          <a:ln/>
        </p:spPr>
        <p:txBody>
          <a:bodyPr wrap="square" lIns="25400" tIns="25400" rIns="25400" bIns="25400" rtlCol="0" anchor="t">
            <a:normAutofit/>
          </a:bodyPr>
          <a:lstStyle/>
          <a:p>
            <a:pPr algn="l" indent="0" marL="0">
              <a:buNone/>
            </a:pPr>
            <a:r>
              <a:rPr lang="en-US" sz="2025" dirty="0">
                <a:solidFill>
                  <a:srgbClr val="16233A"/>
                </a:solidFill>
                <a:latin typeface="Arial" pitchFamily="34" charset="0"/>
                <a:ea typeface="Arial" pitchFamily="34" charset="-122"/>
                <a:cs typeface="Arial" pitchFamily="34" charset="-120"/>
              </a:rPr>
              <a:t>Credential dumping via lsass.exe</a:t>
            </a:r>
            <a:endParaRPr lang="en-US" sz="2025" dirty="0"/>
          </a:p>
        </p:txBody>
      </p:sp>
      <p:sp>
        <p:nvSpPr>
          <p:cNvPr id="23" name="Text 21"/>
          <p:cNvSpPr/>
          <p:nvPr/>
        </p:nvSpPr>
        <p:spPr>
          <a:xfrm>
            <a:off x="13304490" y="6593681"/>
            <a:ext cx="400437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E9B5F"/>
                </a:solidFill>
                <a:latin typeface="Courier New" pitchFamily="34" charset="0"/>
                <a:ea typeface="Courier New" pitchFamily="34" charset="-122"/>
                <a:cs typeface="Courier New" pitchFamily="34" charset="-120"/>
              </a:rPr>
              <a:t>T1003</a:t>
            </a:r>
            <a:endParaRPr lang="en-US" sz="1800" dirty="0"/>
          </a:p>
        </p:txBody>
      </p:sp>
      <p:sp>
        <p:nvSpPr>
          <p:cNvPr id="24" name="Shape 22"/>
          <p:cNvSpPr/>
          <p:nvPr/>
        </p:nvSpPr>
        <p:spPr>
          <a:xfrm>
            <a:off x="962025" y="7510462"/>
            <a:ext cx="16363950" cy="1509713"/>
          </a:xfrm>
          <a:prstGeom prst="rect">
            <a:avLst/>
          </a:prstGeom>
          <a:solidFill>
            <a:srgbClr val="F7F9FC"/>
          </a:solidFill>
          <a:ln/>
        </p:spPr>
      </p:sp>
      <p:sp>
        <p:nvSpPr>
          <p:cNvPr id="25" name="Text 23"/>
          <p:cNvSpPr/>
          <p:nvPr/>
        </p:nvSpPr>
        <p:spPr>
          <a:xfrm>
            <a:off x="1343025" y="8103394"/>
            <a:ext cx="3432364" cy="361950"/>
          </a:xfrm>
          <a:prstGeom prst="rect">
            <a:avLst/>
          </a:prstGeom>
          <a:noFill/>
          <a:ln/>
        </p:spPr>
        <p:txBody>
          <a:bodyPr wrap="square" lIns="25400" tIns="25400" rIns="25400" bIns="25400" rtlCol="0" anchor="t">
            <a:normAutofit/>
          </a:bodyPr>
          <a:lstStyle/>
          <a:p>
            <a:pPr algn="l" indent="0" marL="0">
              <a:buNone/>
            </a:pPr>
            <a:r>
              <a:rPr lang="en-US" sz="1950" dirty="0">
                <a:solidFill>
                  <a:srgbClr val="1E5AA8"/>
                </a:solidFill>
                <a:latin typeface="Courier New" pitchFamily="34" charset="0"/>
                <a:ea typeface="Courier New" pitchFamily="34" charset="-122"/>
                <a:cs typeface="Courier New" pitchFamily="34" charset="-120"/>
              </a:rPr>
              <a:t>100110</a:t>
            </a:r>
            <a:endParaRPr lang="en-US" sz="1950" dirty="0"/>
          </a:p>
        </p:txBody>
      </p:sp>
      <p:sp>
        <p:nvSpPr>
          <p:cNvPr id="26" name="Text 24"/>
          <p:cNvSpPr/>
          <p:nvPr/>
        </p:nvSpPr>
        <p:spPr>
          <a:xfrm>
            <a:off x="4463355" y="8098631"/>
            <a:ext cx="9725248" cy="371475"/>
          </a:xfrm>
          <a:prstGeom prst="rect">
            <a:avLst/>
          </a:prstGeom>
          <a:noFill/>
          <a:ln/>
        </p:spPr>
        <p:txBody>
          <a:bodyPr wrap="square" lIns="25400" tIns="25400" rIns="25400" bIns="25400" rtlCol="0" anchor="t">
            <a:normAutofit/>
          </a:bodyPr>
          <a:lstStyle/>
          <a:p>
            <a:pPr algn="l" indent="0" marL="0">
              <a:buNone/>
            </a:pPr>
            <a:r>
              <a:rPr lang="en-US" sz="2025" dirty="0">
                <a:solidFill>
                  <a:srgbClr val="16233A"/>
                </a:solidFill>
                <a:latin typeface="Arial" pitchFamily="34" charset="0"/>
                <a:ea typeface="Arial" pitchFamily="34" charset="-122"/>
                <a:cs typeface="Arial" pitchFamily="34" charset="-120"/>
              </a:rPr>
              <a:t>Registry Run-key persistence</a:t>
            </a:r>
            <a:endParaRPr lang="en-US" sz="2025" dirty="0"/>
          </a:p>
        </p:txBody>
      </p:sp>
      <p:sp>
        <p:nvSpPr>
          <p:cNvPr id="27" name="Text 25"/>
          <p:cNvSpPr/>
          <p:nvPr/>
        </p:nvSpPr>
        <p:spPr>
          <a:xfrm>
            <a:off x="13304490" y="8112919"/>
            <a:ext cx="400437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E9B5F"/>
                </a:solidFill>
                <a:latin typeface="Courier New" pitchFamily="34" charset="0"/>
                <a:ea typeface="Courier New" pitchFamily="34" charset="-122"/>
                <a:cs typeface="Courier New" pitchFamily="34" charset="-120"/>
              </a:rPr>
              <a:t>T1547</a:t>
            </a:r>
            <a:endParaRPr lang="en-US" sz="1800" dirty="0"/>
          </a:p>
        </p:txBody>
      </p:sp>
      <p:sp>
        <p:nvSpPr>
          <p:cNvPr id="28" name="Text 26"/>
          <p:cNvSpPr/>
          <p:nvPr/>
        </p:nvSpPr>
        <p:spPr>
          <a:xfrm>
            <a:off x="952500" y="9258300"/>
            <a:ext cx="180213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C0392B"/>
                </a:solidFill>
                <a:latin typeface="Arial" pitchFamily="34" charset="0"/>
                <a:ea typeface="Arial" pitchFamily="34" charset="-122"/>
                <a:cs typeface="Arial" pitchFamily="34" charset="-120"/>
              </a:rPr>
              <a:t>Rule 92154 is the critical catch </a:t>
            </a:r>
            <a:pPr algn="l" indent="0" marL="0">
              <a:buNone/>
            </a:pPr>
            <a:r>
              <a:rPr lang="en-US" sz="1800" dirty="0">
                <a:solidFill>
                  <a:srgbClr val="6B7789"/>
                </a:solidFill>
                <a:latin typeface="Arial" pitchFamily="34" charset="0"/>
                <a:ea typeface="Arial" pitchFamily="34" charset="-122"/>
                <a:cs typeface="Arial" pitchFamily="34" charset="-120"/>
              </a:rPr>
              <a:t>— loading </a:t>
            </a:r>
            <a:pPr algn="l" indent="0" marL="0">
              <a:buNone/>
            </a:pPr>
            <a:r>
              <a:rPr lang="en-US" sz="1800" dirty="0">
                <a:solidFill>
                  <a:srgbClr val="6B7789"/>
                </a:solidFill>
                <a:latin typeface="Courier New" pitchFamily="34" charset="0"/>
                <a:ea typeface="Courier New" pitchFamily="34" charset="-122"/>
                <a:cs typeface="Courier New" pitchFamily="34" charset="-120"/>
              </a:rPr>
              <a:t>taskschd.dll </a:t>
            </a:r>
            <a:pPr algn="l" indent="0" marL="0">
              <a:buNone/>
            </a:pPr>
            <a:r>
              <a:rPr lang="en-US" sz="1800" dirty="0">
                <a:solidFill>
                  <a:srgbClr val="6B7789"/>
                </a:solidFill>
                <a:latin typeface="Arial" pitchFamily="34" charset="0"/>
                <a:ea typeface="Arial" pitchFamily="34" charset="-122"/>
                <a:cs typeface="Arial" pitchFamily="34" charset="-120"/>
              </a:rPr>
              <a:t>signals a scheduled / delayed execution task, a common malware persistence technique.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3588871"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ENDPOINT TELEMETRY</a:t>
            </a:r>
            <a:endParaRPr lang="en-US" sz="1800" dirty="0"/>
          </a:p>
        </p:txBody>
      </p:sp>
      <p:sp>
        <p:nvSpPr>
          <p:cNvPr id="4" name="Text 2"/>
          <p:cNvSpPr/>
          <p:nvPr/>
        </p:nvSpPr>
        <p:spPr>
          <a:xfrm>
            <a:off x="952500" y="127635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45" kern="0" dirty="0">
                <a:solidFill>
                  <a:srgbClr val="16233A"/>
                </a:solidFill>
                <a:latin typeface="Arial" pitchFamily="34" charset="0"/>
                <a:ea typeface="Arial" pitchFamily="34" charset="-122"/>
                <a:cs typeface="Arial" pitchFamily="34" charset="-120"/>
              </a:rPr>
              <a:t>Actionable signal, not raw noise</a:t>
            </a:r>
            <a:endParaRPr lang="en-US" sz="4500" dirty="0"/>
          </a:p>
        </p:txBody>
      </p:sp>
      <p:sp>
        <p:nvSpPr>
          <p:cNvPr id="5" name="Shape 3"/>
          <p:cNvSpPr/>
          <p:nvPr/>
        </p:nvSpPr>
        <p:spPr>
          <a:xfrm>
            <a:off x="952500" y="2295525"/>
            <a:ext cx="8039100" cy="7267575"/>
          </a:xfrm>
          <a:prstGeom prst="roundRect">
            <a:avLst>
              <a:gd name="adj" fmla="val 1573"/>
            </a:avLst>
          </a:prstGeom>
          <a:solidFill>
            <a:srgbClr val="F3F6FA"/>
          </a:solidFill>
          <a:ln w="9525">
            <a:solidFill>
              <a:srgbClr val="DCE3EC"/>
            </a:solidFill>
            <a:prstDash val="solid"/>
          </a:ln>
        </p:spPr>
      </p:sp>
      <p:sp>
        <p:nvSpPr>
          <p:cNvPr id="6" name="Text 4"/>
          <p:cNvSpPr/>
          <p:nvPr/>
        </p:nvSpPr>
        <p:spPr>
          <a:xfrm>
            <a:off x="1343025" y="2667000"/>
            <a:ext cx="7983855"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16233A"/>
                </a:solidFill>
                <a:latin typeface="Arial" pitchFamily="34" charset="0"/>
                <a:ea typeface="Arial" pitchFamily="34" charset="-122"/>
                <a:cs typeface="Arial" pitchFamily="34" charset="-120"/>
              </a:rPr>
              <a:t>Sysmon &amp; Security events</a:t>
            </a:r>
            <a:endParaRPr lang="en-US" sz="2400" dirty="0"/>
          </a:p>
        </p:txBody>
      </p:sp>
      <p:sp>
        <p:nvSpPr>
          <p:cNvPr id="7" name="Text 5"/>
          <p:cNvSpPr/>
          <p:nvPr/>
        </p:nvSpPr>
        <p:spPr>
          <a:xfrm>
            <a:off x="1343025" y="3238500"/>
            <a:ext cx="7475792"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5A6779"/>
                </a:solidFill>
                <a:latin typeface="Arial" pitchFamily="34" charset="0"/>
                <a:ea typeface="Arial" pitchFamily="34" charset="-122"/>
                <a:cs typeface="Arial" pitchFamily="34" charset="-120"/>
              </a:rPr>
              <a:t>The Windows Agent integrates Microsoft Sysmon and collects targeted operational channels and Security Event IDs:</a:t>
            </a:r>
            <a:endParaRPr lang="en-US" sz="1950" dirty="0"/>
          </a:p>
        </p:txBody>
      </p:sp>
      <p:sp>
        <p:nvSpPr>
          <p:cNvPr id="8" name="Shape 6"/>
          <p:cNvSpPr/>
          <p:nvPr/>
        </p:nvSpPr>
        <p:spPr>
          <a:xfrm>
            <a:off x="1343025" y="4165997"/>
            <a:ext cx="1013520" cy="552450"/>
          </a:xfrm>
          <a:prstGeom prst="roundRect">
            <a:avLst>
              <a:gd name="adj" fmla="val 13793"/>
            </a:avLst>
          </a:prstGeom>
          <a:solidFill>
            <a:srgbClr val="E4ECF6"/>
          </a:solidFill>
          <a:ln/>
        </p:spPr>
      </p:sp>
      <p:sp>
        <p:nvSpPr>
          <p:cNvPr id="9" name="Text 7"/>
          <p:cNvSpPr/>
          <p:nvPr/>
        </p:nvSpPr>
        <p:spPr>
          <a:xfrm>
            <a:off x="1552575" y="4280297"/>
            <a:ext cx="67062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143C73"/>
                </a:solidFill>
                <a:latin typeface="Courier New" pitchFamily="34" charset="0"/>
                <a:ea typeface="Courier New" pitchFamily="34" charset="-122"/>
                <a:cs typeface="Courier New" pitchFamily="34" charset="-120"/>
              </a:rPr>
              <a:t>4624</a:t>
            </a:r>
            <a:endParaRPr lang="en-US" sz="1950" dirty="0"/>
          </a:p>
        </p:txBody>
      </p:sp>
      <p:sp>
        <p:nvSpPr>
          <p:cNvPr id="10" name="Shape 8"/>
          <p:cNvSpPr/>
          <p:nvPr/>
        </p:nvSpPr>
        <p:spPr>
          <a:xfrm>
            <a:off x="2489895" y="4165997"/>
            <a:ext cx="1013520" cy="552450"/>
          </a:xfrm>
          <a:prstGeom prst="roundRect">
            <a:avLst>
              <a:gd name="adj" fmla="val 13793"/>
            </a:avLst>
          </a:prstGeom>
          <a:solidFill>
            <a:srgbClr val="E4ECF6"/>
          </a:solidFill>
          <a:ln/>
        </p:spPr>
      </p:sp>
      <p:sp>
        <p:nvSpPr>
          <p:cNvPr id="11" name="Text 9"/>
          <p:cNvSpPr/>
          <p:nvPr/>
        </p:nvSpPr>
        <p:spPr>
          <a:xfrm>
            <a:off x="2699445" y="4280297"/>
            <a:ext cx="67062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143C73"/>
                </a:solidFill>
                <a:latin typeface="Courier New" pitchFamily="34" charset="0"/>
                <a:ea typeface="Courier New" pitchFamily="34" charset="-122"/>
                <a:cs typeface="Courier New" pitchFamily="34" charset="-120"/>
              </a:rPr>
              <a:t>4688</a:t>
            </a:r>
            <a:endParaRPr lang="en-US" sz="1950" dirty="0"/>
          </a:p>
        </p:txBody>
      </p:sp>
      <p:sp>
        <p:nvSpPr>
          <p:cNvPr id="12" name="Shape 10"/>
          <p:cNvSpPr/>
          <p:nvPr/>
        </p:nvSpPr>
        <p:spPr>
          <a:xfrm>
            <a:off x="3636764" y="4165997"/>
            <a:ext cx="1013520" cy="552450"/>
          </a:xfrm>
          <a:prstGeom prst="roundRect">
            <a:avLst>
              <a:gd name="adj" fmla="val 13793"/>
            </a:avLst>
          </a:prstGeom>
          <a:solidFill>
            <a:srgbClr val="E4ECF6"/>
          </a:solidFill>
          <a:ln/>
        </p:spPr>
      </p:sp>
      <p:sp>
        <p:nvSpPr>
          <p:cNvPr id="13" name="Text 11"/>
          <p:cNvSpPr/>
          <p:nvPr/>
        </p:nvSpPr>
        <p:spPr>
          <a:xfrm>
            <a:off x="3846314" y="4280297"/>
            <a:ext cx="67062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143C73"/>
                </a:solidFill>
                <a:latin typeface="Courier New" pitchFamily="34" charset="0"/>
                <a:ea typeface="Courier New" pitchFamily="34" charset="-122"/>
                <a:cs typeface="Courier New" pitchFamily="34" charset="-120"/>
              </a:rPr>
              <a:t>4702</a:t>
            </a:r>
            <a:endParaRPr lang="en-US" sz="1950" dirty="0"/>
          </a:p>
        </p:txBody>
      </p:sp>
      <p:sp>
        <p:nvSpPr>
          <p:cNvPr id="14" name="Shape 12"/>
          <p:cNvSpPr/>
          <p:nvPr/>
        </p:nvSpPr>
        <p:spPr>
          <a:xfrm>
            <a:off x="9296400" y="2295525"/>
            <a:ext cx="8039100" cy="7267575"/>
          </a:xfrm>
          <a:prstGeom prst="roundRect">
            <a:avLst>
              <a:gd name="adj" fmla="val 1573"/>
            </a:avLst>
          </a:prstGeom>
          <a:solidFill>
            <a:srgbClr val="F3F6FA"/>
          </a:solidFill>
          <a:ln w="9525">
            <a:solidFill>
              <a:srgbClr val="DCE3EC"/>
            </a:solidFill>
            <a:prstDash val="solid"/>
          </a:ln>
        </p:spPr>
      </p:sp>
      <p:sp>
        <p:nvSpPr>
          <p:cNvPr id="15" name="Text 13"/>
          <p:cNvSpPr/>
          <p:nvPr/>
        </p:nvSpPr>
        <p:spPr>
          <a:xfrm>
            <a:off x="9686925" y="2667000"/>
            <a:ext cx="7983855"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16233A"/>
                </a:solidFill>
                <a:latin typeface="Arial" pitchFamily="34" charset="0"/>
                <a:ea typeface="Arial" pitchFamily="34" charset="-122"/>
                <a:cs typeface="Arial" pitchFamily="34" charset="-120"/>
              </a:rPr>
              <a:t>Real-time file integrity</a:t>
            </a:r>
            <a:endParaRPr lang="en-US" sz="2400" dirty="0"/>
          </a:p>
        </p:txBody>
      </p:sp>
      <p:sp>
        <p:nvSpPr>
          <p:cNvPr id="16" name="Text 14"/>
          <p:cNvSpPr/>
          <p:nvPr/>
        </p:nvSpPr>
        <p:spPr>
          <a:xfrm>
            <a:off x="9686925" y="3238500"/>
            <a:ext cx="7475792"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5A6779"/>
                </a:solidFill>
                <a:latin typeface="Arial" pitchFamily="34" charset="0"/>
                <a:ea typeface="Arial" pitchFamily="34" charset="-122"/>
                <a:cs typeface="Arial" pitchFamily="34" charset="-120"/>
              </a:rPr>
              <a:t>The </a:t>
            </a:r>
            <a:pPr algn="l" indent="0" marL="0">
              <a:lnSpc>
                <a:spcPct val="145000"/>
              </a:lnSpc>
              <a:buNone/>
            </a:pPr>
            <a:r>
              <a:rPr lang="en-US" sz="1800" dirty="0">
                <a:solidFill>
                  <a:srgbClr val="5A6779"/>
                </a:solidFill>
                <a:latin typeface="Courier New" pitchFamily="34" charset="0"/>
                <a:ea typeface="Courier New" pitchFamily="34" charset="-122"/>
                <a:cs typeface="Courier New" pitchFamily="34" charset="-120"/>
              </a:rPr>
              <a:t>&lt;syscheck&gt; </a:t>
            </a:r>
            <a:pPr algn="l" indent="0" marL="0">
              <a:lnSpc>
                <a:spcPct val="145000"/>
              </a:lnSpc>
              <a:buNone/>
            </a:pPr>
            <a:r>
              <a:rPr lang="en-US" sz="1950" dirty="0">
                <a:solidFill>
                  <a:srgbClr val="5A6779"/>
                </a:solidFill>
                <a:latin typeface="Arial" pitchFamily="34" charset="0"/>
                <a:ea typeface="Arial" pitchFamily="34" charset="-122"/>
                <a:cs typeface="Arial" pitchFamily="34" charset="-120"/>
              </a:rPr>
              <a:t>module runs FIM on DVWA web-upload paths and critical registry keys:</a:t>
            </a:r>
            <a:endParaRPr lang="en-US" sz="1950" dirty="0"/>
          </a:p>
        </p:txBody>
      </p:sp>
      <p:sp>
        <p:nvSpPr>
          <p:cNvPr id="17" name="Text 15"/>
          <p:cNvSpPr/>
          <p:nvPr/>
        </p:nvSpPr>
        <p:spPr>
          <a:xfrm>
            <a:off x="9686925" y="4165997"/>
            <a:ext cx="798385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48566A"/>
                </a:solidFill>
                <a:latin typeface="Arial" pitchFamily="34" charset="0"/>
                <a:ea typeface="Arial" pitchFamily="34" charset="-122"/>
                <a:cs typeface="Arial" pitchFamily="34" charset="-120"/>
              </a:rPr>
              <a:t>Web-shell uploads — </a:t>
            </a:r>
            <a:pPr algn="l" indent="0" marL="0">
              <a:buNone/>
            </a:pPr>
            <a:r>
              <a:rPr lang="en-US" sz="1800" dirty="0">
                <a:solidFill>
                  <a:srgbClr val="143C73"/>
                </a:solidFill>
                <a:latin typeface="Courier New" pitchFamily="34" charset="0"/>
                <a:ea typeface="Courier New" pitchFamily="34" charset="-122"/>
                <a:cs typeface="Courier New" pitchFamily="34" charset="-120"/>
              </a:rPr>
              <a:t>.php · .php5 · .phtml</a:t>
            </a:r>
            <a:endParaRPr lang="en-US" sz="1875" dirty="0"/>
          </a:p>
        </p:txBody>
      </p:sp>
      <p:sp>
        <p:nvSpPr>
          <p:cNvPr id="18" name="Text 16"/>
          <p:cNvSpPr/>
          <p:nvPr/>
        </p:nvSpPr>
        <p:spPr>
          <a:xfrm>
            <a:off x="9686925" y="4594622"/>
            <a:ext cx="798385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48566A"/>
                </a:solidFill>
                <a:latin typeface="Arial" pitchFamily="34" charset="0"/>
                <a:ea typeface="Arial" pitchFamily="34" charset="-122"/>
                <a:cs typeface="Arial" pitchFamily="34" charset="-120"/>
              </a:rPr>
              <a:t>Registry — </a:t>
            </a:r>
            <a:pPr algn="l" indent="0" marL="0">
              <a:buNone/>
            </a:pPr>
            <a:r>
              <a:rPr lang="en-US" sz="1800" dirty="0">
                <a:solidFill>
                  <a:srgbClr val="143C73"/>
                </a:solidFill>
                <a:latin typeface="Courier New" pitchFamily="34" charset="0"/>
                <a:ea typeface="Courier New" pitchFamily="34" charset="-122"/>
                <a:cs typeface="Courier New" pitchFamily="34" charset="-120"/>
              </a:rPr>
              <a:t>Run · RunOnce · Winlogon</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5140032"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AUTOMATED DISCORD ALERTING</a:t>
            </a:r>
            <a:endParaRPr lang="en-US" sz="1800" dirty="0"/>
          </a:p>
        </p:txBody>
      </p:sp>
      <p:sp>
        <p:nvSpPr>
          <p:cNvPr id="4" name="Text 2"/>
          <p:cNvSpPr/>
          <p:nvPr/>
        </p:nvSpPr>
        <p:spPr>
          <a:xfrm>
            <a:off x="952500" y="127635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45" kern="0" dirty="0">
                <a:solidFill>
                  <a:srgbClr val="16233A"/>
                </a:solidFill>
                <a:latin typeface="Arial" pitchFamily="34" charset="0"/>
                <a:ea typeface="Arial" pitchFamily="34" charset="-122"/>
                <a:cs typeface="Arial" pitchFamily="34" charset="-120"/>
              </a:rPr>
              <a:t>Turning an alert into a color-coded card</a:t>
            </a:r>
            <a:endParaRPr lang="en-US" sz="4500" dirty="0"/>
          </a:p>
        </p:txBody>
      </p:sp>
      <p:sp>
        <p:nvSpPr>
          <p:cNvPr id="5" name="Shape 3"/>
          <p:cNvSpPr/>
          <p:nvPr/>
        </p:nvSpPr>
        <p:spPr>
          <a:xfrm>
            <a:off x="952500" y="2257425"/>
            <a:ext cx="5295900" cy="5857875"/>
          </a:xfrm>
          <a:prstGeom prst="roundRect">
            <a:avLst>
              <a:gd name="adj" fmla="val 2158"/>
            </a:avLst>
          </a:prstGeom>
          <a:solidFill>
            <a:srgbClr val="F3F6FA"/>
          </a:solidFill>
          <a:ln w="9525">
            <a:solidFill>
              <a:srgbClr val="DCE3EC"/>
            </a:solidFill>
            <a:prstDash val="solid"/>
          </a:ln>
        </p:spPr>
      </p:sp>
      <p:sp>
        <p:nvSpPr>
          <p:cNvPr id="6" name="Text 4"/>
          <p:cNvSpPr/>
          <p:nvPr/>
        </p:nvSpPr>
        <p:spPr>
          <a:xfrm>
            <a:off x="1247775" y="2571750"/>
            <a:ext cx="5175885"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16233A"/>
                </a:solidFill>
                <a:latin typeface="Arial" pitchFamily="34" charset="0"/>
                <a:ea typeface="Arial" pitchFamily="34" charset="-122"/>
                <a:cs typeface="Arial" pitchFamily="34" charset="-120"/>
              </a:rPr>
              <a:t>JSON parsing</a:t>
            </a:r>
            <a:endParaRPr lang="en-US" sz="2025" dirty="0"/>
          </a:p>
        </p:txBody>
      </p:sp>
      <p:sp>
        <p:nvSpPr>
          <p:cNvPr id="7" name="Text 5"/>
          <p:cNvSpPr/>
          <p:nvPr/>
        </p:nvSpPr>
        <p:spPr>
          <a:xfrm>
            <a:off x="1247775" y="3019425"/>
            <a:ext cx="4846511"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6779"/>
                </a:solidFill>
                <a:latin typeface="Arial" pitchFamily="34" charset="0"/>
                <a:ea typeface="Arial" pitchFamily="34" charset="-122"/>
                <a:cs typeface="Arial" pitchFamily="34" charset="-120"/>
              </a:rPr>
              <a:t>Reads the alert file from the integrator daemon and isolates the rule and data objects.</a:t>
            </a:r>
            <a:endParaRPr lang="en-US" sz="1800" dirty="0"/>
          </a:p>
        </p:txBody>
      </p:sp>
      <p:sp>
        <p:nvSpPr>
          <p:cNvPr id="8" name="Shape 6"/>
          <p:cNvSpPr/>
          <p:nvPr/>
        </p:nvSpPr>
        <p:spPr>
          <a:xfrm>
            <a:off x="6496050" y="2257425"/>
            <a:ext cx="5295900" cy="5857875"/>
          </a:xfrm>
          <a:prstGeom prst="roundRect">
            <a:avLst>
              <a:gd name="adj" fmla="val 2158"/>
            </a:avLst>
          </a:prstGeom>
          <a:solidFill>
            <a:srgbClr val="F3F6FA"/>
          </a:solidFill>
          <a:ln w="9525">
            <a:solidFill>
              <a:srgbClr val="DCE3EC"/>
            </a:solidFill>
            <a:prstDash val="solid"/>
          </a:ln>
        </p:spPr>
      </p:sp>
      <p:sp>
        <p:nvSpPr>
          <p:cNvPr id="9" name="Text 7"/>
          <p:cNvSpPr/>
          <p:nvPr/>
        </p:nvSpPr>
        <p:spPr>
          <a:xfrm>
            <a:off x="6791325" y="2571750"/>
            <a:ext cx="5175885"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16233A"/>
                </a:solidFill>
                <a:latin typeface="Arial" pitchFamily="34" charset="0"/>
                <a:ea typeface="Arial" pitchFamily="34" charset="-122"/>
                <a:cs typeface="Arial" pitchFamily="34" charset="-120"/>
              </a:rPr>
              <a:t>Smart IP extraction</a:t>
            </a:r>
            <a:endParaRPr lang="en-US" sz="2025" dirty="0"/>
          </a:p>
        </p:txBody>
      </p:sp>
      <p:sp>
        <p:nvSpPr>
          <p:cNvPr id="10" name="Text 8"/>
          <p:cNvSpPr/>
          <p:nvPr/>
        </p:nvSpPr>
        <p:spPr>
          <a:xfrm>
            <a:off x="6791325" y="3019425"/>
            <a:ext cx="4846511"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6779"/>
                </a:solidFill>
                <a:latin typeface="Arial" pitchFamily="34" charset="0"/>
                <a:ea typeface="Arial" pitchFamily="34" charset="-122"/>
                <a:cs typeface="Arial" pitchFamily="34" charset="-120"/>
              </a:rPr>
              <a:t>Searches </a:t>
            </a:r>
            <a:pPr algn="l" indent="0" marL="0">
              <a:lnSpc>
                <a:spcPct val="140000"/>
              </a:lnSpc>
              <a:buNone/>
            </a:pPr>
            <a:r>
              <a:rPr lang="en-US" sz="1800" dirty="0">
                <a:solidFill>
                  <a:srgbClr val="5A6779"/>
                </a:solidFill>
                <a:latin typeface="Courier New" pitchFamily="34" charset="0"/>
                <a:ea typeface="Courier New" pitchFamily="34" charset="-122"/>
                <a:cs typeface="Courier New" pitchFamily="34" charset="-120"/>
              </a:rPr>
              <a:t>data.srcip </a:t>
            </a:r>
            <a:pPr algn="l" indent="0" marL="0">
              <a:lnSpc>
                <a:spcPct val="140000"/>
              </a:lnSpc>
              <a:buNone/>
            </a:pPr>
            <a:r>
              <a:rPr lang="en-US" sz="1800" dirty="0">
                <a:solidFill>
                  <a:srgbClr val="5A6779"/>
                </a:solidFill>
                <a:latin typeface="Arial" pitchFamily="34" charset="0"/>
                <a:ea typeface="Arial" pitchFamily="34" charset="-122"/>
                <a:cs typeface="Arial" pitchFamily="34" charset="-120"/>
              </a:rPr>
              <a:t>then </a:t>
            </a:r>
            <a:pPr algn="l" indent="0" marL="0">
              <a:lnSpc>
                <a:spcPct val="140000"/>
              </a:lnSpc>
              <a:buNone/>
            </a:pPr>
            <a:r>
              <a:rPr lang="en-US" sz="1800" dirty="0">
                <a:solidFill>
                  <a:srgbClr val="5A6779"/>
                </a:solidFill>
                <a:latin typeface="Courier New" pitchFamily="34" charset="0"/>
                <a:ea typeface="Courier New" pitchFamily="34" charset="-122"/>
                <a:cs typeface="Courier New" pitchFamily="34" charset="-120"/>
              </a:rPr>
              <a:t>win.eventdata.ipAddress </a:t>
            </a:r>
            <a:pPr algn="l" indent="0" marL="0">
              <a:lnSpc>
                <a:spcPct val="140000"/>
              </a:lnSpc>
              <a:buNone/>
            </a:pPr>
            <a:r>
              <a:rPr lang="en-US" sz="1800" dirty="0">
                <a:solidFill>
                  <a:srgbClr val="5A6779"/>
                </a:solidFill>
                <a:latin typeface="Arial" pitchFamily="34" charset="0"/>
                <a:ea typeface="Arial" pitchFamily="34" charset="-122"/>
                <a:cs typeface="Arial" pitchFamily="34" charset="-120"/>
              </a:rPr>
              <a:t>; internal system events with no source fall back to N/A.</a:t>
            </a:r>
            <a:endParaRPr lang="en-US" sz="1800" dirty="0"/>
          </a:p>
        </p:txBody>
      </p:sp>
      <p:sp>
        <p:nvSpPr>
          <p:cNvPr id="11" name="Shape 9"/>
          <p:cNvSpPr/>
          <p:nvPr/>
        </p:nvSpPr>
        <p:spPr>
          <a:xfrm>
            <a:off x="12039600" y="2257425"/>
            <a:ext cx="5295900" cy="5857875"/>
          </a:xfrm>
          <a:prstGeom prst="roundRect">
            <a:avLst>
              <a:gd name="adj" fmla="val 2158"/>
            </a:avLst>
          </a:prstGeom>
          <a:solidFill>
            <a:srgbClr val="F3F6FA"/>
          </a:solidFill>
          <a:ln w="9525">
            <a:solidFill>
              <a:srgbClr val="DCE3EC"/>
            </a:solidFill>
            <a:prstDash val="solid"/>
          </a:ln>
        </p:spPr>
      </p:sp>
      <p:sp>
        <p:nvSpPr>
          <p:cNvPr id="12" name="Text 10"/>
          <p:cNvSpPr/>
          <p:nvPr/>
        </p:nvSpPr>
        <p:spPr>
          <a:xfrm>
            <a:off x="12334875" y="2571750"/>
            <a:ext cx="5175885"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16233A"/>
                </a:solidFill>
                <a:latin typeface="Arial" pitchFamily="34" charset="0"/>
                <a:ea typeface="Arial" pitchFamily="34" charset="-122"/>
                <a:cs typeface="Arial" pitchFamily="34" charset="-120"/>
              </a:rPr>
              <a:t>Dynamic color</a:t>
            </a:r>
            <a:endParaRPr lang="en-US" sz="2025" dirty="0"/>
          </a:p>
        </p:txBody>
      </p:sp>
      <p:sp>
        <p:nvSpPr>
          <p:cNvPr id="13" name="Text 11"/>
          <p:cNvSpPr/>
          <p:nvPr/>
        </p:nvSpPr>
        <p:spPr>
          <a:xfrm>
            <a:off x="12334875" y="3019425"/>
            <a:ext cx="4846511"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6779"/>
                </a:solidFill>
                <a:latin typeface="Arial" pitchFamily="34" charset="0"/>
                <a:ea typeface="Arial" pitchFamily="34" charset="-122"/>
                <a:cs typeface="Arial" pitchFamily="34" charset="-120"/>
              </a:rPr>
              <a:t>Maps the Wazuh severity level to the embed border color, then POSTs to the webhook.</a:t>
            </a:r>
            <a:endParaRPr lang="en-US" sz="1800" dirty="0"/>
          </a:p>
        </p:txBody>
      </p:sp>
      <p:sp>
        <p:nvSpPr>
          <p:cNvPr id="14" name="Shape 12"/>
          <p:cNvSpPr/>
          <p:nvPr/>
        </p:nvSpPr>
        <p:spPr>
          <a:xfrm>
            <a:off x="952500" y="8439150"/>
            <a:ext cx="5295900" cy="1123950"/>
          </a:xfrm>
          <a:prstGeom prst="roundRect">
            <a:avLst>
              <a:gd name="adj" fmla="val 8475"/>
            </a:avLst>
          </a:prstGeom>
          <a:solidFill>
            <a:srgbClr val="FFFFFF"/>
          </a:solidFill>
          <a:ln/>
        </p:spPr>
      </p:sp>
      <p:sp>
        <p:nvSpPr>
          <p:cNvPr id="15" name="Shape 13"/>
          <p:cNvSpPr/>
          <p:nvPr/>
        </p:nvSpPr>
        <p:spPr>
          <a:xfrm>
            <a:off x="952500" y="9553575"/>
            <a:ext cx="5295900" cy="9525"/>
          </a:xfrm>
          <a:prstGeom prst="rect">
            <a:avLst/>
          </a:prstGeom>
          <a:solidFill>
            <a:srgbClr val="DCE3EC"/>
          </a:solidFill>
          <a:ln/>
        </p:spPr>
      </p:sp>
      <p:sp>
        <p:nvSpPr>
          <p:cNvPr id="16" name="Shape 14"/>
          <p:cNvSpPr/>
          <p:nvPr/>
        </p:nvSpPr>
        <p:spPr>
          <a:xfrm>
            <a:off x="952500" y="8439150"/>
            <a:ext cx="5295900" cy="9525"/>
          </a:xfrm>
          <a:prstGeom prst="rect">
            <a:avLst/>
          </a:prstGeom>
          <a:solidFill>
            <a:srgbClr val="DCE3EC"/>
          </a:solidFill>
          <a:ln/>
        </p:spPr>
      </p:sp>
      <p:sp>
        <p:nvSpPr>
          <p:cNvPr id="17" name="Shape 15"/>
          <p:cNvSpPr/>
          <p:nvPr/>
        </p:nvSpPr>
        <p:spPr>
          <a:xfrm>
            <a:off x="952500" y="8439150"/>
            <a:ext cx="95250" cy="1123950"/>
          </a:xfrm>
          <a:prstGeom prst="rect">
            <a:avLst/>
          </a:prstGeom>
          <a:solidFill>
            <a:srgbClr val="3E9B5F"/>
          </a:solidFill>
          <a:ln/>
        </p:spPr>
      </p:sp>
      <p:sp>
        <p:nvSpPr>
          <p:cNvPr id="18" name="Shape 16"/>
          <p:cNvSpPr/>
          <p:nvPr/>
        </p:nvSpPr>
        <p:spPr>
          <a:xfrm>
            <a:off x="6238875" y="8439150"/>
            <a:ext cx="9525" cy="1123950"/>
          </a:xfrm>
          <a:prstGeom prst="rect">
            <a:avLst/>
          </a:prstGeom>
          <a:solidFill>
            <a:srgbClr val="DCE3EC"/>
          </a:solidFill>
          <a:ln/>
        </p:spPr>
      </p:sp>
      <p:sp>
        <p:nvSpPr>
          <p:cNvPr id="19" name="Text 17"/>
          <p:cNvSpPr/>
          <p:nvPr/>
        </p:nvSpPr>
        <p:spPr>
          <a:xfrm>
            <a:off x="1314450" y="8677275"/>
            <a:ext cx="216786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16233A"/>
                </a:solidFill>
                <a:latin typeface="Arial" pitchFamily="34" charset="0"/>
                <a:ea typeface="Arial" pitchFamily="34" charset="-122"/>
                <a:cs typeface="Arial" pitchFamily="34" charset="-120"/>
              </a:rPr>
              <a:t>Green</a:t>
            </a:r>
            <a:endParaRPr lang="en-US" sz="2100" dirty="0"/>
          </a:p>
        </p:txBody>
      </p:sp>
      <p:sp>
        <p:nvSpPr>
          <p:cNvPr id="20" name="Text 18"/>
          <p:cNvSpPr/>
          <p:nvPr/>
        </p:nvSpPr>
        <p:spPr>
          <a:xfrm>
            <a:off x="1314450" y="9020175"/>
            <a:ext cx="216786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789"/>
                </a:solidFill>
                <a:latin typeface="Arial" pitchFamily="34" charset="0"/>
                <a:ea typeface="Arial" pitchFamily="34" charset="-122"/>
                <a:cs typeface="Arial" pitchFamily="34" charset="-120"/>
              </a:rPr>
              <a:t>Level 1–4 · low risk</a:t>
            </a:r>
            <a:endParaRPr lang="en-US" sz="1800" dirty="0"/>
          </a:p>
        </p:txBody>
      </p:sp>
      <p:sp>
        <p:nvSpPr>
          <p:cNvPr id="21" name="Shape 19"/>
          <p:cNvSpPr/>
          <p:nvPr/>
        </p:nvSpPr>
        <p:spPr>
          <a:xfrm>
            <a:off x="6496050" y="8439150"/>
            <a:ext cx="5295900" cy="1123950"/>
          </a:xfrm>
          <a:prstGeom prst="roundRect">
            <a:avLst>
              <a:gd name="adj" fmla="val 8475"/>
            </a:avLst>
          </a:prstGeom>
          <a:solidFill>
            <a:srgbClr val="FFFFFF"/>
          </a:solidFill>
          <a:ln/>
        </p:spPr>
      </p:sp>
      <p:sp>
        <p:nvSpPr>
          <p:cNvPr id="22" name="Shape 20"/>
          <p:cNvSpPr/>
          <p:nvPr/>
        </p:nvSpPr>
        <p:spPr>
          <a:xfrm>
            <a:off x="6496050" y="9553575"/>
            <a:ext cx="5295900" cy="9525"/>
          </a:xfrm>
          <a:prstGeom prst="rect">
            <a:avLst/>
          </a:prstGeom>
          <a:solidFill>
            <a:srgbClr val="DCE3EC"/>
          </a:solidFill>
          <a:ln/>
        </p:spPr>
      </p:sp>
      <p:sp>
        <p:nvSpPr>
          <p:cNvPr id="23" name="Shape 21"/>
          <p:cNvSpPr/>
          <p:nvPr/>
        </p:nvSpPr>
        <p:spPr>
          <a:xfrm>
            <a:off x="6496050" y="8439150"/>
            <a:ext cx="5295900" cy="9525"/>
          </a:xfrm>
          <a:prstGeom prst="rect">
            <a:avLst/>
          </a:prstGeom>
          <a:solidFill>
            <a:srgbClr val="DCE3EC"/>
          </a:solidFill>
          <a:ln/>
        </p:spPr>
      </p:sp>
      <p:sp>
        <p:nvSpPr>
          <p:cNvPr id="24" name="Shape 22"/>
          <p:cNvSpPr/>
          <p:nvPr/>
        </p:nvSpPr>
        <p:spPr>
          <a:xfrm>
            <a:off x="6496050" y="8439150"/>
            <a:ext cx="95250" cy="1123950"/>
          </a:xfrm>
          <a:prstGeom prst="rect">
            <a:avLst/>
          </a:prstGeom>
          <a:solidFill>
            <a:srgbClr val="E08A2B"/>
          </a:solidFill>
          <a:ln/>
        </p:spPr>
      </p:sp>
      <p:sp>
        <p:nvSpPr>
          <p:cNvPr id="25" name="Shape 23"/>
          <p:cNvSpPr/>
          <p:nvPr/>
        </p:nvSpPr>
        <p:spPr>
          <a:xfrm>
            <a:off x="11782425" y="8439150"/>
            <a:ext cx="9525" cy="1123950"/>
          </a:xfrm>
          <a:prstGeom prst="rect">
            <a:avLst/>
          </a:prstGeom>
          <a:solidFill>
            <a:srgbClr val="DCE3EC"/>
          </a:solidFill>
          <a:ln/>
        </p:spPr>
      </p:sp>
      <p:sp>
        <p:nvSpPr>
          <p:cNvPr id="26" name="Text 24"/>
          <p:cNvSpPr/>
          <p:nvPr/>
        </p:nvSpPr>
        <p:spPr>
          <a:xfrm>
            <a:off x="6858000" y="8677275"/>
            <a:ext cx="2695501"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16233A"/>
                </a:solidFill>
                <a:latin typeface="Arial" pitchFamily="34" charset="0"/>
                <a:ea typeface="Arial" pitchFamily="34" charset="-122"/>
                <a:cs typeface="Arial" pitchFamily="34" charset="-120"/>
              </a:rPr>
              <a:t>Orange</a:t>
            </a:r>
            <a:endParaRPr lang="en-US" sz="2100" dirty="0"/>
          </a:p>
        </p:txBody>
      </p:sp>
      <p:sp>
        <p:nvSpPr>
          <p:cNvPr id="27" name="Text 25"/>
          <p:cNvSpPr/>
          <p:nvPr/>
        </p:nvSpPr>
        <p:spPr>
          <a:xfrm>
            <a:off x="6858000" y="9020175"/>
            <a:ext cx="269550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789"/>
                </a:solidFill>
                <a:latin typeface="Arial" pitchFamily="34" charset="0"/>
                <a:ea typeface="Arial" pitchFamily="34" charset="-122"/>
                <a:cs typeface="Arial" pitchFamily="34" charset="-120"/>
              </a:rPr>
              <a:t>Level 5–9 · medium risk</a:t>
            </a:r>
            <a:endParaRPr lang="en-US" sz="1800" dirty="0"/>
          </a:p>
        </p:txBody>
      </p:sp>
      <p:sp>
        <p:nvSpPr>
          <p:cNvPr id="28" name="Shape 26"/>
          <p:cNvSpPr/>
          <p:nvPr/>
        </p:nvSpPr>
        <p:spPr>
          <a:xfrm>
            <a:off x="12039600" y="8439150"/>
            <a:ext cx="5295900" cy="1123950"/>
          </a:xfrm>
          <a:prstGeom prst="roundRect">
            <a:avLst>
              <a:gd name="adj" fmla="val 8475"/>
            </a:avLst>
          </a:prstGeom>
          <a:solidFill>
            <a:srgbClr val="FFFFFF"/>
          </a:solidFill>
          <a:ln/>
        </p:spPr>
      </p:sp>
      <p:sp>
        <p:nvSpPr>
          <p:cNvPr id="29" name="Shape 27"/>
          <p:cNvSpPr/>
          <p:nvPr/>
        </p:nvSpPr>
        <p:spPr>
          <a:xfrm>
            <a:off x="12039600" y="9553575"/>
            <a:ext cx="5295900" cy="9525"/>
          </a:xfrm>
          <a:prstGeom prst="rect">
            <a:avLst/>
          </a:prstGeom>
          <a:solidFill>
            <a:srgbClr val="DCE3EC"/>
          </a:solidFill>
          <a:ln/>
        </p:spPr>
      </p:sp>
      <p:sp>
        <p:nvSpPr>
          <p:cNvPr id="30" name="Shape 28"/>
          <p:cNvSpPr/>
          <p:nvPr/>
        </p:nvSpPr>
        <p:spPr>
          <a:xfrm>
            <a:off x="12039600" y="8439150"/>
            <a:ext cx="5295900" cy="9525"/>
          </a:xfrm>
          <a:prstGeom prst="rect">
            <a:avLst/>
          </a:prstGeom>
          <a:solidFill>
            <a:srgbClr val="DCE3EC"/>
          </a:solidFill>
          <a:ln/>
        </p:spPr>
      </p:sp>
      <p:sp>
        <p:nvSpPr>
          <p:cNvPr id="31" name="Shape 29"/>
          <p:cNvSpPr/>
          <p:nvPr/>
        </p:nvSpPr>
        <p:spPr>
          <a:xfrm>
            <a:off x="12039600" y="8439150"/>
            <a:ext cx="95250" cy="1123950"/>
          </a:xfrm>
          <a:prstGeom prst="rect">
            <a:avLst/>
          </a:prstGeom>
          <a:solidFill>
            <a:srgbClr val="D64545"/>
          </a:solidFill>
          <a:ln/>
        </p:spPr>
      </p:sp>
      <p:sp>
        <p:nvSpPr>
          <p:cNvPr id="32" name="Shape 30"/>
          <p:cNvSpPr/>
          <p:nvPr/>
        </p:nvSpPr>
        <p:spPr>
          <a:xfrm>
            <a:off x="17325975" y="8439150"/>
            <a:ext cx="9525" cy="1123950"/>
          </a:xfrm>
          <a:prstGeom prst="rect">
            <a:avLst/>
          </a:prstGeom>
          <a:solidFill>
            <a:srgbClr val="DCE3EC"/>
          </a:solidFill>
          <a:ln/>
        </p:spPr>
      </p:sp>
      <p:sp>
        <p:nvSpPr>
          <p:cNvPr id="33" name="Text 31"/>
          <p:cNvSpPr/>
          <p:nvPr/>
        </p:nvSpPr>
        <p:spPr>
          <a:xfrm>
            <a:off x="12401550" y="8677275"/>
            <a:ext cx="2758529"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16233A"/>
                </a:solidFill>
                <a:latin typeface="Arial" pitchFamily="34" charset="0"/>
                <a:ea typeface="Arial" pitchFamily="34" charset="-122"/>
                <a:cs typeface="Arial" pitchFamily="34" charset="-120"/>
              </a:rPr>
              <a:t>Red</a:t>
            </a:r>
            <a:endParaRPr lang="en-US" sz="2100" dirty="0"/>
          </a:p>
        </p:txBody>
      </p:sp>
      <p:sp>
        <p:nvSpPr>
          <p:cNvPr id="34" name="Text 32"/>
          <p:cNvSpPr/>
          <p:nvPr/>
        </p:nvSpPr>
        <p:spPr>
          <a:xfrm>
            <a:off x="12401550" y="9020175"/>
            <a:ext cx="275852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789"/>
                </a:solidFill>
                <a:latin typeface="Arial" pitchFamily="34" charset="0"/>
                <a:ea typeface="Arial" pitchFamily="34" charset="-122"/>
                <a:cs typeface="Arial" pitchFamily="34" charset="-120"/>
              </a:rPr>
              <a:t>Level 10+ · high / critical</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A2E"/>
        </a:solidFill>
      </p:bgPr>
    </p:bg>
    <p:spTree>
      <p:nvGrpSpPr>
        <p:cNvPr id="1" name=""/>
        <p:cNvGrpSpPr/>
        <p:nvPr/>
      </p:nvGrpSpPr>
      <p:grpSpPr>
        <a:xfrm>
          <a:off x="0" y="0"/>
          <a:ext cx="0" cy="0"/>
          <a:chOff x="0" y="0"/>
          <a:chExt cx="0" cy="0"/>
        </a:xfrm>
      </p:grpSpPr>
      <p:sp>
        <p:nvSpPr>
          <p:cNvPr id="2" name="Shape 0"/>
          <p:cNvSpPr/>
          <p:nvPr/>
        </p:nvSpPr>
        <p:spPr>
          <a:xfrm>
            <a:off x="952500" y="876300"/>
            <a:ext cx="323850" cy="38100"/>
          </a:xfrm>
          <a:prstGeom prst="roundRect">
            <a:avLst>
              <a:gd name="adj" fmla="val 50000"/>
            </a:avLst>
          </a:prstGeom>
          <a:solidFill>
            <a:srgbClr val="3E9B5F"/>
          </a:solidFill>
          <a:ln/>
        </p:spPr>
      </p:sp>
      <p:sp>
        <p:nvSpPr>
          <p:cNvPr id="3" name="Text 1"/>
          <p:cNvSpPr/>
          <p:nvPr/>
        </p:nvSpPr>
        <p:spPr>
          <a:xfrm>
            <a:off x="1409700" y="762000"/>
            <a:ext cx="4945707"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6F9BD6"/>
                </a:solidFill>
                <a:latin typeface="Arial" pitchFamily="34" charset="0"/>
                <a:ea typeface="Arial" pitchFamily="34" charset="-122"/>
                <a:cs typeface="Arial" pitchFamily="34" charset="-120"/>
              </a:rPr>
              <a:t>IMPLEMENTATION · LISTING 5.2</a:t>
            </a:r>
            <a:endParaRPr lang="en-US" sz="1800" dirty="0"/>
          </a:p>
        </p:txBody>
      </p:sp>
      <p:sp>
        <p:nvSpPr>
          <p:cNvPr id="4" name="Text 2"/>
          <p:cNvSpPr/>
          <p:nvPr/>
        </p:nvSpPr>
        <p:spPr>
          <a:xfrm>
            <a:off x="952500" y="1181100"/>
            <a:ext cx="18021300"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39" kern="0" dirty="0">
                <a:solidFill>
                  <a:srgbClr val="FFFFFF"/>
                </a:solidFill>
                <a:latin typeface="Arial" pitchFamily="34" charset="0"/>
                <a:ea typeface="Arial" pitchFamily="34" charset="-122"/>
                <a:cs typeface="Arial" pitchFamily="34" charset="-120"/>
              </a:rPr>
              <a:t>Smart IP parsing &amp; dynamic severity color</a:t>
            </a:r>
            <a:endParaRPr lang="en-US" sz="3900" dirty="0"/>
          </a:p>
        </p:txBody>
      </p:sp>
      <p:sp>
        <p:nvSpPr>
          <p:cNvPr id="5" name="Shape 3"/>
          <p:cNvSpPr/>
          <p:nvPr/>
        </p:nvSpPr>
        <p:spPr>
          <a:xfrm>
            <a:off x="952500" y="1986855"/>
            <a:ext cx="16383000" cy="7614345"/>
          </a:xfrm>
          <a:prstGeom prst="roundRect">
            <a:avLst>
              <a:gd name="adj" fmla="val 1751"/>
            </a:avLst>
          </a:prstGeom>
          <a:solidFill>
            <a:srgbClr val="08111F"/>
          </a:solidFill>
          <a:ln w="9525">
            <a:solidFill>
              <a:srgbClr val="22344E"/>
            </a:solidFill>
            <a:prstDash val="solid"/>
          </a:ln>
        </p:spPr>
      </p:sp>
      <p:sp>
        <p:nvSpPr>
          <p:cNvPr id="6" name="Text 4"/>
          <p:cNvSpPr/>
          <p:nvPr/>
        </p:nvSpPr>
        <p:spPr>
          <a:xfrm>
            <a:off x="1362075" y="3771900"/>
            <a:ext cx="17120235" cy="436662"/>
          </a:xfrm>
          <a:prstGeom prst="rect">
            <a:avLst/>
          </a:prstGeom>
          <a:noFill/>
          <a:ln/>
        </p:spPr>
        <p:txBody>
          <a:bodyPr wrap="square" lIns="25400" tIns="25400" rIns="25400" bIns="25400" rtlCol="0" anchor="t">
            <a:normAutofit/>
          </a:bodyPr>
          <a:lstStyle/>
          <a:p>
            <a:pPr algn="l" indent="0" marL="0">
              <a:lnSpc>
                <a:spcPct val="155000"/>
              </a:lnSpc>
              <a:buNone/>
            </a:pPr>
            <a:r>
              <a:rPr lang="en-US" sz="2025" dirty="0">
                <a:solidFill>
                  <a:srgbClr val="6B7C93"/>
                </a:solidFill>
                <a:latin typeface="Courier New" pitchFamily="34" charset="0"/>
                <a:ea typeface="Courier New" pitchFamily="34" charset="-122"/>
                <a:cs typeface="Courier New" pitchFamily="34" charset="-120"/>
              </a:rPr>
              <a:t># source IP — network field, else Windows field, else N/A</a:t>
            </a:r>
            <a:endParaRPr lang="en-US" sz="2025" dirty="0"/>
          </a:p>
        </p:txBody>
      </p:sp>
      <p:sp>
        <p:nvSpPr>
          <p:cNvPr id="7" name="Text 5"/>
          <p:cNvSpPr/>
          <p:nvPr/>
        </p:nvSpPr>
        <p:spPr>
          <a:xfrm>
            <a:off x="1362075" y="4170462"/>
            <a:ext cx="17120235" cy="436662"/>
          </a:xfrm>
          <a:prstGeom prst="rect">
            <a:avLst/>
          </a:prstGeom>
          <a:noFill/>
          <a:ln/>
        </p:spPr>
        <p:txBody>
          <a:bodyPr wrap="square" lIns="25400" tIns="25400" rIns="25400" bIns="25400" rtlCol="0" anchor="t">
            <a:normAutofit/>
          </a:bodyPr>
          <a:lstStyle/>
          <a:p>
            <a:pPr algn="l" indent="0" marL="0">
              <a:lnSpc>
                <a:spcPct val="155000"/>
              </a:lnSpc>
              <a:buNone/>
            </a:pPr>
            <a:r>
              <a:rPr lang="en-US" sz="2025" dirty="0">
                <a:solidFill>
                  <a:srgbClr val="C7D2E0"/>
                </a:solidFill>
                <a:latin typeface="Courier New" pitchFamily="34" charset="0"/>
                <a:ea typeface="Courier New" pitchFamily="34" charset="-122"/>
                <a:cs typeface="Courier New" pitchFamily="34" charset="-120"/>
              </a:rPr>
              <a:t>src_ip = (data.get(</a:t>
            </a:r>
            <a:pPr algn="l" indent="0" marL="0">
              <a:lnSpc>
                <a:spcPct val="155000"/>
              </a:lnSpc>
              <a:buNone/>
            </a:pPr>
            <a:r>
              <a:rPr lang="en-US" sz="2025" dirty="0">
                <a:solidFill>
                  <a:srgbClr val="7FD19B"/>
                </a:solidFill>
                <a:latin typeface="Courier New" pitchFamily="34" charset="0"/>
                <a:ea typeface="Courier New" pitchFamily="34" charset="-122"/>
                <a:cs typeface="Courier New" pitchFamily="34" charset="-120"/>
              </a:rPr>
              <a:t>"srcip"</a:t>
            </a:r>
            <a:pPr algn="l" indent="0" marL="0">
              <a:lnSpc>
                <a:spcPct val="155000"/>
              </a:lnSpc>
              <a:buNone/>
            </a:pPr>
            <a:r>
              <a:rPr lang="en-US" sz="2025" dirty="0">
                <a:solidFill>
                  <a:srgbClr val="C7D2E0"/>
                </a:solidFill>
                <a:latin typeface="Courier New" pitchFamily="34" charset="0"/>
                <a:ea typeface="Courier New" pitchFamily="34" charset="-122"/>
                <a:cs typeface="Courier New" pitchFamily="34" charset="-120"/>
              </a:rPr>
              <a:t>)</a:t>
            </a:r>
            <a:endParaRPr lang="en-US" sz="2025" dirty="0"/>
          </a:p>
        </p:txBody>
      </p:sp>
      <p:sp>
        <p:nvSpPr>
          <p:cNvPr id="8" name="Text 6"/>
          <p:cNvSpPr/>
          <p:nvPr/>
        </p:nvSpPr>
        <p:spPr>
          <a:xfrm>
            <a:off x="1732407" y="4569023"/>
            <a:ext cx="16749903" cy="436662"/>
          </a:xfrm>
          <a:prstGeom prst="rect">
            <a:avLst/>
          </a:prstGeom>
          <a:noFill/>
          <a:ln/>
        </p:spPr>
        <p:txBody>
          <a:bodyPr wrap="square" lIns="25400" tIns="25400" rIns="25400" bIns="25400" rtlCol="0" anchor="t">
            <a:normAutofit/>
          </a:bodyPr>
          <a:lstStyle/>
          <a:p>
            <a:pPr algn="l" indent="0" marL="0">
              <a:lnSpc>
                <a:spcPct val="155000"/>
              </a:lnSpc>
              <a:buNone/>
            </a:pPr>
            <a:r>
              <a:rPr lang="en-US" sz="2025" dirty="0">
                <a:solidFill>
                  <a:srgbClr val="E0A85B"/>
                </a:solidFill>
                <a:latin typeface="Courier New" pitchFamily="34" charset="0"/>
                <a:ea typeface="Courier New" pitchFamily="34" charset="-122"/>
                <a:cs typeface="Courier New" pitchFamily="34" charset="-120"/>
              </a:rPr>
              <a:t>or </a:t>
            </a:r>
            <a:pPr algn="l" indent="0" marL="0">
              <a:lnSpc>
                <a:spcPct val="155000"/>
              </a:lnSpc>
              <a:buNone/>
            </a:pPr>
            <a:r>
              <a:rPr lang="en-US" sz="2025" dirty="0">
                <a:solidFill>
                  <a:srgbClr val="C7D2E0"/>
                </a:solidFill>
                <a:latin typeface="Courier New" pitchFamily="34" charset="0"/>
                <a:ea typeface="Courier New" pitchFamily="34" charset="-122"/>
                <a:cs typeface="Courier New" pitchFamily="34" charset="-120"/>
              </a:rPr>
              <a:t>data.get(</a:t>
            </a:r>
            <a:pPr algn="l" indent="0" marL="0">
              <a:lnSpc>
                <a:spcPct val="155000"/>
              </a:lnSpc>
              <a:buNone/>
            </a:pPr>
            <a:r>
              <a:rPr lang="en-US" sz="2025" dirty="0">
                <a:solidFill>
                  <a:srgbClr val="7FD19B"/>
                </a:solidFill>
                <a:latin typeface="Courier New" pitchFamily="34" charset="0"/>
                <a:ea typeface="Courier New" pitchFamily="34" charset="-122"/>
                <a:cs typeface="Courier New" pitchFamily="34" charset="-120"/>
              </a:rPr>
              <a:t>"win"</a:t>
            </a:r>
            <a:pPr algn="l" indent="0" marL="0">
              <a:lnSpc>
                <a:spcPct val="155000"/>
              </a:lnSpc>
              <a:buNone/>
            </a:pPr>
            <a:r>
              <a:rPr lang="en-US" sz="2025" dirty="0">
                <a:solidFill>
                  <a:srgbClr val="C7D2E0"/>
                </a:solidFill>
                <a:latin typeface="Courier New" pitchFamily="34" charset="0"/>
                <a:ea typeface="Courier New" pitchFamily="34" charset="-122"/>
                <a:cs typeface="Courier New" pitchFamily="34" charset="-120"/>
              </a:rPr>
              <a:t>, {}).get(</a:t>
            </a:r>
            <a:pPr algn="l" indent="0" marL="0">
              <a:lnSpc>
                <a:spcPct val="155000"/>
              </a:lnSpc>
              <a:buNone/>
            </a:pPr>
            <a:r>
              <a:rPr lang="en-US" sz="2025" dirty="0">
                <a:solidFill>
                  <a:srgbClr val="7FD19B"/>
                </a:solidFill>
                <a:latin typeface="Courier New" pitchFamily="34" charset="0"/>
                <a:ea typeface="Courier New" pitchFamily="34" charset="-122"/>
                <a:cs typeface="Courier New" pitchFamily="34" charset="-120"/>
              </a:rPr>
              <a:t>"eventdata"</a:t>
            </a:r>
            <a:pPr algn="l" indent="0" marL="0">
              <a:lnSpc>
                <a:spcPct val="155000"/>
              </a:lnSpc>
              <a:buNone/>
            </a:pPr>
            <a:r>
              <a:rPr lang="en-US" sz="2025" dirty="0">
                <a:solidFill>
                  <a:srgbClr val="C7D2E0"/>
                </a:solidFill>
                <a:latin typeface="Courier New" pitchFamily="34" charset="0"/>
                <a:ea typeface="Courier New" pitchFamily="34" charset="-122"/>
                <a:cs typeface="Courier New" pitchFamily="34" charset="-120"/>
              </a:rPr>
              <a:t>, {}).get(</a:t>
            </a:r>
            <a:pPr algn="l" indent="0" marL="0">
              <a:lnSpc>
                <a:spcPct val="155000"/>
              </a:lnSpc>
              <a:buNone/>
            </a:pPr>
            <a:r>
              <a:rPr lang="en-US" sz="2025" dirty="0">
                <a:solidFill>
                  <a:srgbClr val="7FD19B"/>
                </a:solidFill>
                <a:latin typeface="Courier New" pitchFamily="34" charset="0"/>
                <a:ea typeface="Courier New" pitchFamily="34" charset="-122"/>
                <a:cs typeface="Courier New" pitchFamily="34" charset="-120"/>
              </a:rPr>
              <a:t>"ipAddress"</a:t>
            </a:r>
            <a:pPr algn="l" indent="0" marL="0">
              <a:lnSpc>
                <a:spcPct val="155000"/>
              </a:lnSpc>
              <a:buNone/>
            </a:pPr>
            <a:r>
              <a:rPr lang="en-US" sz="2025" dirty="0">
                <a:solidFill>
                  <a:srgbClr val="C7D2E0"/>
                </a:solidFill>
                <a:latin typeface="Courier New" pitchFamily="34" charset="0"/>
                <a:ea typeface="Courier New" pitchFamily="34" charset="-122"/>
                <a:cs typeface="Courier New" pitchFamily="34" charset="-120"/>
              </a:rPr>
              <a:t>)</a:t>
            </a:r>
            <a:endParaRPr lang="en-US" sz="2025" dirty="0"/>
          </a:p>
        </p:txBody>
      </p:sp>
      <p:sp>
        <p:nvSpPr>
          <p:cNvPr id="9" name="Text 7"/>
          <p:cNvSpPr/>
          <p:nvPr/>
        </p:nvSpPr>
        <p:spPr>
          <a:xfrm>
            <a:off x="1732407" y="4967585"/>
            <a:ext cx="16749903" cy="436662"/>
          </a:xfrm>
          <a:prstGeom prst="rect">
            <a:avLst/>
          </a:prstGeom>
          <a:noFill/>
          <a:ln/>
        </p:spPr>
        <p:txBody>
          <a:bodyPr wrap="square" lIns="25400" tIns="25400" rIns="25400" bIns="25400" rtlCol="0" anchor="t">
            <a:normAutofit/>
          </a:bodyPr>
          <a:lstStyle/>
          <a:p>
            <a:pPr algn="l" indent="0" marL="0">
              <a:lnSpc>
                <a:spcPct val="155000"/>
              </a:lnSpc>
              <a:buNone/>
            </a:pPr>
            <a:r>
              <a:rPr lang="en-US" sz="2025" dirty="0">
                <a:solidFill>
                  <a:srgbClr val="E0A85B"/>
                </a:solidFill>
                <a:latin typeface="Courier New" pitchFamily="34" charset="0"/>
                <a:ea typeface="Courier New" pitchFamily="34" charset="-122"/>
                <a:cs typeface="Courier New" pitchFamily="34" charset="-120"/>
              </a:rPr>
              <a:t>or </a:t>
            </a:r>
            <a:pPr algn="l" indent="0" marL="0">
              <a:lnSpc>
                <a:spcPct val="155000"/>
              </a:lnSpc>
              <a:buNone/>
            </a:pPr>
            <a:r>
              <a:rPr lang="en-US" sz="2025" dirty="0">
                <a:solidFill>
                  <a:srgbClr val="7FD19B"/>
                </a:solidFill>
                <a:latin typeface="Courier New" pitchFamily="34" charset="0"/>
                <a:ea typeface="Courier New" pitchFamily="34" charset="-122"/>
                <a:cs typeface="Courier New" pitchFamily="34" charset="-120"/>
              </a:rPr>
              <a:t>"N/A"</a:t>
            </a:r>
            <a:pPr algn="l" indent="0" marL="0">
              <a:lnSpc>
                <a:spcPct val="155000"/>
              </a:lnSpc>
              <a:buNone/>
            </a:pPr>
            <a:r>
              <a:rPr lang="en-US" sz="2025" dirty="0">
                <a:solidFill>
                  <a:srgbClr val="C7D2E0"/>
                </a:solidFill>
                <a:latin typeface="Courier New" pitchFamily="34" charset="0"/>
                <a:ea typeface="Courier New" pitchFamily="34" charset="-122"/>
                <a:cs typeface="Courier New" pitchFamily="34" charset="-120"/>
              </a:rPr>
              <a:t>)</a:t>
            </a:r>
            <a:endParaRPr lang="en-US" sz="2025" dirty="0"/>
          </a:p>
        </p:txBody>
      </p:sp>
      <p:sp>
        <p:nvSpPr>
          <p:cNvPr id="10" name="Text 8"/>
          <p:cNvSpPr/>
          <p:nvPr/>
        </p:nvSpPr>
        <p:spPr>
          <a:xfrm>
            <a:off x="1362075" y="5594747"/>
            <a:ext cx="17120235" cy="436662"/>
          </a:xfrm>
          <a:prstGeom prst="rect">
            <a:avLst/>
          </a:prstGeom>
          <a:noFill/>
          <a:ln/>
        </p:spPr>
        <p:txBody>
          <a:bodyPr wrap="square" lIns="25400" tIns="25400" rIns="25400" bIns="25400" rtlCol="0" anchor="t">
            <a:normAutofit/>
          </a:bodyPr>
          <a:lstStyle/>
          <a:p>
            <a:pPr algn="l" indent="0" marL="0">
              <a:lnSpc>
                <a:spcPct val="155000"/>
              </a:lnSpc>
              <a:buNone/>
            </a:pPr>
            <a:r>
              <a:rPr lang="en-US" sz="2025" dirty="0">
                <a:solidFill>
                  <a:srgbClr val="6B7C93"/>
                </a:solidFill>
                <a:latin typeface="Courier New" pitchFamily="34" charset="0"/>
                <a:ea typeface="Courier New" pitchFamily="34" charset="-122"/>
                <a:cs typeface="Courier New" pitchFamily="34" charset="-120"/>
              </a:rPr>
              <a:t># embed color from the Wazuh severity level</a:t>
            </a:r>
            <a:endParaRPr lang="en-US" sz="2025" dirty="0"/>
          </a:p>
        </p:txBody>
      </p:sp>
      <p:sp>
        <p:nvSpPr>
          <p:cNvPr id="11" name="Text 9"/>
          <p:cNvSpPr/>
          <p:nvPr/>
        </p:nvSpPr>
        <p:spPr>
          <a:xfrm>
            <a:off x="1362075" y="5993309"/>
            <a:ext cx="17120235" cy="436662"/>
          </a:xfrm>
          <a:prstGeom prst="rect">
            <a:avLst/>
          </a:prstGeom>
          <a:noFill/>
          <a:ln/>
        </p:spPr>
        <p:txBody>
          <a:bodyPr wrap="square" lIns="25400" tIns="25400" rIns="25400" bIns="25400" rtlCol="0" anchor="t">
            <a:normAutofit/>
          </a:bodyPr>
          <a:lstStyle/>
          <a:p>
            <a:pPr algn="l" indent="0" marL="0">
              <a:lnSpc>
                <a:spcPct val="155000"/>
              </a:lnSpc>
              <a:buNone/>
            </a:pPr>
            <a:r>
              <a:rPr lang="en-US" sz="2025" dirty="0">
                <a:solidFill>
                  <a:srgbClr val="E0A85B"/>
                </a:solidFill>
                <a:latin typeface="Courier New" pitchFamily="34" charset="0"/>
                <a:ea typeface="Courier New" pitchFamily="34" charset="-122"/>
                <a:cs typeface="Courier New" pitchFamily="34" charset="-120"/>
              </a:rPr>
              <a:t>if </a:t>
            </a:r>
            <a:pPr algn="l" indent="0" marL="0">
              <a:lnSpc>
                <a:spcPct val="155000"/>
              </a:lnSpc>
              <a:buNone/>
            </a:pPr>
            <a:r>
              <a:rPr lang="en-US" sz="2025" dirty="0">
                <a:solidFill>
                  <a:srgbClr val="C7D2E0"/>
                </a:solidFill>
                <a:latin typeface="Courier New" pitchFamily="34" charset="0"/>
                <a:ea typeface="Courier New" pitchFamily="34" charset="-122"/>
                <a:cs typeface="Courier New" pitchFamily="34" charset="-120"/>
              </a:rPr>
              <a:t>level &gt;= </a:t>
            </a:r>
            <a:pPr algn="l" indent="0" marL="0">
              <a:lnSpc>
                <a:spcPct val="155000"/>
              </a:lnSpc>
              <a:buNone/>
            </a:pPr>
            <a:r>
              <a:rPr lang="en-US" sz="2025" dirty="0">
                <a:solidFill>
                  <a:srgbClr val="79B8FF"/>
                </a:solidFill>
                <a:latin typeface="Courier New" pitchFamily="34" charset="0"/>
                <a:ea typeface="Courier New" pitchFamily="34" charset="-122"/>
                <a:cs typeface="Courier New" pitchFamily="34" charset="-120"/>
              </a:rPr>
              <a:t>10</a:t>
            </a:r>
            <a:pPr algn="l" indent="0" marL="0">
              <a:lnSpc>
                <a:spcPct val="155000"/>
              </a:lnSpc>
              <a:buNone/>
            </a:pPr>
            <a:r>
              <a:rPr lang="en-US" sz="2025" dirty="0">
                <a:solidFill>
                  <a:srgbClr val="C7D2E0"/>
                </a:solidFill>
                <a:latin typeface="Courier New" pitchFamily="34" charset="0"/>
                <a:ea typeface="Courier New" pitchFamily="34" charset="-122"/>
                <a:cs typeface="Courier New" pitchFamily="34" charset="-120"/>
              </a:rPr>
              <a:t>: color = </a:t>
            </a:r>
            <a:pPr algn="l" indent="0" marL="0">
              <a:lnSpc>
                <a:spcPct val="155000"/>
              </a:lnSpc>
              <a:buNone/>
            </a:pPr>
            <a:r>
              <a:rPr lang="en-US" sz="2025" dirty="0">
                <a:solidFill>
                  <a:srgbClr val="E86A63"/>
                </a:solidFill>
                <a:latin typeface="Courier New" pitchFamily="34" charset="0"/>
                <a:ea typeface="Courier New" pitchFamily="34" charset="-122"/>
                <a:cs typeface="Courier New" pitchFamily="34" charset="-120"/>
              </a:rPr>
              <a:t>0xE74C3C</a:t>
            </a:r>
            <a:endParaRPr lang="en-US" sz="2025" dirty="0"/>
          </a:p>
        </p:txBody>
      </p:sp>
      <p:sp>
        <p:nvSpPr>
          <p:cNvPr id="12" name="Text 10"/>
          <p:cNvSpPr/>
          <p:nvPr/>
        </p:nvSpPr>
        <p:spPr>
          <a:xfrm>
            <a:off x="1362075" y="6391870"/>
            <a:ext cx="17120235" cy="436662"/>
          </a:xfrm>
          <a:prstGeom prst="rect">
            <a:avLst/>
          </a:prstGeom>
          <a:noFill/>
          <a:ln/>
        </p:spPr>
        <p:txBody>
          <a:bodyPr wrap="square" lIns="25400" tIns="25400" rIns="25400" bIns="25400" rtlCol="0" anchor="t">
            <a:normAutofit/>
          </a:bodyPr>
          <a:lstStyle/>
          <a:p>
            <a:pPr algn="l" indent="0" marL="0">
              <a:lnSpc>
                <a:spcPct val="155000"/>
              </a:lnSpc>
              <a:buNone/>
            </a:pPr>
            <a:r>
              <a:rPr lang="en-US" sz="2025" dirty="0">
                <a:solidFill>
                  <a:srgbClr val="E0A85B"/>
                </a:solidFill>
                <a:latin typeface="Courier New" pitchFamily="34" charset="0"/>
                <a:ea typeface="Courier New" pitchFamily="34" charset="-122"/>
                <a:cs typeface="Courier New" pitchFamily="34" charset="-120"/>
              </a:rPr>
              <a:t>elif </a:t>
            </a:r>
            <a:pPr algn="l" indent="0" marL="0">
              <a:lnSpc>
                <a:spcPct val="155000"/>
              </a:lnSpc>
              <a:buNone/>
            </a:pPr>
            <a:r>
              <a:rPr lang="en-US" sz="2025" dirty="0">
                <a:solidFill>
                  <a:srgbClr val="C7D2E0"/>
                </a:solidFill>
                <a:latin typeface="Courier New" pitchFamily="34" charset="0"/>
                <a:ea typeface="Courier New" pitchFamily="34" charset="-122"/>
                <a:cs typeface="Courier New" pitchFamily="34" charset="-120"/>
              </a:rPr>
              <a:t>level &gt;= </a:t>
            </a:r>
            <a:pPr algn="l" indent="0" marL="0">
              <a:lnSpc>
                <a:spcPct val="155000"/>
              </a:lnSpc>
              <a:buNone/>
            </a:pPr>
            <a:r>
              <a:rPr lang="en-US" sz="2025" dirty="0">
                <a:solidFill>
                  <a:srgbClr val="79B8FF"/>
                </a:solidFill>
                <a:latin typeface="Courier New" pitchFamily="34" charset="0"/>
                <a:ea typeface="Courier New" pitchFamily="34" charset="-122"/>
                <a:cs typeface="Courier New" pitchFamily="34" charset="-120"/>
              </a:rPr>
              <a:t>5</a:t>
            </a:r>
            <a:pPr algn="l" indent="0" marL="0">
              <a:lnSpc>
                <a:spcPct val="155000"/>
              </a:lnSpc>
              <a:buNone/>
            </a:pPr>
            <a:r>
              <a:rPr lang="en-US" sz="2025" dirty="0">
                <a:solidFill>
                  <a:srgbClr val="C7D2E0"/>
                </a:solidFill>
                <a:latin typeface="Courier New" pitchFamily="34" charset="0"/>
                <a:ea typeface="Courier New" pitchFamily="34" charset="-122"/>
                <a:cs typeface="Courier New" pitchFamily="34" charset="-120"/>
              </a:rPr>
              <a:t>: color = </a:t>
            </a:r>
            <a:pPr algn="l" indent="0" marL="0">
              <a:lnSpc>
                <a:spcPct val="155000"/>
              </a:lnSpc>
              <a:buNone/>
            </a:pPr>
            <a:r>
              <a:rPr lang="en-US" sz="2025" dirty="0">
                <a:solidFill>
                  <a:srgbClr val="E8A24B"/>
                </a:solidFill>
                <a:latin typeface="Courier New" pitchFamily="34" charset="0"/>
                <a:ea typeface="Courier New" pitchFamily="34" charset="-122"/>
                <a:cs typeface="Courier New" pitchFamily="34" charset="-120"/>
              </a:rPr>
              <a:t>0xE67E22</a:t>
            </a:r>
            <a:endParaRPr lang="en-US" sz="2025" dirty="0"/>
          </a:p>
        </p:txBody>
      </p:sp>
      <p:sp>
        <p:nvSpPr>
          <p:cNvPr id="13" name="Text 11"/>
          <p:cNvSpPr/>
          <p:nvPr/>
        </p:nvSpPr>
        <p:spPr>
          <a:xfrm>
            <a:off x="1362075" y="6790432"/>
            <a:ext cx="17120235" cy="436662"/>
          </a:xfrm>
          <a:prstGeom prst="rect">
            <a:avLst/>
          </a:prstGeom>
          <a:noFill/>
          <a:ln/>
        </p:spPr>
        <p:txBody>
          <a:bodyPr wrap="square" lIns="25400" tIns="25400" rIns="25400" bIns="25400" rtlCol="0" anchor="t">
            <a:normAutofit/>
          </a:bodyPr>
          <a:lstStyle/>
          <a:p>
            <a:pPr algn="l" indent="0" marL="0">
              <a:lnSpc>
                <a:spcPct val="155000"/>
              </a:lnSpc>
              <a:buNone/>
            </a:pPr>
            <a:r>
              <a:rPr lang="en-US" sz="2025" dirty="0">
                <a:solidFill>
                  <a:srgbClr val="E0A85B"/>
                </a:solidFill>
                <a:latin typeface="Courier New" pitchFamily="34" charset="0"/>
                <a:ea typeface="Courier New" pitchFamily="34" charset="-122"/>
                <a:cs typeface="Courier New" pitchFamily="34" charset="-120"/>
              </a:rPr>
              <a:t>else</a:t>
            </a:r>
            <a:pPr algn="l" indent="0" marL="0">
              <a:lnSpc>
                <a:spcPct val="155000"/>
              </a:lnSpc>
              <a:buNone/>
            </a:pPr>
            <a:r>
              <a:rPr lang="en-US" sz="2025" dirty="0">
                <a:solidFill>
                  <a:srgbClr val="C7D2E0"/>
                </a:solidFill>
                <a:latin typeface="Courier New" pitchFamily="34" charset="0"/>
                <a:ea typeface="Courier New" pitchFamily="34" charset="-122"/>
                <a:cs typeface="Courier New" pitchFamily="34" charset="-120"/>
              </a:rPr>
              <a:t>: color = </a:t>
            </a:r>
            <a:pPr algn="l" indent="0" marL="0">
              <a:lnSpc>
                <a:spcPct val="155000"/>
              </a:lnSpc>
              <a:buNone/>
            </a:pPr>
            <a:r>
              <a:rPr lang="en-US" sz="2025" dirty="0">
                <a:solidFill>
                  <a:srgbClr val="6FCF97"/>
                </a:solidFill>
                <a:latin typeface="Courier New" pitchFamily="34" charset="0"/>
                <a:ea typeface="Courier New" pitchFamily="34" charset="-122"/>
                <a:cs typeface="Courier New" pitchFamily="34" charset="-120"/>
              </a:rPr>
              <a:t>0x2ECC71</a:t>
            </a:r>
            <a:endParaRPr lang="en-US" sz="2025" dirty="0"/>
          </a:p>
        </p:txBody>
      </p:sp>
      <p:sp>
        <p:nvSpPr>
          <p:cNvPr id="14" name="Text 12"/>
          <p:cNvSpPr/>
          <p:nvPr/>
        </p:nvSpPr>
        <p:spPr>
          <a:xfrm>
            <a:off x="1362075" y="7417594"/>
            <a:ext cx="17120235" cy="436662"/>
          </a:xfrm>
          <a:prstGeom prst="rect">
            <a:avLst/>
          </a:prstGeom>
          <a:noFill/>
          <a:ln/>
        </p:spPr>
        <p:txBody>
          <a:bodyPr wrap="square" lIns="25400" tIns="25400" rIns="25400" bIns="25400" rtlCol="0" anchor="t">
            <a:normAutofit/>
          </a:bodyPr>
          <a:lstStyle/>
          <a:p>
            <a:pPr algn="l" indent="0" marL="0">
              <a:lnSpc>
                <a:spcPct val="155000"/>
              </a:lnSpc>
              <a:buNone/>
            </a:pPr>
            <a:r>
              <a:rPr lang="en-US" sz="2025" dirty="0">
                <a:solidFill>
                  <a:srgbClr val="C7D2E0"/>
                </a:solidFill>
                <a:latin typeface="Courier New" pitchFamily="34" charset="0"/>
                <a:ea typeface="Courier New" pitchFamily="34" charset="-122"/>
                <a:cs typeface="Courier New" pitchFamily="34" charset="-120"/>
              </a:rPr>
              <a:t>requests.post(hook_url, json=embed)</a:t>
            </a:r>
            <a:endParaRPr lang="en-US" sz="20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3C73"/>
        </a:solidFill>
      </p:bgPr>
    </p:bg>
    <p:spTree>
      <p:nvGrpSpPr>
        <p:cNvPr id="1" name=""/>
        <p:cNvGrpSpPr/>
        <p:nvPr/>
      </p:nvGrpSpPr>
      <p:grpSpPr>
        <a:xfrm>
          <a:off x="0" y="0"/>
          <a:ext cx="0" cy="0"/>
          <a:chOff x="0" y="0"/>
          <a:chExt cx="0" cy="0"/>
        </a:xfrm>
      </p:grpSpPr>
      <p:sp>
        <p:nvSpPr>
          <p:cNvPr id="2" name="Text 0"/>
          <p:cNvSpPr/>
          <p:nvPr/>
        </p:nvSpPr>
        <p:spPr>
          <a:xfrm>
            <a:off x="952500" y="3126135"/>
            <a:ext cx="18021300" cy="1924050"/>
          </a:xfrm>
          <a:prstGeom prst="rect">
            <a:avLst/>
          </a:prstGeom>
          <a:noFill/>
          <a:ln/>
        </p:spPr>
        <p:txBody>
          <a:bodyPr wrap="square" lIns="25400" tIns="25400" rIns="25400" bIns="25400" rtlCol="0" anchor="t">
            <a:normAutofit/>
          </a:bodyPr>
          <a:lstStyle/>
          <a:p>
            <a:pPr algn="l" indent="0" marL="0">
              <a:lnSpc>
                <a:spcPct val="90000"/>
              </a:lnSpc>
              <a:buNone/>
            </a:pPr>
            <a:r>
              <a:rPr lang="en-US" sz="16500" b="1" dirty="0">
                <a:ln w="19050">
                  <a:solidFill>
                    <a:srgbClr val="4C86C9"/>
                  </a:solidFill>
                </a:ln>
                <a:solidFill>
                  <a:srgbClr val="000000">
                    <a:alpha val="0"/>
                  </a:srgbClr>
                </a:solidFill>
                <a:latin typeface="Arial" pitchFamily="34" charset="0"/>
                <a:ea typeface="Arial" pitchFamily="34" charset="-122"/>
                <a:cs typeface="Arial" pitchFamily="34" charset="-120"/>
              </a:rPr>
              <a:t>04</a:t>
            </a:r>
            <a:endParaRPr lang="en-US" sz="16500" dirty="0"/>
          </a:p>
        </p:txBody>
      </p:sp>
      <p:sp>
        <p:nvSpPr>
          <p:cNvPr id="3" name="Shape 1"/>
          <p:cNvSpPr/>
          <p:nvPr/>
        </p:nvSpPr>
        <p:spPr>
          <a:xfrm>
            <a:off x="952500" y="5521672"/>
            <a:ext cx="666750" cy="47625"/>
          </a:xfrm>
          <a:prstGeom prst="roundRect">
            <a:avLst>
              <a:gd name="adj" fmla="val 50000"/>
            </a:avLst>
          </a:prstGeom>
          <a:solidFill>
            <a:srgbClr val="3E9B5F"/>
          </a:solidFill>
          <a:ln/>
        </p:spPr>
      </p:sp>
      <p:sp>
        <p:nvSpPr>
          <p:cNvPr id="4" name="Text 2"/>
          <p:cNvSpPr/>
          <p:nvPr/>
        </p:nvSpPr>
        <p:spPr>
          <a:xfrm>
            <a:off x="1828800" y="5107335"/>
            <a:ext cx="3535501" cy="914400"/>
          </a:xfrm>
          <a:prstGeom prst="rect">
            <a:avLst/>
          </a:prstGeom>
          <a:noFill/>
          <a:ln/>
        </p:spPr>
        <p:txBody>
          <a:bodyPr wrap="none" lIns="25400" tIns="25400" rIns="25400" bIns="25400" rtlCol="0" anchor="t">
            <a:normAutofit/>
          </a:bodyPr>
          <a:lstStyle/>
          <a:p>
            <a:pPr algn="l" indent="0" marL="0">
              <a:buNone/>
            </a:pPr>
            <a:r>
              <a:rPr lang="en-US" sz="6000" b="1" spc="-60" kern="0" dirty="0">
                <a:solidFill>
                  <a:srgbClr val="FFFFFF"/>
                </a:solidFill>
                <a:latin typeface="Arial" pitchFamily="34" charset="0"/>
                <a:ea typeface="Arial" pitchFamily="34" charset="-122"/>
                <a:cs typeface="Arial" pitchFamily="34" charset="-120"/>
              </a:rPr>
              <a:t>Validation</a:t>
            </a:r>
            <a:endParaRPr lang="en-US" sz="6000" dirty="0"/>
          </a:p>
        </p:txBody>
      </p:sp>
      <p:sp>
        <p:nvSpPr>
          <p:cNvPr id="5" name="Text 3"/>
          <p:cNvSpPr/>
          <p:nvPr/>
        </p:nvSpPr>
        <p:spPr>
          <a:xfrm>
            <a:off x="952500" y="6307485"/>
            <a:ext cx="11772900" cy="89148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B6C8E0"/>
                </a:solidFill>
                <a:latin typeface="Arial" pitchFamily="34" charset="0"/>
                <a:ea typeface="Arial" pitchFamily="34" charset="-122"/>
                <a:cs typeface="Arial" pitchFamily="34" charset="-120"/>
              </a:rPr>
              <a:t>A simulated internal endpoint threat, the real dashboards it lit up, and the test results.</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D64545"/>
          </a:solidFill>
          <a:ln/>
        </p:spPr>
      </p:sp>
      <p:sp>
        <p:nvSpPr>
          <p:cNvPr id="3" name="Text 1"/>
          <p:cNvSpPr/>
          <p:nvPr/>
        </p:nvSpPr>
        <p:spPr>
          <a:xfrm>
            <a:off x="1409700" y="838200"/>
            <a:ext cx="5127099"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D64545"/>
                </a:solidFill>
                <a:latin typeface="Arial" pitchFamily="34" charset="0"/>
                <a:ea typeface="Arial" pitchFamily="34" charset="-122"/>
                <a:cs typeface="Arial" pitchFamily="34" charset="-120"/>
              </a:rPr>
              <a:t>THREAT SIMULATION · THE TEST</a:t>
            </a:r>
            <a:endParaRPr lang="en-US" sz="1800" dirty="0"/>
          </a:p>
        </p:txBody>
      </p:sp>
      <p:sp>
        <p:nvSpPr>
          <p:cNvPr id="4" name="Text 2"/>
          <p:cNvSpPr/>
          <p:nvPr/>
        </p:nvSpPr>
        <p:spPr>
          <a:xfrm>
            <a:off x="952500" y="1257300"/>
            <a:ext cx="18021300" cy="5981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42" kern="0" dirty="0">
                <a:solidFill>
                  <a:srgbClr val="16233A"/>
                </a:solidFill>
                <a:latin typeface="Arial" pitchFamily="34" charset="0"/>
                <a:ea typeface="Arial" pitchFamily="34" charset="-122"/>
                <a:cs typeface="Arial" pitchFamily="34" charset="-120"/>
              </a:rPr>
              <a:t>Simulating the threat within: processes &amp; DLL injection</a:t>
            </a:r>
            <a:endParaRPr lang="en-US" sz="4200" dirty="0"/>
          </a:p>
        </p:txBody>
      </p:sp>
      <p:sp>
        <p:nvSpPr>
          <p:cNvPr id="5" name="Shape 3"/>
          <p:cNvSpPr/>
          <p:nvPr/>
        </p:nvSpPr>
        <p:spPr>
          <a:xfrm>
            <a:off x="952500" y="2217390"/>
            <a:ext cx="114300" cy="114300"/>
          </a:xfrm>
          <a:prstGeom prst="ellipse">
            <a:avLst/>
          </a:prstGeom>
          <a:solidFill>
            <a:srgbClr val="1E5AA8"/>
          </a:solidFill>
          <a:ln/>
        </p:spPr>
      </p:sp>
      <p:sp>
        <p:nvSpPr>
          <p:cNvPr id="6" name="Text 4"/>
          <p:cNvSpPr/>
          <p:nvPr/>
        </p:nvSpPr>
        <p:spPr>
          <a:xfrm>
            <a:off x="1238250" y="2103090"/>
            <a:ext cx="7269306" cy="802779"/>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48566A"/>
                </a:solidFill>
                <a:latin typeface="Arial" pitchFamily="34" charset="0"/>
                <a:ea typeface="Arial" pitchFamily="34" charset="-122"/>
                <a:cs typeface="Arial" pitchFamily="34" charset="-120"/>
              </a:rPr>
              <a:t>The test was </a:t>
            </a:r>
            <a:pPr algn="l" indent="0" marL="0">
              <a:lnSpc>
                <a:spcPct val="145000"/>
              </a:lnSpc>
              <a:buNone/>
            </a:pPr>
            <a:r>
              <a:rPr lang="en-US" sz="2025" b="1" dirty="0">
                <a:solidFill>
                  <a:srgbClr val="16233A"/>
                </a:solidFill>
                <a:latin typeface="Arial" pitchFamily="34" charset="0"/>
                <a:ea typeface="Arial" pitchFamily="34" charset="-122"/>
                <a:cs typeface="Arial" pitchFamily="34" charset="-120"/>
              </a:rPr>
              <a:t>entirely internal </a:t>
            </a:r>
            <a:pPr algn="l" indent="0" marL="0">
              <a:lnSpc>
                <a:spcPct val="145000"/>
              </a:lnSpc>
              <a:buNone/>
            </a:pPr>
            <a:r>
              <a:rPr lang="en-US" sz="2025" dirty="0">
                <a:solidFill>
                  <a:srgbClr val="48566A"/>
                </a:solidFill>
                <a:latin typeface="Arial" pitchFamily="34" charset="0"/>
                <a:ea typeface="Arial" pitchFamily="34" charset="-122"/>
                <a:cs typeface="Arial" pitchFamily="34" charset="-120"/>
              </a:rPr>
              <a:t>— no external actor, no network attack. The threat originates on the host itself.</a:t>
            </a:r>
            <a:endParaRPr lang="en-US" sz="2025" dirty="0"/>
          </a:p>
        </p:txBody>
      </p:sp>
      <p:sp>
        <p:nvSpPr>
          <p:cNvPr id="7" name="Shape 5"/>
          <p:cNvSpPr/>
          <p:nvPr/>
        </p:nvSpPr>
        <p:spPr>
          <a:xfrm>
            <a:off x="952500" y="3172569"/>
            <a:ext cx="114300" cy="114300"/>
          </a:xfrm>
          <a:prstGeom prst="ellipse">
            <a:avLst/>
          </a:prstGeom>
          <a:solidFill>
            <a:srgbClr val="1E5AA8"/>
          </a:solidFill>
          <a:ln/>
        </p:spPr>
      </p:sp>
      <p:sp>
        <p:nvSpPr>
          <p:cNvPr id="8" name="Text 6"/>
          <p:cNvSpPr/>
          <p:nvPr/>
        </p:nvSpPr>
        <p:spPr>
          <a:xfrm>
            <a:off x="1238250" y="3058269"/>
            <a:ext cx="7269306" cy="821829"/>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48566A"/>
                </a:solidFill>
                <a:latin typeface="Arial" pitchFamily="34" charset="0"/>
                <a:ea typeface="Arial" pitchFamily="34" charset="-122"/>
                <a:cs typeface="Arial" pitchFamily="34" charset="-120"/>
              </a:rPr>
              <a:t>We simulated and monitored </a:t>
            </a:r>
            <a:pPr algn="l" indent="0" marL="0">
              <a:lnSpc>
                <a:spcPct val="145000"/>
              </a:lnSpc>
              <a:buNone/>
            </a:pPr>
            <a:r>
              <a:rPr lang="en-US" sz="2025" b="1" dirty="0">
                <a:solidFill>
                  <a:srgbClr val="16233A"/>
                </a:solidFill>
                <a:latin typeface="Arial" pitchFamily="34" charset="0"/>
                <a:ea typeface="Arial" pitchFamily="34" charset="-122"/>
                <a:cs typeface="Arial" pitchFamily="34" charset="-120"/>
              </a:rPr>
              <a:t>suspicious native Windows background processes </a:t>
            </a:r>
            <a:pPr algn="l" indent="0" marL="0">
              <a:lnSpc>
                <a:spcPct val="145000"/>
              </a:lnSpc>
              <a:buNone/>
            </a:pPr>
            <a:r>
              <a:rPr lang="en-US" sz="2025" dirty="0">
                <a:solidFill>
                  <a:srgbClr val="48566A"/>
                </a:solidFill>
                <a:latin typeface="Arial" pitchFamily="34" charset="0"/>
                <a:ea typeface="Arial" pitchFamily="34" charset="-122"/>
                <a:cs typeface="Arial" pitchFamily="34" charset="-120"/>
              </a:rPr>
              <a:t>spawning on the endpoint.</a:t>
            </a:r>
            <a:endParaRPr lang="en-US" sz="2025" dirty="0"/>
          </a:p>
        </p:txBody>
      </p:sp>
      <p:sp>
        <p:nvSpPr>
          <p:cNvPr id="9" name="Shape 7"/>
          <p:cNvSpPr/>
          <p:nvPr/>
        </p:nvSpPr>
        <p:spPr>
          <a:xfrm>
            <a:off x="952500" y="4146798"/>
            <a:ext cx="114300" cy="114300"/>
          </a:xfrm>
          <a:prstGeom prst="ellipse">
            <a:avLst/>
          </a:prstGeom>
          <a:solidFill>
            <a:srgbClr val="D64545"/>
          </a:solidFill>
          <a:ln/>
        </p:spPr>
      </p:sp>
      <p:sp>
        <p:nvSpPr>
          <p:cNvPr id="10" name="Text 8"/>
          <p:cNvSpPr/>
          <p:nvPr/>
        </p:nvSpPr>
        <p:spPr>
          <a:xfrm>
            <a:off x="1238250" y="4032498"/>
            <a:ext cx="7269306" cy="802779"/>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48566A"/>
                </a:solidFill>
                <a:latin typeface="Arial" pitchFamily="34" charset="0"/>
                <a:ea typeface="Arial" pitchFamily="34" charset="-122"/>
                <a:cs typeface="Arial" pitchFamily="34" charset="-120"/>
              </a:rPr>
              <a:t>A process loaded </a:t>
            </a:r>
            <a:pPr algn="l" indent="0" marL="0">
              <a:lnSpc>
                <a:spcPct val="145000"/>
              </a:lnSpc>
              <a:buNone/>
            </a:pPr>
            <a:r>
              <a:rPr lang="en-US" sz="1800" dirty="0">
                <a:solidFill>
                  <a:srgbClr val="143C73"/>
                </a:solidFill>
                <a:latin typeface="Courier New" pitchFamily="34" charset="0"/>
                <a:ea typeface="Courier New" pitchFamily="34" charset="-122"/>
                <a:cs typeface="Courier New" pitchFamily="34" charset="-120"/>
              </a:rPr>
              <a:t>taskschd.dll </a:t>
            </a:r>
            <a:pPr algn="l" indent="0" marL="0">
              <a:lnSpc>
                <a:spcPct val="145000"/>
              </a:lnSpc>
              <a:buNone/>
            </a:pPr>
            <a:r>
              <a:rPr lang="en-US" sz="2025" dirty="0">
                <a:solidFill>
                  <a:srgbClr val="48566A"/>
                </a:solidFill>
                <a:latin typeface="Arial" pitchFamily="34" charset="0"/>
                <a:ea typeface="Arial" pitchFamily="34" charset="-122"/>
                <a:cs typeface="Arial" pitchFamily="34" charset="-120"/>
              </a:rPr>
              <a:t>— the Task Scheduler module — a hallmark of </a:t>
            </a:r>
            <a:pPr algn="l" indent="0" marL="0">
              <a:lnSpc>
                <a:spcPct val="145000"/>
              </a:lnSpc>
              <a:buNone/>
            </a:pPr>
            <a:r>
              <a:rPr lang="en-US" sz="2025" b="1" dirty="0">
                <a:solidFill>
                  <a:srgbClr val="16233A"/>
                </a:solidFill>
                <a:latin typeface="Arial" pitchFamily="34" charset="0"/>
                <a:ea typeface="Arial" pitchFamily="34" charset="-122"/>
                <a:cs typeface="Arial" pitchFamily="34" charset="-120"/>
              </a:rPr>
              <a:t>DLL-injection persistence</a:t>
            </a:r>
            <a:pPr algn="l" indent="0" marL="0">
              <a:lnSpc>
                <a:spcPct val="145000"/>
              </a:lnSpc>
              <a:buNone/>
            </a:pPr>
            <a:r>
              <a:rPr lang="en-US" sz="2025" dirty="0">
                <a:solidFill>
                  <a:srgbClr val="48566A"/>
                </a:solidFill>
                <a:latin typeface="Arial" pitchFamily="34" charset="0"/>
                <a:ea typeface="Arial" pitchFamily="34" charset="-122"/>
                <a:cs typeface="Arial" pitchFamily="34" charset="-120"/>
              </a:rPr>
              <a:t>.</a:t>
            </a:r>
            <a:endParaRPr lang="en-US" sz="2025" dirty="0"/>
          </a:p>
        </p:txBody>
      </p:sp>
      <p:sp>
        <p:nvSpPr>
          <p:cNvPr id="11" name="Shape 9"/>
          <p:cNvSpPr/>
          <p:nvPr/>
        </p:nvSpPr>
        <p:spPr>
          <a:xfrm>
            <a:off x="952500" y="8146256"/>
            <a:ext cx="7343329" cy="1512094"/>
          </a:xfrm>
          <a:prstGeom prst="roundRect">
            <a:avLst>
              <a:gd name="adj" fmla="val 7559"/>
            </a:avLst>
          </a:prstGeom>
          <a:solidFill>
            <a:srgbClr val="FBEDED"/>
          </a:solidFill>
          <a:ln w="9525">
            <a:solidFill>
              <a:srgbClr val="F0CFCF"/>
            </a:solidFill>
            <a:prstDash val="solid"/>
          </a:ln>
        </p:spPr>
      </p:sp>
      <p:sp>
        <p:nvSpPr>
          <p:cNvPr id="12" name="Text 10"/>
          <p:cNvSpPr/>
          <p:nvPr/>
        </p:nvSpPr>
        <p:spPr>
          <a:xfrm>
            <a:off x="1228725" y="8384381"/>
            <a:ext cx="6994605" cy="1073944"/>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8A3A3A"/>
                </a:solidFill>
                <a:latin typeface="Arial" pitchFamily="34" charset="0"/>
                <a:ea typeface="Arial" pitchFamily="34" charset="-122"/>
                <a:cs typeface="Arial" pitchFamily="34" charset="-120"/>
              </a:rPr>
              <a:t>Loading </a:t>
            </a:r>
            <a:pPr algn="l" indent="0" marL="0">
              <a:lnSpc>
                <a:spcPct val="145000"/>
              </a:lnSpc>
              <a:buNone/>
            </a:pPr>
            <a:r>
              <a:rPr lang="en-US" sz="1800" dirty="0">
                <a:solidFill>
                  <a:srgbClr val="8A3A3A"/>
                </a:solidFill>
                <a:latin typeface="Courier New" pitchFamily="34" charset="0"/>
                <a:ea typeface="Courier New" pitchFamily="34" charset="-122"/>
                <a:cs typeface="Courier New" pitchFamily="34" charset="-120"/>
              </a:rPr>
              <a:t>taskschd.dll </a:t>
            </a:r>
            <a:pPr algn="l" indent="0" marL="0">
              <a:lnSpc>
                <a:spcPct val="145000"/>
              </a:lnSpc>
              <a:buNone/>
            </a:pPr>
            <a:r>
              <a:rPr lang="en-US" sz="1875" dirty="0">
                <a:solidFill>
                  <a:srgbClr val="8A3A3A"/>
                </a:solidFill>
                <a:latin typeface="Arial" pitchFamily="34" charset="0"/>
                <a:ea typeface="Arial" pitchFamily="34" charset="-122"/>
                <a:cs typeface="Arial" pitchFamily="34" charset="-120"/>
              </a:rPr>
              <a:t>sets up a </a:t>
            </a:r>
            <a:pPr algn="l" indent="0" marL="0">
              <a:lnSpc>
                <a:spcPct val="145000"/>
              </a:lnSpc>
              <a:buNone/>
            </a:pPr>
            <a:r>
              <a:rPr lang="en-US" sz="1875" b="1" dirty="0">
                <a:solidFill>
                  <a:srgbClr val="8A3A3A"/>
                </a:solidFill>
                <a:latin typeface="Arial" pitchFamily="34" charset="0"/>
                <a:ea typeface="Arial" pitchFamily="34" charset="-122"/>
                <a:cs typeface="Arial" pitchFamily="34" charset="-120"/>
              </a:rPr>
              <a:t>delayed / scheduled execution task </a:t>
            </a:r>
            <a:pPr algn="l" indent="0" marL="0">
              <a:lnSpc>
                <a:spcPct val="145000"/>
              </a:lnSpc>
              <a:buNone/>
            </a:pPr>
            <a:r>
              <a:rPr lang="en-US" sz="1875" dirty="0">
                <a:solidFill>
                  <a:srgbClr val="8A3A3A"/>
                </a:solidFill>
                <a:latin typeface="Arial" pitchFamily="34" charset="0"/>
                <a:ea typeface="Arial" pitchFamily="34" charset="-122"/>
                <a:cs typeface="Arial" pitchFamily="34" charset="-120"/>
              </a:rPr>
              <a:t>— a technique malware uses to survive reboots and re-run later.</a:t>
            </a:r>
            <a:endParaRPr lang="en-US" sz="1875" dirty="0"/>
          </a:p>
        </p:txBody>
      </p:sp>
      <p:sp>
        <p:nvSpPr>
          <p:cNvPr id="13" name="Shape 11"/>
          <p:cNvSpPr/>
          <p:nvPr/>
        </p:nvSpPr>
        <p:spPr>
          <a:xfrm>
            <a:off x="8714929" y="2103090"/>
            <a:ext cx="8620571" cy="7555260"/>
          </a:xfrm>
          <a:prstGeom prst="roundRect">
            <a:avLst>
              <a:gd name="adj" fmla="val 1513"/>
            </a:avLst>
          </a:prstGeom>
          <a:solidFill>
            <a:srgbClr val="EEF2F7"/>
          </a:solidFill>
          <a:ln w="9525">
            <a:solidFill>
              <a:srgbClr val="DCE3EC"/>
            </a:solidFill>
            <a:prstDash val="solid"/>
          </a:ln>
          <a:effectLst>
            <a:outerShdw sx="100000" sy="100000" kx="0" ky="0" algn="bl" rotWithShape="0" blurRad="438150" dist="190500" dir="5400000">
              <a:srgbClr val="143C73">
                <a:alpha val="50000"/>
              </a:srgbClr>
            </a:outerShdw>
          </a:effectLst>
        </p:spPr>
      </p:sp>
      <p:sp>
        <p:nvSpPr>
          <p:cNvPr id="14" name="Shape 12"/>
          <p:cNvSpPr/>
          <p:nvPr/>
        </p:nvSpPr>
        <p:spPr>
          <a:xfrm>
            <a:off x="8876854" y="2265015"/>
            <a:ext cx="8296721" cy="6450360"/>
          </a:xfrm>
          <a:prstGeom prst="roundRect">
            <a:avLst>
              <a:gd name="adj" fmla="val 1181"/>
            </a:avLst>
          </a:prstGeom>
          <a:solidFill>
            <a:srgbClr val="FFFFFF"/>
          </a:solidFill>
          <a:ln/>
        </p:spPr>
      </p:sp>
      <p:pic>
        <p:nvPicPr>
          <p:cNvPr id="15" name="Image 0" descr="preencoded.png">    </p:cNvPr>
          <p:cNvPicPr>
            <a:picLocks noChangeAspect="1"/>
          </p:cNvPicPr>
          <p:nvPr/>
        </p:nvPicPr>
        <p:blipFill>
          <a:blip r:embed="rId1"/>
          <a:srcRect l="-2" r="-2" t="0" b="0"/>
          <a:stretch/>
        </p:blipFill>
        <p:spPr>
          <a:xfrm>
            <a:off x="8876854" y="3584525"/>
            <a:ext cx="8296721" cy="3811191"/>
          </a:xfrm>
          <a:prstGeom prst="rect">
            <a:avLst/>
          </a:prstGeom>
        </p:spPr>
      </p:pic>
      <p:sp>
        <p:nvSpPr>
          <p:cNvPr id="16" name="Text 13"/>
          <p:cNvSpPr/>
          <p:nvPr/>
        </p:nvSpPr>
        <p:spPr>
          <a:xfrm>
            <a:off x="8914954" y="8848725"/>
            <a:ext cx="8467137"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A6779"/>
                </a:solidFill>
                <a:latin typeface="Arial" pitchFamily="34" charset="0"/>
                <a:ea typeface="Arial" pitchFamily="34" charset="-122"/>
                <a:cs typeface="Arial" pitchFamily="34" charset="-120"/>
              </a:rPr>
              <a:t>Wazuh → Threat Hunting → Events: rule </a:t>
            </a:r>
            <a:pPr algn="l" indent="0" marL="0">
              <a:buNone/>
            </a:pPr>
            <a:r>
              <a:rPr lang="en-US" sz="1800" b="1" dirty="0">
                <a:solidFill>
                  <a:srgbClr val="16233A"/>
                </a:solidFill>
                <a:latin typeface="Arial" pitchFamily="34" charset="0"/>
                <a:ea typeface="Arial" pitchFamily="34" charset="-122"/>
                <a:cs typeface="Arial" pitchFamily="34" charset="-120"/>
              </a:rPr>
              <a:t>67027 </a:t>
            </a:r>
            <a:pPr algn="l" indent="0" marL="0">
              <a:buNone/>
            </a:pPr>
            <a:r>
              <a:rPr lang="en-US" sz="1800" dirty="0">
                <a:solidFill>
                  <a:srgbClr val="5A6779"/>
                </a:solidFill>
                <a:latin typeface="Arial" pitchFamily="34" charset="0"/>
                <a:ea typeface="Arial" pitchFamily="34" charset="-122"/>
                <a:cs typeface="Arial" pitchFamily="34" charset="-120"/>
              </a:rPr>
              <a:t>"A process was created" on </a:t>
            </a:r>
            <a:pPr algn="l" indent="0" marL="0">
              <a:buNone/>
            </a:pPr>
            <a:r>
              <a:rPr lang="en-US" sz="1800" dirty="0">
                <a:solidFill>
                  <a:srgbClr val="143C73"/>
                </a:solidFill>
                <a:latin typeface="Courier New" pitchFamily="34" charset="0"/>
                <a:ea typeface="Courier New" pitchFamily="34" charset="-122"/>
                <a:cs typeface="Courier New" pitchFamily="34" charset="-120"/>
              </a:rPr>
              <a:t>DESKTOP-SLN103I</a:t>
            </a:r>
            <a:pPr algn="l" indent="0" marL="0">
              <a:buNone/>
            </a:pPr>
            <a:r>
              <a:rPr lang="en-US" sz="1800" dirty="0">
                <a:solidFill>
                  <a:srgbClr val="5A6779"/>
                </a:solidFill>
                <a:latin typeface="Arial" pitchFamily="34" charset="0"/>
                <a:ea typeface="Arial" pitchFamily="34" charset="-122"/>
                <a:cs typeface="Arial" pitchFamily="34" charset="-120"/>
              </a:rPr>
              <a: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4306580"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UI/UX · ON-PREM CONSOLE</a:t>
            </a:r>
            <a:endParaRPr lang="en-US" sz="1800" dirty="0"/>
          </a:p>
        </p:txBody>
      </p:sp>
      <p:sp>
        <p:nvSpPr>
          <p:cNvPr id="4" name="Text 2"/>
          <p:cNvSpPr/>
          <p:nvPr/>
        </p:nvSpPr>
        <p:spPr>
          <a:xfrm>
            <a:off x="952500" y="1257300"/>
            <a:ext cx="18021300" cy="5981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42" kern="0" dirty="0">
                <a:solidFill>
                  <a:srgbClr val="16233A"/>
                </a:solidFill>
                <a:latin typeface="Arial" pitchFamily="34" charset="0"/>
                <a:ea typeface="Arial" pitchFamily="34" charset="-122"/>
                <a:cs typeface="Arial" pitchFamily="34" charset="-120"/>
              </a:rPr>
              <a:t>The Wazuh SOC overview dashboard</a:t>
            </a:r>
            <a:endParaRPr lang="en-US" sz="4200" dirty="0"/>
          </a:p>
        </p:txBody>
      </p:sp>
      <p:sp>
        <p:nvSpPr>
          <p:cNvPr id="5" name="Shape 3"/>
          <p:cNvSpPr/>
          <p:nvPr/>
        </p:nvSpPr>
        <p:spPr>
          <a:xfrm>
            <a:off x="952500" y="2045940"/>
            <a:ext cx="16383000" cy="7155210"/>
          </a:xfrm>
          <a:prstGeom prst="roundRect">
            <a:avLst>
              <a:gd name="adj" fmla="val 1597"/>
            </a:avLst>
          </a:prstGeom>
          <a:solidFill>
            <a:srgbClr val="EEF2F7"/>
          </a:solidFill>
          <a:ln w="9525">
            <a:solidFill>
              <a:srgbClr val="DCE3EC"/>
            </a:solidFill>
            <a:prstDash val="solid"/>
          </a:ln>
          <a:effectLst>
            <a:outerShdw sx="100000" sy="100000" kx="0" ky="0" algn="bl" rotWithShape="0" blurRad="438150" dist="190500" dir="5400000">
              <a:srgbClr val="143C73">
                <a:alpha val="50000"/>
              </a:srgbClr>
            </a:outerShdw>
          </a:effectLst>
        </p:spPr>
      </p:sp>
      <p:pic>
        <p:nvPicPr>
          <p:cNvPr id="6" name="Image 0" descr="preencoded.png">    </p:cNvPr>
          <p:cNvPicPr>
            <a:picLocks noChangeAspect="1"/>
          </p:cNvPicPr>
          <p:nvPr/>
        </p:nvPicPr>
        <p:blipFill>
          <a:blip r:embed="rId1"/>
          <a:srcRect l="-1" r="-1" t="0" b="0"/>
          <a:stretch/>
        </p:blipFill>
        <p:spPr>
          <a:xfrm>
            <a:off x="2031802" y="2226915"/>
            <a:ext cx="14224248" cy="6793111"/>
          </a:xfrm>
          <a:prstGeom prst="rect">
            <a:avLst/>
          </a:prstGeom>
        </p:spPr>
      </p:pic>
      <p:sp>
        <p:nvSpPr>
          <p:cNvPr id="7" name="Text 4"/>
          <p:cNvSpPr/>
          <p:nvPr/>
        </p:nvSpPr>
        <p:spPr>
          <a:xfrm>
            <a:off x="952500" y="9353550"/>
            <a:ext cx="18021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A94A3"/>
                </a:solidFill>
                <a:latin typeface="Arial" pitchFamily="34" charset="0"/>
                <a:ea typeface="Arial" pitchFamily="34" charset="-122"/>
                <a:cs typeface="Arial" pitchFamily="34" charset="-120"/>
              </a:rPr>
              <a:t>Figure 4.7 — Agent summary and a severity-graded 24-hour alert breakdown drive progressive drill-down.</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3633564"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THREAT INTELLIGENCE</a:t>
            </a:r>
            <a:endParaRPr lang="en-US" sz="1800" dirty="0"/>
          </a:p>
        </p:txBody>
      </p:sp>
      <p:sp>
        <p:nvSpPr>
          <p:cNvPr id="4" name="Text 2"/>
          <p:cNvSpPr/>
          <p:nvPr/>
        </p:nvSpPr>
        <p:spPr>
          <a:xfrm>
            <a:off x="952500" y="1257300"/>
            <a:ext cx="18021300" cy="5981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42" kern="0" dirty="0">
                <a:solidFill>
                  <a:srgbClr val="16233A"/>
                </a:solidFill>
                <a:latin typeface="Arial" pitchFamily="34" charset="0"/>
                <a:ea typeface="Arial" pitchFamily="34" charset="-122"/>
                <a:cs typeface="Arial" pitchFamily="34" charset="-120"/>
              </a:rPr>
              <a:t>Alerts mapped to adversary tactics</a:t>
            </a:r>
            <a:endParaRPr lang="en-US" sz="4200" dirty="0"/>
          </a:p>
        </p:txBody>
      </p:sp>
      <p:sp>
        <p:nvSpPr>
          <p:cNvPr id="5" name="Shape 3"/>
          <p:cNvSpPr/>
          <p:nvPr/>
        </p:nvSpPr>
        <p:spPr>
          <a:xfrm>
            <a:off x="952500" y="2045940"/>
            <a:ext cx="16383000" cy="7155210"/>
          </a:xfrm>
          <a:prstGeom prst="roundRect">
            <a:avLst>
              <a:gd name="adj" fmla="val 1597"/>
            </a:avLst>
          </a:prstGeom>
          <a:solidFill>
            <a:srgbClr val="EEF2F7"/>
          </a:solidFill>
          <a:ln w="9525">
            <a:solidFill>
              <a:srgbClr val="DCE3EC"/>
            </a:solidFill>
            <a:prstDash val="solid"/>
          </a:ln>
          <a:effectLst>
            <a:outerShdw sx="100000" sy="100000" kx="0" ky="0" algn="bl" rotWithShape="0" blurRad="438150" dist="190500" dir="5400000">
              <a:srgbClr val="143C73">
                <a:alpha val="50000"/>
              </a:srgbClr>
            </a:outerShdw>
          </a:effectLst>
        </p:spPr>
      </p:sp>
      <p:pic>
        <p:nvPicPr>
          <p:cNvPr id="6" name="Image 0" descr="preencoded.png">    </p:cNvPr>
          <p:cNvPicPr>
            <a:picLocks noChangeAspect="1"/>
          </p:cNvPicPr>
          <p:nvPr/>
        </p:nvPicPr>
        <p:blipFill>
          <a:blip r:embed="rId1"/>
          <a:srcRect l="-1" r="-1" t="0" b="0"/>
          <a:stretch/>
        </p:blipFill>
        <p:spPr>
          <a:xfrm>
            <a:off x="2033885" y="2226915"/>
            <a:ext cx="14220230" cy="6793111"/>
          </a:xfrm>
          <a:prstGeom prst="rect">
            <a:avLst/>
          </a:prstGeom>
        </p:spPr>
      </p:pic>
      <p:sp>
        <p:nvSpPr>
          <p:cNvPr id="7" name="Text 4"/>
          <p:cNvSpPr/>
          <p:nvPr/>
        </p:nvSpPr>
        <p:spPr>
          <a:xfrm>
            <a:off x="952500" y="9353550"/>
            <a:ext cx="18021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A94A3"/>
                </a:solidFill>
                <a:latin typeface="Arial" pitchFamily="34" charset="0"/>
                <a:ea typeface="Arial" pitchFamily="34" charset="-122"/>
                <a:cs typeface="Arial" pitchFamily="34" charset="-120"/>
              </a:rPr>
              <a:t>Figure 4.8 — The ATT&amp;CK matrix: alerts over time, top tactics, and detections by technique.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3E9B5F"/>
          </a:solidFill>
          <a:ln/>
        </p:spPr>
      </p:sp>
      <p:sp>
        <p:nvSpPr>
          <p:cNvPr id="3" name="Text 1"/>
          <p:cNvSpPr/>
          <p:nvPr/>
        </p:nvSpPr>
        <p:spPr>
          <a:xfrm>
            <a:off x="1409700" y="838200"/>
            <a:ext cx="3740468"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3E9B5F"/>
                </a:solidFill>
                <a:latin typeface="Arial" pitchFamily="34" charset="0"/>
                <a:ea typeface="Arial" pitchFamily="34" charset="-122"/>
                <a:cs typeface="Arial" pitchFamily="34" charset="-120"/>
              </a:rPr>
              <a:t>CLOUD SOC INTERFACE</a:t>
            </a:r>
            <a:endParaRPr lang="en-US" sz="1800" dirty="0"/>
          </a:p>
        </p:txBody>
      </p:sp>
      <p:sp>
        <p:nvSpPr>
          <p:cNvPr id="4" name="Text 2"/>
          <p:cNvSpPr/>
          <p:nvPr/>
        </p:nvSpPr>
        <p:spPr>
          <a:xfrm>
            <a:off x="952500" y="1257300"/>
            <a:ext cx="18021300" cy="5981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42" kern="0" dirty="0">
                <a:solidFill>
                  <a:srgbClr val="16233A"/>
                </a:solidFill>
                <a:latin typeface="Arial" pitchFamily="34" charset="0"/>
                <a:ea typeface="Arial" pitchFamily="34" charset="-122"/>
                <a:cs typeface="Arial" pitchFamily="34" charset="-120"/>
              </a:rPr>
              <a:t>An always-on SOC channel in Discord</a:t>
            </a:r>
            <a:endParaRPr lang="en-US" sz="4200" dirty="0"/>
          </a:p>
        </p:txBody>
      </p:sp>
      <p:sp>
        <p:nvSpPr>
          <p:cNvPr id="5" name="Shape 3"/>
          <p:cNvSpPr/>
          <p:nvPr/>
        </p:nvSpPr>
        <p:spPr>
          <a:xfrm>
            <a:off x="952500" y="2045940"/>
            <a:ext cx="6560790" cy="7612410"/>
          </a:xfrm>
          <a:prstGeom prst="roundRect">
            <a:avLst>
              <a:gd name="adj" fmla="val 1742"/>
            </a:avLst>
          </a:prstGeom>
          <a:solidFill>
            <a:srgbClr val="1E2129"/>
          </a:solidFill>
          <a:ln w="9525">
            <a:solidFill>
              <a:srgbClr val="2B2F38"/>
            </a:solidFill>
            <a:prstDash val="solid"/>
          </a:ln>
          <a:effectLst>
            <a:outerShdw sx="100000" sy="100000" kx="0" ky="0" algn="bl" rotWithShape="0" blurRad="438150" dist="190500" dir="5400000">
              <a:srgbClr val="000000">
                <a:alpha val="60000"/>
              </a:srgbClr>
            </a:outerShdw>
          </a:effectLst>
        </p:spPr>
      </p:sp>
      <p:pic>
        <p:nvPicPr>
          <p:cNvPr id="6" name="Image 0" descr="preencoded.png">    </p:cNvPr>
          <p:cNvPicPr>
            <a:picLocks noChangeAspect="1"/>
          </p:cNvPicPr>
          <p:nvPr/>
        </p:nvPicPr>
        <p:blipFill>
          <a:blip r:embed="rId1"/>
          <a:srcRect l="-1" r="-1" t="0" b="0"/>
          <a:stretch/>
        </p:blipFill>
        <p:spPr>
          <a:xfrm>
            <a:off x="2085826" y="2188815"/>
            <a:ext cx="4293989" cy="7326511"/>
          </a:xfrm>
          <a:prstGeom prst="rect">
            <a:avLst/>
          </a:prstGeom>
        </p:spPr>
      </p:pic>
      <p:sp>
        <p:nvSpPr>
          <p:cNvPr id="7" name="Shape 4"/>
          <p:cNvSpPr/>
          <p:nvPr/>
        </p:nvSpPr>
        <p:spPr>
          <a:xfrm>
            <a:off x="7894290" y="4183559"/>
            <a:ext cx="114300" cy="114300"/>
          </a:xfrm>
          <a:prstGeom prst="ellipse">
            <a:avLst/>
          </a:prstGeom>
          <a:solidFill>
            <a:srgbClr val="1E5AA8"/>
          </a:solidFill>
          <a:ln/>
        </p:spPr>
      </p:sp>
      <p:sp>
        <p:nvSpPr>
          <p:cNvPr id="8" name="Text 5"/>
          <p:cNvSpPr/>
          <p:nvPr/>
        </p:nvSpPr>
        <p:spPr>
          <a:xfrm>
            <a:off x="8180040" y="4078784"/>
            <a:ext cx="6035859"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16233A"/>
                </a:solidFill>
                <a:latin typeface="Arial" pitchFamily="34" charset="0"/>
                <a:ea typeface="Arial" pitchFamily="34" charset="-122"/>
                <a:cs typeface="Arial" pitchFamily="34" charset="-120"/>
              </a:rPr>
              <a:t>Rule ID &amp; event</a:t>
            </a:r>
            <a:endParaRPr lang="en-US" sz="2025" dirty="0"/>
          </a:p>
        </p:txBody>
      </p:sp>
      <p:sp>
        <p:nvSpPr>
          <p:cNvPr id="9" name="Text 6"/>
          <p:cNvSpPr/>
          <p:nvPr/>
        </p:nvSpPr>
        <p:spPr>
          <a:xfrm>
            <a:off x="8180040" y="4412159"/>
            <a:ext cx="6035859"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143C73"/>
                </a:solidFill>
                <a:latin typeface="Courier New" pitchFamily="34" charset="0"/>
                <a:ea typeface="Courier New" pitchFamily="34" charset="-122"/>
                <a:cs typeface="Courier New" pitchFamily="34" charset="-120"/>
              </a:rPr>
              <a:t>92154 </a:t>
            </a:r>
            <a:pPr algn="l" indent="0" marL="0">
              <a:lnSpc>
                <a:spcPct val="135000"/>
              </a:lnSpc>
              <a:buNone/>
            </a:pPr>
            <a:r>
              <a:rPr lang="en-US" sz="1800" dirty="0">
                <a:solidFill>
                  <a:srgbClr val="5A6779"/>
                </a:solidFill>
                <a:latin typeface="Arial" pitchFamily="34" charset="0"/>
                <a:ea typeface="Arial" pitchFamily="34" charset="-122"/>
                <a:cs typeface="Arial" pitchFamily="34" charset="-120"/>
              </a:rPr>
              <a:t>— module load, may create delayed execution.</a:t>
            </a:r>
            <a:endParaRPr lang="en-US" sz="1800" dirty="0"/>
          </a:p>
        </p:txBody>
      </p:sp>
      <p:sp>
        <p:nvSpPr>
          <p:cNvPr id="10" name="Shape 7"/>
          <p:cNvSpPr/>
          <p:nvPr/>
        </p:nvSpPr>
        <p:spPr>
          <a:xfrm>
            <a:off x="7894290" y="5015954"/>
            <a:ext cx="114300" cy="114300"/>
          </a:xfrm>
          <a:prstGeom prst="ellipse">
            <a:avLst/>
          </a:prstGeom>
          <a:solidFill>
            <a:srgbClr val="1E5AA8"/>
          </a:solidFill>
          <a:ln/>
        </p:spPr>
      </p:sp>
      <p:sp>
        <p:nvSpPr>
          <p:cNvPr id="11" name="Text 8"/>
          <p:cNvSpPr/>
          <p:nvPr/>
        </p:nvSpPr>
        <p:spPr>
          <a:xfrm>
            <a:off x="8180040" y="4911179"/>
            <a:ext cx="5885572"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16233A"/>
                </a:solidFill>
                <a:latin typeface="Arial" pitchFamily="34" charset="0"/>
                <a:ea typeface="Arial" pitchFamily="34" charset="-122"/>
                <a:cs typeface="Arial" pitchFamily="34" charset="-120"/>
              </a:rPr>
              <a:t>Target Endpoint</a:t>
            </a:r>
            <a:endParaRPr lang="en-US" sz="2025" dirty="0"/>
          </a:p>
        </p:txBody>
      </p:sp>
      <p:sp>
        <p:nvSpPr>
          <p:cNvPr id="12" name="Text 9"/>
          <p:cNvSpPr/>
          <p:nvPr/>
        </p:nvSpPr>
        <p:spPr>
          <a:xfrm>
            <a:off x="8180040" y="5244554"/>
            <a:ext cx="5885572"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143C73"/>
                </a:solidFill>
                <a:latin typeface="Courier New" pitchFamily="34" charset="0"/>
                <a:ea typeface="Courier New" pitchFamily="34" charset="-122"/>
                <a:cs typeface="Courier New" pitchFamily="34" charset="-120"/>
              </a:rPr>
              <a:t>DESKTOP-SLN103I </a:t>
            </a:r>
            <a:pPr algn="l" indent="0" marL="0">
              <a:lnSpc>
                <a:spcPct val="135000"/>
              </a:lnSpc>
              <a:buNone/>
            </a:pPr>
            <a:r>
              <a:rPr lang="en-US" sz="1800" dirty="0">
                <a:solidFill>
                  <a:srgbClr val="5A6779"/>
                </a:solidFill>
                <a:latin typeface="Arial" pitchFamily="34" charset="0"/>
                <a:ea typeface="Arial" pitchFamily="34" charset="-122"/>
                <a:cs typeface="Arial" pitchFamily="34" charset="-120"/>
              </a:rPr>
              <a:t>— the monitored Windows host.</a:t>
            </a:r>
            <a:endParaRPr lang="en-US" sz="1800" dirty="0"/>
          </a:p>
        </p:txBody>
      </p:sp>
      <p:sp>
        <p:nvSpPr>
          <p:cNvPr id="13" name="Shape 10"/>
          <p:cNvSpPr/>
          <p:nvPr/>
        </p:nvSpPr>
        <p:spPr>
          <a:xfrm>
            <a:off x="7894290" y="5848350"/>
            <a:ext cx="114300" cy="114300"/>
          </a:xfrm>
          <a:prstGeom prst="ellipse">
            <a:avLst/>
          </a:prstGeom>
          <a:solidFill>
            <a:srgbClr val="D64545"/>
          </a:solidFill>
          <a:ln/>
        </p:spPr>
      </p:sp>
      <p:sp>
        <p:nvSpPr>
          <p:cNvPr id="14" name="Text 11"/>
          <p:cNvSpPr/>
          <p:nvPr/>
        </p:nvSpPr>
        <p:spPr>
          <a:xfrm>
            <a:off x="8180040" y="5743575"/>
            <a:ext cx="7301508"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16233A"/>
                </a:solidFill>
                <a:latin typeface="Arial" pitchFamily="34" charset="0"/>
                <a:ea typeface="Arial" pitchFamily="34" charset="-122"/>
                <a:cs typeface="Arial" pitchFamily="34" charset="-120"/>
              </a:rPr>
              <a:t>Attacker IP — N/A</a:t>
            </a:r>
            <a:endParaRPr lang="en-US" sz="2025" dirty="0"/>
          </a:p>
        </p:txBody>
      </p:sp>
      <p:sp>
        <p:nvSpPr>
          <p:cNvPr id="15" name="Text 12"/>
          <p:cNvSpPr/>
          <p:nvPr/>
        </p:nvSpPr>
        <p:spPr>
          <a:xfrm>
            <a:off x="8180040" y="6076950"/>
            <a:ext cx="7301508" cy="356146"/>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A6779"/>
                </a:solidFill>
                <a:latin typeface="Arial" pitchFamily="34" charset="0"/>
                <a:ea typeface="Arial" pitchFamily="34" charset="-122"/>
                <a:cs typeface="Arial" pitchFamily="34" charset="-120"/>
              </a:rPr>
              <a:t>Internal system event, so there is </a:t>
            </a:r>
            <a:pPr algn="l" indent="0" marL="0">
              <a:lnSpc>
                <a:spcPct val="135000"/>
              </a:lnSpc>
              <a:buNone/>
            </a:pPr>
            <a:r>
              <a:rPr lang="en-US" sz="1800" b="1" dirty="0">
                <a:solidFill>
                  <a:srgbClr val="5A6779"/>
                </a:solidFill>
                <a:latin typeface="Arial" pitchFamily="34" charset="0"/>
                <a:ea typeface="Arial" pitchFamily="34" charset="-122"/>
                <a:cs typeface="Arial" pitchFamily="34" charset="-120"/>
              </a:rPr>
              <a:t>no external source IP </a:t>
            </a:r>
            <a:pPr algn="l" indent="0" marL="0">
              <a:lnSpc>
                <a:spcPct val="135000"/>
              </a:lnSpc>
              <a:buNone/>
            </a:pPr>
            <a:r>
              <a:rPr lang="en-US" sz="1800" dirty="0">
                <a:solidFill>
                  <a:srgbClr val="5A6779"/>
                </a:solidFill>
                <a:latin typeface="Arial" pitchFamily="34" charset="0"/>
                <a:ea typeface="Arial" pitchFamily="34" charset="-122"/>
                <a:cs typeface="Arial" pitchFamily="34" charset="-120"/>
              </a:rPr>
              <a:t>to report.</a:t>
            </a:r>
            <a:endParaRPr lang="en-US" sz="1800" dirty="0"/>
          </a:p>
        </p:txBody>
      </p:sp>
      <p:sp>
        <p:nvSpPr>
          <p:cNvPr id="16" name="Shape 13"/>
          <p:cNvSpPr/>
          <p:nvPr/>
        </p:nvSpPr>
        <p:spPr>
          <a:xfrm>
            <a:off x="7894290" y="6585496"/>
            <a:ext cx="9441061" cy="1040011"/>
          </a:xfrm>
          <a:prstGeom prst="roundRect">
            <a:avLst>
              <a:gd name="adj" fmla="val 9159"/>
            </a:avLst>
          </a:prstGeom>
          <a:solidFill>
            <a:srgbClr val="EAF3EE"/>
          </a:solidFill>
          <a:ln w="9525">
            <a:solidFill>
              <a:srgbClr val="C6E1D0"/>
            </a:solidFill>
            <a:prstDash val="solid"/>
          </a:ln>
        </p:spPr>
      </p:sp>
      <p:sp>
        <p:nvSpPr>
          <p:cNvPr id="17" name="Text 14"/>
          <p:cNvSpPr/>
          <p:nvPr/>
        </p:nvSpPr>
        <p:spPr>
          <a:xfrm>
            <a:off x="8132415" y="6785521"/>
            <a:ext cx="9233755"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E6B45"/>
                </a:solidFill>
                <a:latin typeface="Arial" pitchFamily="34" charset="0"/>
                <a:ea typeface="Arial" pitchFamily="34" charset="-122"/>
                <a:cs typeface="Arial" pitchFamily="34" charset="-120"/>
              </a:rPr>
              <a:t>Redundant text labels mean severity and context are clear </a:t>
            </a:r>
            <a:pPr algn="l" indent="0" marL="0">
              <a:lnSpc>
                <a:spcPct val="140000"/>
              </a:lnSpc>
              <a:buNone/>
            </a:pPr>
            <a:r>
              <a:rPr lang="en-US" sz="1800" b="1" dirty="0">
                <a:solidFill>
                  <a:srgbClr val="2E6B45"/>
                </a:solidFill>
                <a:latin typeface="Arial" pitchFamily="34" charset="0"/>
                <a:ea typeface="Arial" pitchFamily="34" charset="-122"/>
                <a:cs typeface="Arial" pitchFamily="34" charset="-120"/>
              </a:rPr>
              <a:t>without relying on color alone </a:t>
            </a:r>
            <a:pPr algn="l" indent="0" marL="0">
              <a:lnSpc>
                <a:spcPct val="140000"/>
              </a:lnSpc>
              <a:buNone/>
            </a:pPr>
            <a:r>
              <a:rPr lang="en-US" sz="1800" dirty="0">
                <a:solidFill>
                  <a:srgbClr val="2E6B45"/>
                </a:solidFill>
                <a:latin typeface="Arial" pitchFamily="34" charset="0"/>
                <a:ea typeface="Arial" pitchFamily="34" charset="-122"/>
                <a:cs typeface="Arial" pitchFamily="34" charset="-120"/>
              </a:rPr>
              <a:t>— an accessibility win.</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3E9B5F"/>
          </a:solidFill>
          <a:ln/>
        </p:spPr>
      </p:sp>
      <p:sp>
        <p:nvSpPr>
          <p:cNvPr id="3" name="Text 1"/>
          <p:cNvSpPr/>
          <p:nvPr/>
        </p:nvSpPr>
        <p:spPr>
          <a:xfrm>
            <a:off x="1409700" y="838200"/>
            <a:ext cx="5175885"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3E9B5F"/>
                </a:solidFill>
                <a:latin typeface="Arial" pitchFamily="34" charset="0"/>
                <a:ea typeface="Arial" pitchFamily="34" charset="-122"/>
                <a:cs typeface="Arial" pitchFamily="34" charset="-120"/>
              </a:rPr>
              <a:t>TESTING &amp; QUALITY ASSURANCE</a:t>
            </a:r>
            <a:endParaRPr lang="en-US" sz="1800" dirty="0"/>
          </a:p>
        </p:txBody>
      </p:sp>
      <p:sp>
        <p:nvSpPr>
          <p:cNvPr id="4" name="Text 2"/>
          <p:cNvSpPr/>
          <p:nvPr/>
        </p:nvSpPr>
        <p:spPr>
          <a:xfrm>
            <a:off x="952500" y="127635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45" kern="0" dirty="0">
                <a:solidFill>
                  <a:srgbClr val="16233A"/>
                </a:solidFill>
                <a:latin typeface="Arial" pitchFamily="34" charset="0"/>
                <a:ea typeface="Arial" pitchFamily="34" charset="-122"/>
                <a:cs typeface="Arial" pitchFamily="34" charset="-120"/>
              </a:rPr>
              <a:t>Validated end to end — every test passed</a:t>
            </a:r>
            <a:endParaRPr lang="en-US" sz="4500" dirty="0"/>
          </a:p>
        </p:txBody>
      </p:sp>
      <p:sp>
        <p:nvSpPr>
          <p:cNvPr id="5" name="Shape 3"/>
          <p:cNvSpPr/>
          <p:nvPr/>
        </p:nvSpPr>
        <p:spPr>
          <a:xfrm>
            <a:off x="952500" y="3810000"/>
            <a:ext cx="3629918" cy="1800225"/>
          </a:xfrm>
          <a:prstGeom prst="roundRect">
            <a:avLst>
              <a:gd name="adj" fmla="val 7407"/>
            </a:avLst>
          </a:prstGeom>
          <a:solidFill>
            <a:srgbClr val="F3F6FA"/>
          </a:solidFill>
          <a:ln w="9525">
            <a:solidFill>
              <a:srgbClr val="DCE3EC"/>
            </a:solidFill>
            <a:prstDash val="solid"/>
          </a:ln>
        </p:spPr>
      </p:sp>
      <p:sp>
        <p:nvSpPr>
          <p:cNvPr id="6" name="Text 4"/>
          <p:cNvSpPr/>
          <p:nvPr/>
        </p:nvSpPr>
        <p:spPr>
          <a:xfrm>
            <a:off x="1304925" y="4143375"/>
            <a:ext cx="3217575" cy="742950"/>
          </a:xfrm>
          <a:prstGeom prst="rect">
            <a:avLst/>
          </a:prstGeom>
          <a:noFill/>
          <a:ln/>
        </p:spPr>
        <p:txBody>
          <a:bodyPr wrap="square" lIns="25400" tIns="25400" rIns="25400" bIns="25400" rtlCol="0" anchor="t">
            <a:normAutofit/>
          </a:bodyPr>
          <a:lstStyle/>
          <a:p>
            <a:pPr algn="l" indent="0" marL="0">
              <a:lnSpc>
                <a:spcPct val="100000"/>
              </a:lnSpc>
              <a:buNone/>
            </a:pPr>
            <a:r>
              <a:rPr lang="en-US" sz="5550" b="1" dirty="0">
                <a:solidFill>
                  <a:srgbClr val="1E5AA8"/>
                </a:solidFill>
                <a:latin typeface="Arial" pitchFamily="34" charset="0"/>
                <a:ea typeface="Arial" pitchFamily="34" charset="-122"/>
                <a:cs typeface="Arial" pitchFamily="34" charset="-120"/>
              </a:rPr>
              <a:t>1,089</a:t>
            </a:r>
            <a:endParaRPr lang="en-US" sz="5550" dirty="0"/>
          </a:p>
        </p:txBody>
      </p:sp>
      <p:sp>
        <p:nvSpPr>
          <p:cNvPr id="7" name="Text 5"/>
          <p:cNvSpPr/>
          <p:nvPr/>
        </p:nvSpPr>
        <p:spPr>
          <a:xfrm>
            <a:off x="1304925" y="4962525"/>
            <a:ext cx="32175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6B7789"/>
                </a:solidFill>
                <a:latin typeface="Arial" pitchFamily="34" charset="0"/>
                <a:ea typeface="Arial" pitchFamily="34" charset="-122"/>
                <a:cs typeface="Arial" pitchFamily="34" charset="-120"/>
              </a:rPr>
              <a:t>total hits recorded</a:t>
            </a:r>
            <a:endParaRPr lang="en-US" sz="1875" dirty="0"/>
          </a:p>
        </p:txBody>
      </p:sp>
      <p:sp>
        <p:nvSpPr>
          <p:cNvPr id="8" name="Shape 6"/>
          <p:cNvSpPr/>
          <p:nvPr/>
        </p:nvSpPr>
        <p:spPr>
          <a:xfrm>
            <a:off x="4887218" y="3810000"/>
            <a:ext cx="3629918" cy="1800225"/>
          </a:xfrm>
          <a:prstGeom prst="roundRect">
            <a:avLst>
              <a:gd name="adj" fmla="val 7407"/>
            </a:avLst>
          </a:prstGeom>
          <a:solidFill>
            <a:srgbClr val="EAF3EE"/>
          </a:solidFill>
          <a:ln w="9525">
            <a:solidFill>
              <a:srgbClr val="C6E1D0"/>
            </a:solidFill>
            <a:prstDash val="solid"/>
          </a:ln>
        </p:spPr>
      </p:sp>
      <p:sp>
        <p:nvSpPr>
          <p:cNvPr id="9" name="Text 7"/>
          <p:cNvSpPr/>
          <p:nvPr/>
        </p:nvSpPr>
        <p:spPr>
          <a:xfrm>
            <a:off x="5239643" y="4143375"/>
            <a:ext cx="3217575" cy="742950"/>
          </a:xfrm>
          <a:prstGeom prst="rect">
            <a:avLst/>
          </a:prstGeom>
          <a:noFill/>
          <a:ln/>
        </p:spPr>
        <p:txBody>
          <a:bodyPr wrap="square" lIns="25400" tIns="25400" rIns="25400" bIns="25400" rtlCol="0" anchor="t">
            <a:normAutofit/>
          </a:bodyPr>
          <a:lstStyle/>
          <a:p>
            <a:pPr algn="l" indent="0" marL="0">
              <a:lnSpc>
                <a:spcPct val="100000"/>
              </a:lnSpc>
              <a:buNone/>
            </a:pPr>
            <a:r>
              <a:rPr lang="en-US" sz="5550" b="1" dirty="0">
                <a:solidFill>
                  <a:srgbClr val="3E9B5F"/>
                </a:solidFill>
                <a:latin typeface="Arial" pitchFamily="34" charset="0"/>
                <a:ea typeface="Arial" pitchFamily="34" charset="-122"/>
                <a:cs typeface="Arial" pitchFamily="34" charset="-120"/>
              </a:rPr>
              <a:t>420</a:t>
            </a:r>
            <a:endParaRPr lang="en-US" sz="5550" dirty="0"/>
          </a:p>
        </p:txBody>
      </p:sp>
      <p:sp>
        <p:nvSpPr>
          <p:cNvPr id="10" name="Text 8"/>
          <p:cNvSpPr/>
          <p:nvPr/>
        </p:nvSpPr>
        <p:spPr>
          <a:xfrm>
            <a:off x="5239643" y="4962525"/>
            <a:ext cx="32175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6B7789"/>
                </a:solidFill>
                <a:latin typeface="Arial" pitchFamily="34" charset="0"/>
                <a:ea typeface="Arial" pitchFamily="34" charset="-122"/>
                <a:cs typeface="Arial" pitchFamily="34" charset="-120"/>
              </a:rPr>
              <a:t>direct hits · target met</a:t>
            </a:r>
            <a:endParaRPr lang="en-US" sz="1875" dirty="0"/>
          </a:p>
        </p:txBody>
      </p:sp>
      <p:sp>
        <p:nvSpPr>
          <p:cNvPr id="11" name="Shape 9"/>
          <p:cNvSpPr/>
          <p:nvPr/>
        </p:nvSpPr>
        <p:spPr>
          <a:xfrm>
            <a:off x="952500" y="5876925"/>
            <a:ext cx="7564636" cy="2171700"/>
          </a:xfrm>
          <a:prstGeom prst="roundRect">
            <a:avLst>
              <a:gd name="adj" fmla="val 6140"/>
            </a:avLst>
          </a:prstGeom>
          <a:solidFill>
            <a:srgbClr val="143C73"/>
          </a:solidFill>
          <a:ln/>
        </p:spPr>
      </p:sp>
      <p:sp>
        <p:nvSpPr>
          <p:cNvPr id="12" name="Text 10"/>
          <p:cNvSpPr/>
          <p:nvPr/>
        </p:nvSpPr>
        <p:spPr>
          <a:xfrm>
            <a:off x="1295400" y="6162675"/>
            <a:ext cx="587871" cy="16383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FFFFFF"/>
                </a:solidFill>
                <a:latin typeface="Arial" pitchFamily="34" charset="0"/>
                <a:ea typeface="Arial" pitchFamily="34" charset="-122"/>
                <a:cs typeface="Arial" pitchFamily="34" charset="-120"/>
              </a:rPr>
              <a:t>8 / 8</a:t>
            </a:r>
            <a:endParaRPr lang="en-US" sz="4200" dirty="0"/>
          </a:p>
        </p:txBody>
      </p:sp>
      <p:sp>
        <p:nvSpPr>
          <p:cNvPr id="13" name="Text 11"/>
          <p:cNvSpPr/>
          <p:nvPr/>
        </p:nvSpPr>
        <p:spPr>
          <a:xfrm>
            <a:off x="1997571" y="6461373"/>
            <a:ext cx="6361965" cy="1040904"/>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B6C8E0"/>
                </a:solidFill>
                <a:latin typeface="Arial" pitchFamily="34" charset="0"/>
                <a:ea typeface="Arial" pitchFamily="34" charset="-122"/>
                <a:cs typeface="Arial" pitchFamily="34" charset="-120"/>
              </a:rPr>
              <a:t>test cases passed — simulation, correlation, MITRE mapping, IP parse, color coding, webhook delivery &amp; stability.</a:t>
            </a:r>
            <a:endParaRPr lang="en-US" sz="1950" dirty="0"/>
          </a:p>
        </p:txBody>
      </p:sp>
      <p:sp>
        <p:nvSpPr>
          <p:cNvPr id="14" name="Shape 12"/>
          <p:cNvSpPr/>
          <p:nvPr/>
        </p:nvSpPr>
        <p:spPr>
          <a:xfrm>
            <a:off x="8974336" y="2076450"/>
            <a:ext cx="8361164" cy="7705725"/>
          </a:xfrm>
          <a:prstGeom prst="roundRect">
            <a:avLst>
              <a:gd name="adj" fmla="val 1483"/>
            </a:avLst>
          </a:prstGeom>
          <a:solidFill>
            <a:srgbClr val="EEF2F7"/>
          </a:solidFill>
          <a:ln w="9525">
            <a:solidFill>
              <a:srgbClr val="DCE3EC"/>
            </a:solidFill>
            <a:prstDash val="solid"/>
          </a:ln>
          <a:effectLst>
            <a:outerShdw sx="100000" sy="100000" kx="0" ky="0" algn="bl" rotWithShape="0" blurRad="438150" dist="190500" dir="5400000">
              <a:srgbClr val="143C73">
                <a:alpha val="50000"/>
              </a:srgbClr>
            </a:outerShdw>
          </a:effectLst>
        </p:spPr>
      </p:sp>
      <p:pic>
        <p:nvPicPr>
          <p:cNvPr id="15" name="Image 0" descr="preencoded.png">    </p:cNvPr>
          <p:cNvPicPr>
            <a:picLocks noChangeAspect="1"/>
          </p:cNvPicPr>
          <p:nvPr/>
        </p:nvPicPr>
        <p:blipFill>
          <a:blip r:embed="rId1"/>
          <a:srcRect l="0" r="0" t="0" b="0"/>
          <a:stretch/>
        </p:blipFill>
        <p:spPr>
          <a:xfrm>
            <a:off x="9155311" y="3563987"/>
            <a:ext cx="7999214" cy="473050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3C73"/>
        </a:solidFill>
      </p:bgPr>
    </p:bg>
    <p:spTree>
      <p:nvGrpSpPr>
        <p:cNvPr id="1" name=""/>
        <p:cNvGrpSpPr/>
        <p:nvPr/>
      </p:nvGrpSpPr>
      <p:grpSpPr>
        <a:xfrm>
          <a:off x="0" y="0"/>
          <a:ext cx="0" cy="0"/>
          <a:chOff x="0" y="0"/>
          <a:chExt cx="0" cy="0"/>
        </a:xfrm>
      </p:grpSpPr>
      <p:sp>
        <p:nvSpPr>
          <p:cNvPr id="2" name="Text 0"/>
          <p:cNvSpPr/>
          <p:nvPr/>
        </p:nvSpPr>
        <p:spPr>
          <a:xfrm>
            <a:off x="952500" y="3339405"/>
            <a:ext cx="18021300" cy="1924050"/>
          </a:xfrm>
          <a:prstGeom prst="rect">
            <a:avLst/>
          </a:prstGeom>
          <a:noFill/>
          <a:ln/>
        </p:spPr>
        <p:txBody>
          <a:bodyPr wrap="square" lIns="25400" tIns="25400" rIns="25400" bIns="25400" rtlCol="0" anchor="t">
            <a:normAutofit/>
          </a:bodyPr>
          <a:lstStyle/>
          <a:p>
            <a:pPr algn="l" indent="0" marL="0">
              <a:lnSpc>
                <a:spcPct val="90000"/>
              </a:lnSpc>
              <a:buNone/>
            </a:pPr>
            <a:r>
              <a:rPr lang="en-US" sz="16500" b="1" dirty="0">
                <a:ln w="19050">
                  <a:solidFill>
                    <a:srgbClr val="4C86C9"/>
                  </a:solidFill>
                </a:ln>
                <a:solidFill>
                  <a:srgbClr val="000000">
                    <a:alpha val="0"/>
                  </a:srgbClr>
                </a:solidFill>
                <a:latin typeface="Arial" pitchFamily="34" charset="0"/>
                <a:ea typeface="Arial" pitchFamily="34" charset="-122"/>
                <a:cs typeface="Arial" pitchFamily="34" charset="-120"/>
              </a:rPr>
              <a:t>05</a:t>
            </a:r>
            <a:endParaRPr lang="en-US" sz="16500" dirty="0"/>
          </a:p>
        </p:txBody>
      </p:sp>
      <p:sp>
        <p:nvSpPr>
          <p:cNvPr id="3" name="Shape 1"/>
          <p:cNvSpPr/>
          <p:nvPr/>
        </p:nvSpPr>
        <p:spPr>
          <a:xfrm>
            <a:off x="952500" y="5734943"/>
            <a:ext cx="666750" cy="47625"/>
          </a:xfrm>
          <a:prstGeom prst="roundRect">
            <a:avLst>
              <a:gd name="adj" fmla="val 50000"/>
            </a:avLst>
          </a:prstGeom>
          <a:solidFill>
            <a:srgbClr val="3E9B5F"/>
          </a:solidFill>
          <a:ln/>
        </p:spPr>
      </p:sp>
      <p:sp>
        <p:nvSpPr>
          <p:cNvPr id="4" name="Text 2"/>
          <p:cNvSpPr/>
          <p:nvPr/>
        </p:nvSpPr>
        <p:spPr>
          <a:xfrm>
            <a:off x="1828800" y="5320605"/>
            <a:ext cx="8218944" cy="914400"/>
          </a:xfrm>
          <a:prstGeom prst="rect">
            <a:avLst/>
          </a:prstGeom>
          <a:noFill/>
          <a:ln/>
        </p:spPr>
        <p:txBody>
          <a:bodyPr wrap="square" lIns="25400" tIns="25400" rIns="25400" bIns="25400" rtlCol="0" anchor="t">
            <a:normAutofit/>
          </a:bodyPr>
          <a:lstStyle/>
          <a:p>
            <a:pPr algn="l" indent="0" marL="0">
              <a:buNone/>
            </a:pPr>
            <a:r>
              <a:rPr lang="en-US" sz="6000" b="1" spc="-60" kern="0" dirty="0">
                <a:solidFill>
                  <a:srgbClr val="FFFFFF"/>
                </a:solidFill>
                <a:latin typeface="Arial" pitchFamily="34" charset="0"/>
                <a:ea typeface="Arial" pitchFamily="34" charset="-122"/>
                <a:cs typeface="Arial" pitchFamily="34" charset="-120"/>
              </a:rPr>
              <a:t>Reflection &amp; Roadmap</a:t>
            </a:r>
            <a:endParaRPr lang="en-US" sz="6000" dirty="0"/>
          </a:p>
        </p:txBody>
      </p:sp>
      <p:sp>
        <p:nvSpPr>
          <p:cNvPr id="5" name="Text 3"/>
          <p:cNvSpPr/>
          <p:nvPr/>
        </p:nvSpPr>
        <p:spPr>
          <a:xfrm>
            <a:off x="952500" y="6520755"/>
            <a:ext cx="12573000"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B6C8E0"/>
                </a:solidFill>
                <a:latin typeface="Arial" pitchFamily="34" charset="0"/>
                <a:ea typeface="Arial" pitchFamily="34" charset="-122"/>
                <a:cs typeface="Arial" pitchFamily="34" charset="-120"/>
              </a:rPr>
              <a:t>Evaluation, the delivery timeline, and where this pipeline goes next.</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3765352"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PROJECT MANAGEMENT</a:t>
            </a:r>
            <a:endParaRPr lang="en-US" sz="1800" dirty="0"/>
          </a:p>
        </p:txBody>
      </p:sp>
      <p:sp>
        <p:nvSpPr>
          <p:cNvPr id="4" name="Text 2"/>
          <p:cNvSpPr/>
          <p:nvPr/>
        </p:nvSpPr>
        <p:spPr>
          <a:xfrm>
            <a:off x="952500" y="1257300"/>
            <a:ext cx="18021300" cy="5981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42" kern="0" dirty="0">
                <a:solidFill>
                  <a:srgbClr val="16233A"/>
                </a:solidFill>
                <a:latin typeface="Arial" pitchFamily="34" charset="0"/>
                <a:ea typeface="Arial" pitchFamily="34" charset="-122"/>
                <a:cs typeface="Arial" pitchFamily="34" charset="-120"/>
              </a:rPr>
              <a:t>A phased plan, aligned to the milestones</a:t>
            </a:r>
            <a:endParaRPr lang="en-US" sz="4200" dirty="0"/>
          </a:p>
        </p:txBody>
      </p:sp>
      <p:sp>
        <p:nvSpPr>
          <p:cNvPr id="5" name="Shape 3"/>
          <p:cNvSpPr/>
          <p:nvPr/>
        </p:nvSpPr>
        <p:spPr>
          <a:xfrm>
            <a:off x="952500" y="2045940"/>
            <a:ext cx="16383000" cy="7174260"/>
          </a:xfrm>
          <a:prstGeom prst="roundRect">
            <a:avLst>
              <a:gd name="adj" fmla="val 1593"/>
            </a:avLst>
          </a:prstGeom>
          <a:solidFill>
            <a:srgbClr val="FFFFFF"/>
          </a:solidFill>
          <a:ln w="9525">
            <a:solidFill>
              <a:srgbClr val="DCE3EC"/>
            </a:solidFill>
            <a:prstDash val="solid"/>
          </a:ln>
          <a:effectLst>
            <a:outerShdw sx="100000" sy="100000" kx="0" ky="0" algn="bl" rotWithShape="0" blurRad="381000" dist="171450" dir="5400000">
              <a:srgbClr val="143C73">
                <a:alpha val="45000"/>
              </a:srgbClr>
            </a:outerShdw>
          </a:effectLst>
        </p:spPr>
      </p:sp>
      <p:pic>
        <p:nvPicPr>
          <p:cNvPr id="6" name="Image 0" descr="preencoded.png">    </p:cNvPr>
          <p:cNvPicPr>
            <a:picLocks noChangeAspect="1"/>
          </p:cNvPicPr>
          <p:nvPr/>
        </p:nvPicPr>
        <p:blipFill>
          <a:blip r:embed="rId1"/>
          <a:srcRect l="-1" r="-1" t="0" b="0"/>
          <a:stretch/>
        </p:blipFill>
        <p:spPr>
          <a:xfrm>
            <a:off x="2563267" y="2284065"/>
            <a:ext cx="13161318" cy="6697861"/>
          </a:xfrm>
          <a:prstGeom prst="rect">
            <a:avLst/>
          </a:prstGeom>
        </p:spPr>
      </p:pic>
      <p:sp>
        <p:nvSpPr>
          <p:cNvPr id="7" name="Text 4"/>
          <p:cNvSpPr/>
          <p:nvPr/>
        </p:nvSpPr>
        <p:spPr>
          <a:xfrm>
            <a:off x="952500" y="9353550"/>
            <a:ext cx="18021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A94A3"/>
                </a:solidFill>
                <a:latin typeface="Arial" pitchFamily="34" charset="0"/>
                <a:ea typeface="Arial" pitchFamily="34" charset="-122"/>
                <a:cs typeface="Arial" pitchFamily="34" charset="-120"/>
              </a:rPr>
              <a:t>Figure 1.1 — Gantt schedule across six milestones, from Planning (20 Feb) to Testing &amp; Reports (17 Jul).</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952500"/>
            <a:ext cx="323850" cy="38100"/>
          </a:xfrm>
          <a:prstGeom prst="roundRect">
            <a:avLst>
              <a:gd name="adj" fmla="val 50000"/>
            </a:avLst>
          </a:prstGeom>
          <a:solidFill>
            <a:srgbClr val="1E5AA8"/>
          </a:solidFill>
          <a:ln/>
        </p:spPr>
      </p:sp>
      <p:sp>
        <p:nvSpPr>
          <p:cNvPr id="3" name="Text 1"/>
          <p:cNvSpPr/>
          <p:nvPr/>
        </p:nvSpPr>
        <p:spPr>
          <a:xfrm>
            <a:off x="1409700" y="838200"/>
            <a:ext cx="4700632"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EVALUATION &amp; FUTURE WORK</a:t>
            </a:r>
            <a:endParaRPr lang="en-US" sz="1800" dirty="0"/>
          </a:p>
        </p:txBody>
      </p:sp>
      <p:sp>
        <p:nvSpPr>
          <p:cNvPr id="4" name="Text 2"/>
          <p:cNvSpPr/>
          <p:nvPr/>
        </p:nvSpPr>
        <p:spPr>
          <a:xfrm>
            <a:off x="952500" y="127635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45" kern="0" dirty="0">
                <a:solidFill>
                  <a:srgbClr val="16233A"/>
                </a:solidFill>
                <a:latin typeface="Arial" pitchFamily="34" charset="0"/>
                <a:ea typeface="Arial" pitchFamily="34" charset="-122"/>
                <a:cs typeface="Arial" pitchFamily="34" charset="-120"/>
              </a:rPr>
              <a:t>What the evaluator saw — and what's next</a:t>
            </a:r>
            <a:endParaRPr lang="en-US" sz="4500" dirty="0"/>
          </a:p>
        </p:txBody>
      </p:sp>
      <p:sp>
        <p:nvSpPr>
          <p:cNvPr id="5" name="Shape 3"/>
          <p:cNvSpPr/>
          <p:nvPr/>
        </p:nvSpPr>
        <p:spPr>
          <a:xfrm>
            <a:off x="952500" y="2257425"/>
            <a:ext cx="7981950" cy="7305675"/>
          </a:xfrm>
          <a:prstGeom prst="roundRect">
            <a:avLst>
              <a:gd name="adj" fmla="val 1565"/>
            </a:avLst>
          </a:prstGeom>
          <a:solidFill>
            <a:srgbClr val="EAF3EE"/>
          </a:solidFill>
          <a:ln w="9525">
            <a:solidFill>
              <a:srgbClr val="C6E1D0"/>
            </a:solidFill>
            <a:prstDash val="solid"/>
          </a:ln>
        </p:spPr>
      </p:sp>
      <p:sp>
        <p:nvSpPr>
          <p:cNvPr id="6" name="Text 4"/>
          <p:cNvSpPr/>
          <p:nvPr/>
        </p:nvSpPr>
        <p:spPr>
          <a:xfrm>
            <a:off x="1343025" y="2628900"/>
            <a:ext cx="7920990"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2E6B45"/>
                </a:solidFill>
                <a:latin typeface="Arial" pitchFamily="34" charset="0"/>
                <a:ea typeface="Arial" pitchFamily="34" charset="-122"/>
                <a:cs typeface="Arial" pitchFamily="34" charset="-120"/>
              </a:rPr>
              <a:t>Strengths</a:t>
            </a:r>
            <a:endParaRPr lang="en-US" sz="2250" dirty="0"/>
          </a:p>
        </p:txBody>
      </p:sp>
      <p:sp>
        <p:nvSpPr>
          <p:cNvPr id="7" name="Text 5"/>
          <p:cNvSpPr/>
          <p:nvPr/>
        </p:nvSpPr>
        <p:spPr>
          <a:xfrm>
            <a:off x="1343025" y="3209925"/>
            <a:ext cx="7416927" cy="190500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48566A"/>
                </a:solidFill>
                <a:latin typeface="Arial" pitchFamily="34" charset="0"/>
                <a:ea typeface="Arial" pitchFamily="34" charset="-122"/>
                <a:cs typeface="Arial" pitchFamily="34" charset="-120"/>
              </a:rPr>
              <a:t>A complete, working pipeline — from raw log ingestion, through custom MITRE-mapped correlation, to an automated Discord channel. The integration and internal endpoint simulation show practical, </a:t>
            </a:r>
            <a:pPr algn="l" indent="0" marL="0">
              <a:lnSpc>
                <a:spcPct val="150000"/>
              </a:lnSpc>
              <a:buNone/>
            </a:pPr>
            <a:r>
              <a:rPr lang="en-US" sz="1950" b="1" dirty="0">
                <a:solidFill>
                  <a:srgbClr val="16233A"/>
                </a:solidFill>
                <a:latin typeface="Arial" pitchFamily="34" charset="0"/>
                <a:ea typeface="Arial" pitchFamily="34" charset="-122"/>
                <a:cs typeface="Arial" pitchFamily="34" charset="-120"/>
              </a:rPr>
              <a:t>end-to-end SOC engineering </a:t>
            </a:r>
            <a:pPr algn="l" indent="0" marL="0">
              <a:lnSpc>
                <a:spcPct val="150000"/>
              </a:lnSpc>
              <a:buNone/>
            </a:pPr>
            <a:r>
              <a:rPr lang="en-US" sz="1950" dirty="0">
                <a:solidFill>
                  <a:srgbClr val="48566A"/>
                </a:solidFill>
                <a:latin typeface="Arial" pitchFamily="34" charset="0"/>
                <a:ea typeface="Arial" pitchFamily="34" charset="-122"/>
                <a:cs typeface="Arial" pitchFamily="34" charset="-120"/>
              </a:rPr>
              <a:t>, well mapped to recognized frameworks.</a:t>
            </a:r>
            <a:endParaRPr lang="en-US" sz="1950" dirty="0"/>
          </a:p>
        </p:txBody>
      </p:sp>
      <p:sp>
        <p:nvSpPr>
          <p:cNvPr id="8" name="Text 6"/>
          <p:cNvSpPr/>
          <p:nvPr/>
        </p:nvSpPr>
        <p:spPr>
          <a:xfrm>
            <a:off x="9353550" y="2257425"/>
            <a:ext cx="8780145"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16233A"/>
                </a:solidFill>
                <a:latin typeface="Arial" pitchFamily="34" charset="0"/>
                <a:ea typeface="Arial" pitchFamily="34" charset="-122"/>
                <a:cs typeface="Arial" pitchFamily="34" charset="-120"/>
              </a:rPr>
              <a:t>Suggested improvements</a:t>
            </a:r>
            <a:endParaRPr lang="en-US" sz="2250" dirty="0"/>
          </a:p>
        </p:txBody>
      </p:sp>
      <p:sp>
        <p:nvSpPr>
          <p:cNvPr id="9" name="Shape 7"/>
          <p:cNvSpPr/>
          <p:nvPr/>
        </p:nvSpPr>
        <p:spPr>
          <a:xfrm>
            <a:off x="9353550" y="2943225"/>
            <a:ext cx="104775" cy="104775"/>
          </a:xfrm>
          <a:prstGeom prst="ellipse">
            <a:avLst/>
          </a:prstGeom>
          <a:solidFill>
            <a:srgbClr val="1E5AA8"/>
          </a:solidFill>
          <a:ln/>
        </p:spPr>
      </p:sp>
      <p:sp>
        <p:nvSpPr>
          <p:cNvPr id="10" name="Text 8"/>
          <p:cNvSpPr/>
          <p:nvPr/>
        </p:nvSpPr>
        <p:spPr>
          <a:xfrm>
            <a:off x="9610725" y="2838450"/>
            <a:ext cx="7956518"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5A6779"/>
                </a:solidFill>
                <a:latin typeface="Arial" pitchFamily="34" charset="0"/>
                <a:ea typeface="Arial" pitchFamily="34" charset="-122"/>
                <a:cs typeface="Arial" pitchFamily="34" charset="-120"/>
              </a:rPr>
              <a:t>Multi-stage correlation — e.g. a process launch followed by a suspicious DLL load.</a:t>
            </a:r>
            <a:endParaRPr lang="en-US" sz="1875" dirty="0"/>
          </a:p>
        </p:txBody>
      </p:sp>
      <p:sp>
        <p:nvSpPr>
          <p:cNvPr id="11" name="Shape 9"/>
          <p:cNvSpPr/>
          <p:nvPr/>
        </p:nvSpPr>
        <p:spPr>
          <a:xfrm>
            <a:off x="9353550" y="3781425"/>
            <a:ext cx="104775" cy="104775"/>
          </a:xfrm>
          <a:prstGeom prst="ellipse">
            <a:avLst/>
          </a:prstGeom>
          <a:solidFill>
            <a:srgbClr val="1E5AA8"/>
          </a:solidFill>
          <a:ln/>
        </p:spPr>
      </p:sp>
      <p:sp>
        <p:nvSpPr>
          <p:cNvPr id="12" name="Text 10"/>
          <p:cNvSpPr/>
          <p:nvPr/>
        </p:nvSpPr>
        <p:spPr>
          <a:xfrm>
            <a:off x="9610725" y="3676650"/>
            <a:ext cx="742445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5A6779"/>
                </a:solidFill>
                <a:latin typeface="Arial" pitchFamily="34" charset="0"/>
                <a:ea typeface="Arial" pitchFamily="34" charset="-122"/>
                <a:cs typeface="Arial" pitchFamily="34" charset="-120"/>
              </a:rPr>
              <a:t>Rate-limiting and retry / back-off against Discord API throttling.</a:t>
            </a:r>
            <a:endParaRPr lang="en-US" sz="1875" dirty="0"/>
          </a:p>
        </p:txBody>
      </p:sp>
      <p:sp>
        <p:nvSpPr>
          <p:cNvPr id="13" name="Shape 11"/>
          <p:cNvSpPr/>
          <p:nvPr/>
        </p:nvSpPr>
        <p:spPr>
          <a:xfrm>
            <a:off x="9353550" y="4286250"/>
            <a:ext cx="104775" cy="104775"/>
          </a:xfrm>
          <a:prstGeom prst="ellipse">
            <a:avLst/>
          </a:prstGeom>
          <a:solidFill>
            <a:srgbClr val="3E9B5F"/>
          </a:solidFill>
          <a:ln/>
        </p:spPr>
      </p:sp>
      <p:sp>
        <p:nvSpPr>
          <p:cNvPr id="14" name="Text 12"/>
          <p:cNvSpPr/>
          <p:nvPr/>
        </p:nvSpPr>
        <p:spPr>
          <a:xfrm>
            <a:off x="9610725" y="4181475"/>
            <a:ext cx="780917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5A6779"/>
                </a:solidFill>
                <a:latin typeface="Arial" pitchFamily="34" charset="0"/>
                <a:ea typeface="Arial" pitchFamily="34" charset="-122"/>
                <a:cs typeface="Arial" pitchFamily="34" charset="-120"/>
              </a:rPr>
              <a:t>Threat-intel enrichment (VirusTotal / IP reputation) before posting.</a:t>
            </a:r>
            <a:endParaRPr lang="en-US" sz="1875" dirty="0"/>
          </a:p>
        </p:txBody>
      </p:sp>
      <p:sp>
        <p:nvSpPr>
          <p:cNvPr id="15" name="Shape 13"/>
          <p:cNvSpPr/>
          <p:nvPr/>
        </p:nvSpPr>
        <p:spPr>
          <a:xfrm>
            <a:off x="9353550" y="4791075"/>
            <a:ext cx="104775" cy="104775"/>
          </a:xfrm>
          <a:prstGeom prst="ellipse">
            <a:avLst/>
          </a:prstGeom>
          <a:solidFill>
            <a:srgbClr val="3E9B5F"/>
          </a:solidFill>
          <a:ln/>
        </p:spPr>
      </p:sp>
      <p:sp>
        <p:nvSpPr>
          <p:cNvPr id="16" name="Text 14"/>
          <p:cNvSpPr/>
          <p:nvPr/>
        </p:nvSpPr>
        <p:spPr>
          <a:xfrm>
            <a:off x="9610725" y="4686300"/>
            <a:ext cx="6875696"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5A6779"/>
                </a:solidFill>
                <a:latin typeface="Arial" pitchFamily="34" charset="0"/>
                <a:ea typeface="Arial" pitchFamily="34" charset="-122"/>
                <a:cs typeface="Arial" pitchFamily="34" charset="-120"/>
              </a:rPr>
              <a:t>Externalize the webhook URL into a protected secret store.</a:t>
            </a:r>
            <a:endParaRPr lang="en-US" sz="18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A2E"/>
        </a:solidFill>
      </p:bgPr>
    </p:bg>
    <p:spTree>
      <p:nvGrpSpPr>
        <p:cNvPr id="1" name=""/>
        <p:cNvGrpSpPr/>
        <p:nvPr/>
      </p:nvGrpSpPr>
      <p:grpSpPr>
        <a:xfrm>
          <a:off x="0" y="0"/>
          <a:ext cx="0" cy="0"/>
          <a:chOff x="0" y="0"/>
          <a:chExt cx="0" cy="0"/>
        </a:xfrm>
      </p:grpSpPr>
      <p:sp>
        <p:nvSpPr>
          <p:cNvPr id="2" name="Shape 0"/>
          <p:cNvSpPr/>
          <p:nvPr/>
        </p:nvSpPr>
        <p:spPr>
          <a:xfrm>
            <a:off x="952500" y="3239393"/>
            <a:ext cx="419100" cy="38100"/>
          </a:xfrm>
          <a:prstGeom prst="roundRect">
            <a:avLst>
              <a:gd name="adj" fmla="val 50000"/>
            </a:avLst>
          </a:prstGeom>
          <a:solidFill>
            <a:srgbClr val="3E9B5F"/>
          </a:solidFill>
          <a:ln/>
        </p:spPr>
      </p:sp>
      <p:sp>
        <p:nvSpPr>
          <p:cNvPr id="3" name="Text 1"/>
          <p:cNvSpPr/>
          <p:nvPr/>
        </p:nvSpPr>
        <p:spPr>
          <a:xfrm>
            <a:off x="1504950" y="3125093"/>
            <a:ext cx="2078965"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6F9BD6"/>
                </a:solidFill>
                <a:latin typeface="Arial" pitchFamily="34" charset="0"/>
                <a:ea typeface="Arial" pitchFamily="34" charset="-122"/>
                <a:cs typeface="Arial" pitchFamily="34" charset="-120"/>
              </a:rPr>
              <a:t>CONCLUSION</a:t>
            </a:r>
            <a:endParaRPr lang="en-US" sz="1800" dirty="0"/>
          </a:p>
        </p:txBody>
      </p:sp>
      <p:sp>
        <p:nvSpPr>
          <p:cNvPr id="4" name="Text 2"/>
          <p:cNvSpPr/>
          <p:nvPr/>
        </p:nvSpPr>
        <p:spPr>
          <a:xfrm>
            <a:off x="952500" y="3601343"/>
            <a:ext cx="15304770" cy="1446014"/>
          </a:xfrm>
          <a:prstGeom prst="rect">
            <a:avLst/>
          </a:prstGeom>
          <a:noFill/>
          <a:ln/>
        </p:spPr>
        <p:txBody>
          <a:bodyPr wrap="square" lIns="25400" tIns="25400" rIns="25400" bIns="25400" rtlCol="0" anchor="t">
            <a:normAutofit/>
          </a:bodyPr>
          <a:lstStyle/>
          <a:p>
            <a:pPr algn="l" indent="0" marL="0">
              <a:lnSpc>
                <a:spcPct val="112000"/>
              </a:lnSpc>
              <a:buNone/>
            </a:pPr>
            <a:r>
              <a:rPr lang="en-US" sz="4950" b="1" spc="-49" kern="0" dirty="0">
                <a:solidFill>
                  <a:srgbClr val="FFFFFF"/>
                </a:solidFill>
                <a:latin typeface="Arial" pitchFamily="34" charset="0"/>
                <a:ea typeface="Arial" pitchFamily="34" charset="-122"/>
                <a:cs typeface="Arial" pitchFamily="34" charset="-120"/>
              </a:rPr>
              <a:t>A complete, validated SOC pipeline — from raw log to a color-coded alert.</a:t>
            </a:r>
            <a:endParaRPr lang="en-US" sz="4950" dirty="0"/>
          </a:p>
        </p:txBody>
      </p:sp>
      <p:sp>
        <p:nvSpPr>
          <p:cNvPr id="5" name="Text 3"/>
          <p:cNvSpPr/>
          <p:nvPr/>
        </p:nvSpPr>
        <p:spPr>
          <a:xfrm>
            <a:off x="952500" y="5333107"/>
            <a:ext cx="14519910" cy="1866900"/>
          </a:xfrm>
          <a:prstGeom prst="rect">
            <a:avLst/>
          </a:prstGeom>
          <a:noFill/>
          <a:ln/>
        </p:spPr>
        <p:txBody>
          <a:bodyPr wrap="square" lIns="25400" tIns="25400" rIns="25400" bIns="25400" rtlCol="0" anchor="t">
            <a:normAutofit/>
          </a:bodyPr>
          <a:lstStyle/>
          <a:p>
            <a:pPr algn="l" indent="0" marL="0">
              <a:lnSpc>
                <a:spcPct val="150000"/>
              </a:lnSpc>
              <a:buNone/>
            </a:pPr>
            <a:r>
              <a:rPr lang="en-US" sz="2400" dirty="0">
                <a:solidFill>
                  <a:srgbClr val="AEBED4"/>
                </a:solidFill>
                <a:latin typeface="Arial" pitchFamily="34" charset="0"/>
                <a:ea typeface="Arial" pitchFamily="34" charset="-122"/>
                <a:cs typeface="Arial" pitchFamily="34" charset="-120"/>
              </a:rPr>
              <a:t>A Wazuh Manager ingesting Windows 10 / DVWA telemetry, custom MITRE-mapped detection rules, a simulated internal endpoint threat — process creation and DLL-injection persistence — and an automated </a:t>
            </a:r>
            <a:pPr algn="l" indent="0" marL="0">
              <a:lnSpc>
                <a:spcPct val="150000"/>
              </a:lnSpc>
              <a:buNone/>
            </a:pPr>
            <a:r>
              <a:rPr lang="en-US" sz="2100" dirty="0">
                <a:solidFill>
                  <a:srgbClr val="7FD19B"/>
                </a:solidFill>
                <a:latin typeface="Courier New" pitchFamily="34" charset="0"/>
                <a:ea typeface="Courier New" pitchFamily="34" charset="-122"/>
                <a:cs typeface="Courier New" pitchFamily="34" charset="-120"/>
              </a:rPr>
              <a:t>custom-discord.py </a:t>
            </a:r>
            <a:pPr algn="l" indent="0" marL="0">
              <a:lnSpc>
                <a:spcPct val="150000"/>
              </a:lnSpc>
              <a:buNone/>
            </a:pPr>
            <a:r>
              <a:rPr lang="en-US" sz="2400" dirty="0">
                <a:solidFill>
                  <a:srgbClr val="AEBED4"/>
                </a:solidFill>
                <a:latin typeface="Arial" pitchFamily="34" charset="0"/>
                <a:ea typeface="Arial" pitchFamily="34" charset="-122"/>
                <a:cs typeface="Arial" pitchFamily="34" charset="-120"/>
              </a:rPr>
              <a:t>integration delivering dynamic, color-coded incident alerts to a Discord SOC dashboard — all on an isolated VMnet8 network.</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4" b="-4"/>
          <a:stretch/>
        </p:blipFill>
        <p:spPr>
          <a:xfrm>
            <a:off x="952500" y="847725"/>
            <a:ext cx="1388418" cy="781050"/>
          </a:xfrm>
          <a:prstGeom prst="rect">
            <a:avLst/>
          </a:prstGeom>
        </p:spPr>
      </p:pic>
      <p:pic>
        <p:nvPicPr>
          <p:cNvPr id="3" name="Image 1" descr="preencoded.png">    </p:cNvPr>
          <p:cNvPicPr>
            <a:picLocks noChangeAspect="1"/>
          </p:cNvPicPr>
          <p:nvPr/>
        </p:nvPicPr>
        <p:blipFill>
          <a:blip r:embed="rId2"/>
          <a:srcRect l="0" r="0" t="-3" b="-3"/>
          <a:stretch/>
        </p:blipFill>
        <p:spPr>
          <a:xfrm>
            <a:off x="16291620" y="762000"/>
            <a:ext cx="1043880" cy="952500"/>
          </a:xfrm>
          <a:prstGeom prst="rect">
            <a:avLst/>
          </a:prstGeom>
        </p:spPr>
      </p:pic>
      <p:sp>
        <p:nvSpPr>
          <p:cNvPr id="4" name="Shape 0"/>
          <p:cNvSpPr/>
          <p:nvPr/>
        </p:nvSpPr>
        <p:spPr>
          <a:xfrm>
            <a:off x="952500" y="3937695"/>
            <a:ext cx="419100" cy="38100"/>
          </a:xfrm>
          <a:prstGeom prst="roundRect">
            <a:avLst>
              <a:gd name="adj" fmla="val 50000"/>
            </a:avLst>
          </a:prstGeom>
          <a:solidFill>
            <a:srgbClr val="3E9B5F"/>
          </a:solidFill>
          <a:ln/>
        </p:spPr>
      </p:sp>
      <p:sp>
        <p:nvSpPr>
          <p:cNvPr id="5" name="Text 1"/>
          <p:cNvSpPr/>
          <p:nvPr/>
        </p:nvSpPr>
        <p:spPr>
          <a:xfrm>
            <a:off x="1504950" y="3823395"/>
            <a:ext cx="3516838" cy="3048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1E5AA8"/>
                </a:solidFill>
                <a:latin typeface="Arial" pitchFamily="34" charset="0"/>
                <a:ea typeface="Arial" pitchFamily="34" charset="-122"/>
                <a:cs typeface="Arial" pitchFamily="34" charset="-120"/>
              </a:rPr>
              <a:t>TEAM 2 · RWAAD MISR</a:t>
            </a:r>
            <a:endParaRPr lang="en-US" sz="1800" dirty="0"/>
          </a:p>
        </p:txBody>
      </p:sp>
      <p:sp>
        <p:nvSpPr>
          <p:cNvPr id="6" name="Text 2"/>
          <p:cNvSpPr/>
          <p:nvPr/>
        </p:nvSpPr>
        <p:spPr>
          <a:xfrm>
            <a:off x="952500" y="4318695"/>
            <a:ext cx="18021300" cy="1028700"/>
          </a:xfrm>
          <a:prstGeom prst="rect">
            <a:avLst/>
          </a:prstGeom>
          <a:noFill/>
          <a:ln/>
        </p:spPr>
        <p:txBody>
          <a:bodyPr wrap="square" lIns="25400" tIns="25400" rIns="25400" bIns="25400" rtlCol="0" anchor="t">
            <a:normAutofit/>
          </a:bodyPr>
          <a:lstStyle/>
          <a:p>
            <a:pPr algn="l" indent="0" marL="0">
              <a:lnSpc>
                <a:spcPct val="100000"/>
              </a:lnSpc>
              <a:buNone/>
            </a:pPr>
            <a:r>
              <a:rPr lang="en-US" sz="7800" b="1" spc="-156" kern="0" dirty="0">
                <a:solidFill>
                  <a:srgbClr val="16233A"/>
                </a:solidFill>
                <a:latin typeface="Arial" pitchFamily="34" charset="0"/>
                <a:ea typeface="Arial" pitchFamily="34" charset="-122"/>
                <a:cs typeface="Arial" pitchFamily="34" charset="-120"/>
              </a:rPr>
              <a:t>Thank you</a:t>
            </a:r>
            <a:endParaRPr lang="en-US" sz="7800" dirty="0"/>
          </a:p>
        </p:txBody>
      </p:sp>
      <p:sp>
        <p:nvSpPr>
          <p:cNvPr id="7" name="Text 3"/>
          <p:cNvSpPr/>
          <p:nvPr/>
        </p:nvSpPr>
        <p:spPr>
          <a:xfrm>
            <a:off x="952500" y="5575995"/>
            <a:ext cx="11772900"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48566A"/>
                </a:solidFill>
                <a:latin typeface="Arial" pitchFamily="34" charset="0"/>
                <a:ea typeface="Arial" pitchFamily="34" charset="-122"/>
                <a:cs typeface="Arial" pitchFamily="34" charset="-120"/>
              </a:rPr>
              <a:t>Questions welcome — happy to dive deeper into any part of the internal endpoint monitoring pipeline.</a:t>
            </a:r>
            <a:endParaRPr lang="en-US" sz="2550" dirty="0"/>
          </a:p>
        </p:txBody>
      </p:sp>
      <p:sp>
        <p:nvSpPr>
          <p:cNvPr id="8" name="Shape 4"/>
          <p:cNvSpPr/>
          <p:nvPr/>
        </p:nvSpPr>
        <p:spPr>
          <a:xfrm>
            <a:off x="952500" y="8591550"/>
            <a:ext cx="16383000" cy="19050"/>
          </a:xfrm>
          <a:prstGeom prst="rect">
            <a:avLst/>
          </a:prstGeom>
          <a:solidFill>
            <a:srgbClr val="E7ECF3"/>
          </a:solidFill>
          <a:ln/>
        </p:spPr>
      </p:sp>
      <p:sp>
        <p:nvSpPr>
          <p:cNvPr id="9" name="Text 5"/>
          <p:cNvSpPr/>
          <p:nvPr/>
        </p:nvSpPr>
        <p:spPr>
          <a:xfrm>
            <a:off x="952500" y="8877300"/>
            <a:ext cx="574167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A94A3"/>
                </a:solidFill>
                <a:latin typeface="Courier New" pitchFamily="34" charset="0"/>
                <a:ea typeface="Courier New" pitchFamily="34" charset="-122"/>
                <a:cs typeface="Courier New" pitchFamily="34" charset="-120"/>
              </a:rPr>
              <a:t>MONITORED HOST</a:t>
            </a:r>
            <a:endParaRPr lang="en-US" sz="1800" dirty="0"/>
          </a:p>
        </p:txBody>
      </p:sp>
      <p:sp>
        <p:nvSpPr>
          <p:cNvPr id="10" name="Text 6"/>
          <p:cNvSpPr/>
          <p:nvPr/>
        </p:nvSpPr>
        <p:spPr>
          <a:xfrm>
            <a:off x="952500" y="9239250"/>
            <a:ext cx="574167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6233A"/>
                </a:solidFill>
                <a:latin typeface="Arial" pitchFamily="34" charset="0"/>
                <a:ea typeface="Arial" pitchFamily="34" charset="-122"/>
                <a:cs typeface="Arial" pitchFamily="34" charset="-120"/>
              </a:rPr>
              <a:t>DESKTOP-SLN103I</a:t>
            </a:r>
            <a:endParaRPr lang="en-US" sz="1950" dirty="0"/>
          </a:p>
        </p:txBody>
      </p:sp>
      <p:sp>
        <p:nvSpPr>
          <p:cNvPr id="11" name="Shape 7"/>
          <p:cNvSpPr/>
          <p:nvPr/>
        </p:nvSpPr>
        <p:spPr>
          <a:xfrm>
            <a:off x="6172200" y="9010650"/>
            <a:ext cx="19050" cy="419100"/>
          </a:xfrm>
          <a:prstGeom prst="rect">
            <a:avLst/>
          </a:prstGeom>
          <a:solidFill>
            <a:srgbClr val="E7ECF3"/>
          </a:solidFill>
          <a:ln/>
        </p:spPr>
      </p:sp>
      <p:sp>
        <p:nvSpPr>
          <p:cNvPr id="12" name="Text 8"/>
          <p:cNvSpPr/>
          <p:nvPr/>
        </p:nvSpPr>
        <p:spPr>
          <a:xfrm>
            <a:off x="6534150" y="8877300"/>
            <a:ext cx="574167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A94A3"/>
                </a:solidFill>
                <a:latin typeface="Courier New" pitchFamily="34" charset="0"/>
                <a:ea typeface="Courier New" pitchFamily="34" charset="-122"/>
                <a:cs typeface="Courier New" pitchFamily="34" charset="-120"/>
              </a:rPr>
              <a:t>KEY CATCHES</a:t>
            </a:r>
            <a:endParaRPr lang="en-US" sz="1800" dirty="0"/>
          </a:p>
        </p:txBody>
      </p:sp>
      <p:sp>
        <p:nvSpPr>
          <p:cNvPr id="13" name="Text 9"/>
          <p:cNvSpPr/>
          <p:nvPr/>
        </p:nvSpPr>
        <p:spPr>
          <a:xfrm>
            <a:off x="6534150" y="9239250"/>
            <a:ext cx="574167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6233A"/>
                </a:solidFill>
                <a:latin typeface="Arial" pitchFamily="34" charset="0"/>
                <a:ea typeface="Arial" pitchFamily="34" charset="-122"/>
                <a:cs typeface="Arial" pitchFamily="34" charset="-120"/>
              </a:rPr>
              <a:t>Rules 67027 · 92154</a:t>
            </a:r>
            <a:endParaRPr lang="en-US" sz="1950" dirty="0"/>
          </a:p>
        </p:txBody>
      </p:sp>
      <p:sp>
        <p:nvSpPr>
          <p:cNvPr id="14" name="Shape 10"/>
          <p:cNvSpPr/>
          <p:nvPr/>
        </p:nvSpPr>
        <p:spPr>
          <a:xfrm>
            <a:off x="11753850" y="9010650"/>
            <a:ext cx="19050" cy="419100"/>
          </a:xfrm>
          <a:prstGeom prst="rect">
            <a:avLst/>
          </a:prstGeom>
          <a:solidFill>
            <a:srgbClr val="E7ECF3"/>
          </a:solidFill>
          <a:ln/>
        </p:spPr>
      </p:sp>
      <p:sp>
        <p:nvSpPr>
          <p:cNvPr id="15" name="Text 11"/>
          <p:cNvSpPr/>
          <p:nvPr/>
        </p:nvSpPr>
        <p:spPr>
          <a:xfrm>
            <a:off x="12115800" y="8877300"/>
            <a:ext cx="574167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A94A3"/>
                </a:solidFill>
                <a:latin typeface="Courier New" pitchFamily="34" charset="0"/>
                <a:ea typeface="Courier New" pitchFamily="34" charset="-122"/>
                <a:cs typeface="Courier New" pitchFamily="34" charset="-120"/>
              </a:rPr>
              <a:t>RESULT</a:t>
            </a:r>
            <a:endParaRPr lang="en-US" sz="1800" dirty="0"/>
          </a:p>
        </p:txBody>
      </p:sp>
      <p:sp>
        <p:nvSpPr>
          <p:cNvPr id="16" name="Text 12"/>
          <p:cNvSpPr/>
          <p:nvPr/>
        </p:nvSpPr>
        <p:spPr>
          <a:xfrm>
            <a:off x="12115800" y="9239250"/>
            <a:ext cx="574167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6233A"/>
                </a:solidFill>
                <a:latin typeface="Arial" pitchFamily="34" charset="0"/>
                <a:ea typeface="Arial" pitchFamily="34" charset="-122"/>
                <a:cs typeface="Arial" pitchFamily="34" charset="-120"/>
              </a:rPr>
              <a:t>1,089 hits · 8/8 tests</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2026-07-02T19:54:55Z</dcterms:created>
  <dcterms:modified xsi:type="dcterms:W3CDTF">2026-07-02T19:54:55Z</dcterms:modified>
</cp:coreProperties>
</file>